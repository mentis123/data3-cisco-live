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e165fd66f24dbb" /><Relationship Type="http://schemas.openxmlformats.org/officeDocument/2006/relationships/extended-properties" Target="/docProps/app.xml" Id="Rcb650125a1c04d39" /><Relationship Type="http://schemas.openxmlformats.org/officeDocument/2006/relationships/officeDocument" Target="/ppt/presentation.xml" Id="R24b5e8b0d5914845" /></Relationships>
</file>

<file path=ppt/presentation.xml><?xml version="1.0" encoding="utf-8"?>
<p:presentation xmlns:p="http://schemas.openxmlformats.org/presentationml/2006/main">
  <p:sldMasterIdLst>
    <p:sldMasterId xmlns:r="http://schemas.openxmlformats.org/officeDocument/2006/relationships" id="2147483648" r:id="R8a71d661eee74e16"/>
  </p:sldMasterIdLst>
  <p:notesMasterIdLst>
    <p:notesMasterId xmlns:r="http://schemas.openxmlformats.org/officeDocument/2006/relationships" r:id="Re86f41a5a7034142"/>
  </p:notesMasterIdLst>
  <p:sldIdLst>
    <p:sldId xmlns:r="http://schemas.openxmlformats.org/officeDocument/2006/relationships" id="256" r:id="Rd4101ce923b14033"/>
    <p:sldId xmlns:r="http://schemas.openxmlformats.org/officeDocument/2006/relationships" id="257" r:id="R2654a95cba37412d"/>
    <p:sldId xmlns:r="http://schemas.openxmlformats.org/officeDocument/2006/relationships" id="258" r:id="Rcab727d692454714"/>
    <p:sldId xmlns:r="http://schemas.openxmlformats.org/officeDocument/2006/relationships" id="259" r:id="R5f803f0803064d24"/>
    <p:sldId xmlns:r="http://schemas.openxmlformats.org/officeDocument/2006/relationships" id="260" r:id="Refa69c1e814741ba"/>
    <p:sldId xmlns:r="http://schemas.openxmlformats.org/officeDocument/2006/relationships" id="261" r:id="Re55c4eac72764901"/>
    <p:sldId xmlns:r="http://schemas.openxmlformats.org/officeDocument/2006/relationships" id="262" r:id="R76b81626a5ab4f9c"/>
    <p:sldId xmlns:r="http://schemas.openxmlformats.org/officeDocument/2006/relationships" id="263" r:id="R021001641b274d13"/>
    <p:sldId xmlns:r="http://schemas.openxmlformats.org/officeDocument/2006/relationships" id="264" r:id="R5a7a30c3011d4948"/>
    <p:sldId xmlns:r="http://schemas.openxmlformats.org/officeDocument/2006/relationships" id="265" r:id="Rfa657a086c6741ec"/>
    <p:sldId xmlns:r="http://schemas.openxmlformats.org/officeDocument/2006/relationships" id="266" r:id="R17a7d197641f48e6"/>
    <p:sldId xmlns:r="http://schemas.openxmlformats.org/officeDocument/2006/relationships" id="267" r:id="R7cb575bd93eb4af0"/>
    <p:sldId xmlns:r="http://schemas.openxmlformats.org/officeDocument/2006/relationships" id="268" r:id="R1c7705f734934eca"/>
    <p:sldId xmlns:r="http://schemas.openxmlformats.org/officeDocument/2006/relationships" id="269" r:id="Rf777d2bdab8c4803"/>
    <p:sldId xmlns:r="http://schemas.openxmlformats.org/officeDocument/2006/relationships" id="270" r:id="R8ff7ed7b10be40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b5611ac894326" /><Relationship Type="http://schemas.openxmlformats.org/officeDocument/2006/relationships/slideMaster" Target="/ppt/slideMasters/slideMaster1.xml" Id="R8a71d661eee74e16" /><Relationship Type="http://schemas.openxmlformats.org/officeDocument/2006/relationships/notesMaster" Target="/ppt/notesMasters/notesMaster1.xml" Id="Re86f41a5a7034142" /><Relationship Type="http://schemas.openxmlformats.org/officeDocument/2006/relationships/presProps" Target="/ppt/presProps.xml" Id="R0db30c49dea54fe8" /><Relationship Type="http://schemas.openxmlformats.org/officeDocument/2006/relationships/tableStyles" Target="/ppt/tableStyles.xml" Id="Rd3a46945a2f64ac5" /><Relationship Type="http://schemas.openxmlformats.org/officeDocument/2006/relationships/slide" Target="/ppt/slides/slide1.xml" Id="Rd4101ce923b14033" /><Relationship Type="http://schemas.openxmlformats.org/officeDocument/2006/relationships/slide" Target="/ppt/slides/slide2.xml" Id="R2654a95cba37412d" /><Relationship Type="http://schemas.openxmlformats.org/officeDocument/2006/relationships/slide" Target="/ppt/slides/slide3.xml" Id="Rcab727d692454714" /><Relationship Type="http://schemas.openxmlformats.org/officeDocument/2006/relationships/slide" Target="/ppt/slides/slide4.xml" Id="R5f803f0803064d24" /><Relationship Type="http://schemas.openxmlformats.org/officeDocument/2006/relationships/slide" Target="/ppt/slides/slide5.xml" Id="Refa69c1e814741ba" /><Relationship Type="http://schemas.openxmlformats.org/officeDocument/2006/relationships/slide" Target="/ppt/slides/slide6.xml" Id="Re55c4eac72764901" /><Relationship Type="http://schemas.openxmlformats.org/officeDocument/2006/relationships/slide" Target="/ppt/slides/slide7.xml" Id="R76b81626a5ab4f9c" /><Relationship Type="http://schemas.openxmlformats.org/officeDocument/2006/relationships/slide" Target="/ppt/slides/slide8.xml" Id="R021001641b274d13" /><Relationship Type="http://schemas.openxmlformats.org/officeDocument/2006/relationships/slide" Target="/ppt/slides/slide9.xml" Id="R5a7a30c3011d4948" /><Relationship Type="http://schemas.openxmlformats.org/officeDocument/2006/relationships/slide" Target="/ppt/slides/slide10.xml" Id="Rfa657a086c6741ec" /><Relationship Type="http://schemas.openxmlformats.org/officeDocument/2006/relationships/slide" Target="/ppt/slides/slide11.xml" Id="R17a7d197641f48e6" /><Relationship Type="http://schemas.openxmlformats.org/officeDocument/2006/relationships/slide" Target="/ppt/slides/slide12.xml" Id="R7cb575bd93eb4af0" /><Relationship Type="http://schemas.openxmlformats.org/officeDocument/2006/relationships/slide" Target="/ppt/slides/slide13.xml" Id="R1c7705f734934eca" /><Relationship Type="http://schemas.openxmlformats.org/officeDocument/2006/relationships/slide" Target="/ppt/slides/slide14.xml" Id="Rf777d2bdab8c4803" /><Relationship Type="http://schemas.openxmlformats.org/officeDocument/2006/relationships/slide" Target="/ppt/slides/slide15.xml" Id="R8ff7ed7b10be40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6df81dffb04c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109dd4b995471c" /><Relationship Type="http://schemas.openxmlformats.org/officeDocument/2006/relationships/notesMaster" Target="/ppt/notesMasters/notesMaster1.xml" Id="R65868d86da2c45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65701ee04846d9" /><Relationship Type="http://schemas.openxmlformats.org/officeDocument/2006/relationships/notesMaster" Target="/ppt/notesMasters/notesMaster1.xml" Id="R42d811d3951c40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45c578121c4bbb" /><Relationship Type="http://schemas.openxmlformats.org/officeDocument/2006/relationships/notesMaster" Target="/ppt/notesMasters/notesMaster1.xml" Id="R9f261b382b3649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cce0f46c894dac" /><Relationship Type="http://schemas.openxmlformats.org/officeDocument/2006/relationships/notesMaster" Target="/ppt/notesMasters/notesMaster1.xml" Id="Rf93bd2616f4340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ad1993d2f443e4" /><Relationship Type="http://schemas.openxmlformats.org/officeDocument/2006/relationships/notesMaster" Target="/ppt/notesMasters/notesMaster1.xml" Id="R0b07a34b913f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65c8b913614442" /><Relationship Type="http://schemas.openxmlformats.org/officeDocument/2006/relationships/notesMaster" Target="/ppt/notesMasters/notesMaster1.xml" Id="R642e151f808b47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447a695db24f2d" /><Relationship Type="http://schemas.openxmlformats.org/officeDocument/2006/relationships/notesMaster" Target="/ppt/notesMasters/notesMaster1.xml" Id="R4215ad67d9f54a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e935139c5f4bbe" /><Relationship Type="http://schemas.openxmlformats.org/officeDocument/2006/relationships/notesMaster" Target="/ppt/notesMasters/notesMaster1.xml" Id="Re2a161dcf7d349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ee2ce27a1b4353" /><Relationship Type="http://schemas.openxmlformats.org/officeDocument/2006/relationships/notesMaster" Target="/ppt/notesMasters/notesMaster1.xml" Id="Rb1cc846e91e14e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8bf1fa22ff420a" /><Relationship Type="http://schemas.openxmlformats.org/officeDocument/2006/relationships/notesMaster" Target="/ppt/notesMasters/notesMaster1.xml" Id="Ree0a828fa48b4f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7148080dd84c17" /><Relationship Type="http://schemas.openxmlformats.org/officeDocument/2006/relationships/notesMaster" Target="/ppt/notesMasters/notesMaster1.xml" Id="Ra114e65f1cb64a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147a84a2a94aba" /><Relationship Type="http://schemas.openxmlformats.org/officeDocument/2006/relationships/notesMaster" Target="/ppt/notesMasters/notesMaster1.xml" Id="R00d2248f1a5040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a110cbfa844ea8" /><Relationship Type="http://schemas.openxmlformats.org/officeDocument/2006/relationships/notesMaster" Target="/ppt/notesMasters/notesMaster1.xml" Id="Rc0b2a54dd02e4a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5691cffbb54093" /><Relationship Type="http://schemas.openxmlformats.org/officeDocument/2006/relationships/notesMaster" Target="/ppt/notesMasters/notesMaster1.xml" Id="R7ed8e4979c1943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c5a20a82bd4052" /><Relationship Type="http://schemas.openxmlformats.org/officeDocument/2006/relationships/notesMaster" Target="/ppt/notesMasters/notesMaster1.xml" Id="R976570e8f4084f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Welcome. This is not a product presentation and it is not a quiz. We are going to make a sequence of decisions with incomplete information, then test whether those decisions still hold when the facts move.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0:30–3:00</a:t>
            </a:r>
          </a:p>
          <a:p xmlns:a="http://schemas.openxmlformats.org/drawingml/2006/main">
            <a:r>
              <a:t/>
            </a:r>
          </a:p>
          <a:p xmlns:a="http://schemas.openxmlformats.org/drawingml/2006/main">
            <a:r>
              <a:t>Open with the tempo, not the technology. In the Unit 42 investigation, a human attacker used AI agents to compress what normally takes weeks into less than ten hours, including mapping the environment, raiding repositories and obtaining privileged credentials. The point is simple: the response window is becoming a design constraint.</a:t>
            </a:r>
          </a:p>
          <a:p xmlns:a="http://schemas.openxmlformats.org/drawingml/2006/main">
            <a:r>
              <a:t/>
            </a:r>
          </a:p>
          <a:p xmlns:a="http://schemas.openxmlformats.org/drawingml/2006/main">
            <a:r>
              <a:t>Sources</a:t>
            </a:r>
          </a:p>
          <a:p xmlns:a="http://schemas.openxmlformats.org/drawingml/2006/main">
            <a:r>
              <a:t>https://unit42.paloaltonetworks.com/ai-assisted-cyber-attack-inside-a-unit-42-investigation/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3:00–5:30</a:t>
            </a:r>
          </a:p>
          <a:p xmlns:a="http://schemas.openxmlformats.org/drawingml/2006/main">
            <a:r>
              <a:t/>
            </a:r>
          </a:p>
          <a:p xmlns:a="http://schemas.openxmlformats.org/drawingml/2006/main">
            <a:r>
              <a:t>The dangerous path does not need a malicious user, a stolen identity or obvious malware. A legitimate request can meet trusted content, a valid identity and permitted tools, then produce an action nobody intended. The security problem is the combination: each component can be working as designed while the end-to-end outcome is unacceptable.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5:30–8:00</a:t>
            </a:r>
          </a:p>
          <a:p xmlns:a="http://schemas.openxmlformats.org/drawingml/2006/main">
            <a:r>
              <a:t/>
            </a:r>
          </a:p>
          <a:p xmlns:a="http://schemas.openxmlformats.org/drawingml/2006/main">
            <a:r>
              <a:t>An agent does not carry your intent. It carries an identity, a set of tools and whatever context the workflow assembles. Every step may be technically authorised while the combined outcome is commercially or operationally unacceptable. That makes the boundary between permission and purpose a first-class control problem.</a:t>
            </a:r>
          </a:p>
          <a:p xmlns:a="http://schemas.openxmlformats.org/drawingml/2006/main">
            <a:r>
              <a:t/>
            </a:r>
          </a:p>
          <a:p xmlns:a="http://schemas.openxmlformats.org/drawingml/2006/main">
            <a:r>
              <a:t>Sources</a:t>
            </a:r>
          </a:p>
          <a:p xmlns:a="http://schemas.openxmlformats.org/drawingml/2006/main">
            <a:r>
              <a:t>https://learn.microsoft.com/en-us/entra/agent-id/security-for-ai-overview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8:00–10:30</a:t>
            </a:r>
          </a:p>
          <a:p xmlns:a="http://schemas.openxmlformats.org/drawingml/2006/main">
            <a:r>
              <a:t/>
            </a:r>
          </a:p>
          <a:p xmlns:a="http://schemas.openxmlformats.org/drawingml/2006/main">
            <a:r>
              <a:t>The model is only one component. Risk travels through the instruction, the acting identity, the context, connectors, data, the resulting action and the evidence left behind. If no one owns that end-to-end path, containment becomes a negotiation at exactly the moment you need decision speed.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10:30–13:30</a:t>
            </a:r>
          </a:p>
          <a:p xmlns:a="http://schemas.openxmlformats.org/drawingml/2006/main">
            <a:r>
              <a:t/>
            </a:r>
          </a:p>
          <a:p xmlns:a="http://schemas.openxmlformats.org/drawingml/2006/main">
            <a:r>
              <a:t>Observe, govern and secure are not three product categories. They are three conditions for a manageable incident. Today we will test whether the room can reconstruct what happened, name who may decide and keep the blast radius bounded while service pressure rises.</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https://learn.microsoft.com/en-us/purview/data-security-posture-management-learn-about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13:30–15:00</a:t>
            </a:r>
          </a:p>
          <a:p xmlns:a="http://schemas.openxmlformats.org/drawingml/2006/main">
            <a:r>
              <a:t/>
            </a:r>
          </a:p>
          <a:p xmlns:a="http://schemas.openxmlformats.org/drawingml/2006/main">
            <a:r>
              <a:t>Put people into tables of five to eight and assign roles quickly. Explain that Adam is the Exercise Facilitator and Richard is Security Counsel. Richard is not judging or scoring tables; he is listening for strong reasoning, recurring blind spots and practical security lessons to synthesise at the end. Each round ends with a locked decision, a confidence score and one sentence of rationale. Speed is visible only as progress; quality of reasoning matters more, and a table may challenge the assumptions if it can state what evidence would change its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15:00–20:00</a:t>
            </a:r>
          </a:p>
          <a:p xmlns:a="http://schemas.openxmlformats.org/drawingml/2006/main">
            <a:r>
              <a:t/>
            </a:r>
          </a:p>
          <a:p xmlns:a="http://schemas.openxmlformats.org/drawingml/2006/main">
            <a:r>
              <a:t>Project Atlas is fictional, but each control pattern is drawn from current agent governance guidance and recent incidents. Tell the tables that the supplier is legitimate and the PDF has passed ordinary malware scanning; there is no hidden trick beyond the facts they receive. Give tables five minutes to choose roles, read the one-page brief and identify their first two unknowns. Do not reveal later facts or answer questions that the scenario has not answered.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20:00–32:00</a:t>
            </a:r>
          </a:p>
          <a:p xmlns:a="http://schemas.openxmlformats.org/drawingml/2006/main">
            <a:r>
              <a:t/>
            </a:r>
          </a:p>
          <a:p xmlns:a="http://schemas.openxmlformats.org/drawingml/2006/main">
            <a:r>
              <a:t>Read the facts once, then start the timer. Tables may choose an option or define their own. At nine minutes, ask the scribe to prepare the locked choice, confidence and rationale; if using the Decision Room, show only progress states until every table is 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32:00–44:00</a:t>
            </a:r>
          </a:p>
          <a:p xmlns:a="http://schemas.openxmlformats.org/drawingml/2006/main">
            <a:r>
              <a:t/>
            </a:r>
          </a:p>
          <a:p xmlns:a="http://schemas.openxmlformats.org/drawingml/2006/main">
            <a:r>
              <a:t>Show the decision distribution first, then reveal the new facts. Ask one table with high confidence and one with low confidence to explain what changed. The round output is not a technical fix list; it is a named lead, a containment scope and an evidence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44:00–56:00</a:t>
            </a:r>
          </a:p>
          <a:p xmlns:a="http://schemas.openxmlformats.org/drawingml/2006/main">
            <a:r>
              <a:t/>
            </a:r>
          </a:p>
          <a:p xmlns:a="http://schemas.openxmlformats.org/drawingml/2006/main">
            <a:r>
              <a:t>Reveal all facts at once. This is the deliberate loop: the easiest containment action now breaks a service the room cares about. Press for explicit decision rights, an acceptable continuity trade-off, the first communication trigger and the evidence that must survive the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56:00–62:00</a:t>
            </a:r>
          </a:p>
          <a:p xmlns:a="http://schemas.openxmlformats.org/drawingml/2006/main">
            <a:r>
              <a:t/>
            </a:r>
          </a:p>
          <a:p xmlns:a="http://schemas.openxmlformats.org/drawingml/2006/main">
            <a:r>
              <a:t>Call time on exploration. Every table must turn its reasoning into one response with six fields. The constructive challenger gets one final minute to identify the weakest assumption, then the incident commander locks the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62:00–84:00</a:t>
            </a:r>
          </a:p>
          <a:p xmlns:a="http://schemas.openxmlformats.org/drawingml/2006/main">
            <a:r>
              <a:t/>
            </a:r>
          </a:p>
          <a:p xmlns:a="http://schemas.openxmlformats.org/drawingml/2006/main">
            <a:r>
              <a:t>Reserve the final four minutes for Richard as Security Counsel. Use up to two minutes per table; if table count makes that impossible, pair tables and nominate one report from each pair. After each report, Adam asks only one question: what evidence would make you reverse that call? Then hand to Richard: ‘Richard, you have heard the calls. What reasoning would you trust in a real incident, and where did the room expose a blind spot?’ Richard recognises strong decision patterns without scoring teams or declaring a correct answer. He should cover containment, continuity, evidence under uncertainty and one practical lesson to take back into the organisation.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84:00–88:00</a:t>
            </a:r>
          </a:p>
          <a:p xmlns:a="http://schemas.openxmlformats.org/drawingml/2006/main">
            <a:r>
              <a:t/>
            </a:r>
          </a:p>
          <a:p xmlns:a="http://schemas.openxmlformats.org/drawingml/2006/main">
            <a:r>
              <a:t>Now connect the decisions to control locations. Copilot Studio and Power Platform bound what can be built and connected; Entra governs the acting identity; Purview and Fabric controls make sensitive data and AI interaction risk visible; Defender and Sentinel support investigation and response; the cross-estate control layer provides inventory and policy. Keep this as a capability map, not a claim that one product solves an end-to-end operating model.</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https://learn.microsoft.com/en-us/entra/agent-id/manage-agent-identities-admin</a:t>
            </a:r>
          </a:p>
          <a:p xmlns:a="http://schemas.openxmlformats.org/drawingml/2006/main">
            <a:r>
              <a:t>https://learn.microsoft.com/en-us/purview/data-security-posture-management-learn-about</a:t>
            </a:r>
          </a:p>
          <a:p xmlns:a="http://schemas.openxmlformats.org/drawingml/2006/main">
            <a:r>
              <a:t>https://learn.microsoft.com/en-us/fabric/governance/microsoft-purview-fabric</a:t>
            </a:r>
          </a:p>
          <a:p xmlns:a="http://schemas.openxmlformats.org/drawingml/2006/main">
            <a:r>
              <a:t>https://learn.microsoft.com/en-us/copilot/microsoft-365/copilot-control-system/management-controls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88:00–90:00</a:t>
            </a:r>
          </a:p>
          <a:p xmlns:a="http://schemas.openxmlformats.org/drawingml/2006/main">
            <a:r>
              <a:t/>
            </a:r>
          </a:p>
          <a:p xmlns:a="http://schemas.openxmlformats.org/drawingml/2006/main">
            <a:r>
              <a:t>Close on the operating questions the board can own. Agent speed does not remove human accountability; it makes clear decision rights, evidence and restart authority more important. Leave the room with the question: the agent can act in seconds, but can your organisation decide in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05bb27465844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752dfd6cb24ee9" /><Relationship Type="http://schemas.openxmlformats.org/officeDocument/2006/relationships/slideLayout" Target="/ppt/slideLayouts/slideLayout1.xml" Id="Ra113274f549c4b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13274f549c4b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8a0ecc42284a08" /><Relationship Type="http://schemas.openxmlformats.org/officeDocument/2006/relationships/image" Target="/ppt/media/image.png" Id="R4941e41cd07842d3" /><Relationship Type="http://schemas.openxmlformats.org/officeDocument/2006/relationships/image" Target="/ppt/media/image2.png" Id="R745c971ba7324725" /><Relationship Type="http://schemas.openxmlformats.org/officeDocument/2006/relationships/notesSlide" Target="/ppt/notesSlides/notesSlide1.xml" Id="Rd9092d01818046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827e18d8ea4675" /><Relationship Type="http://schemas.openxmlformats.org/officeDocument/2006/relationships/notesSlide" Target="/ppt/notesSlides/notesSlide2.xml" Id="R54c31493364d49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50e5538cd94190" /><Relationship Type="http://schemas.openxmlformats.org/officeDocument/2006/relationships/notesSlide" Target="/ppt/notesSlides/notesSlide3.xml" Id="R2d4966a73ffc42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dcc9589eb04569" /><Relationship Type="http://schemas.openxmlformats.org/officeDocument/2006/relationships/notesSlide" Target="/ppt/notesSlides/notesSlide4.xml" Id="Raaa37124133e44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5a8adaa4b649df" /><Relationship Type="http://schemas.openxmlformats.org/officeDocument/2006/relationships/notesSlide" Target="/ppt/notesSlides/notesSlide5.xml" Id="R849f15cf46ac41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8f008312574c79" /><Relationship Type="http://schemas.openxmlformats.org/officeDocument/2006/relationships/notesSlide" Target="/ppt/notesSlides/notesSlide6.xml" Id="Ra145c866885d4b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71f26ca92f437c" /><Relationship Type="http://schemas.openxmlformats.org/officeDocument/2006/relationships/notesSlide" Target="/ppt/notesSlides/notesSlide7.xml" Id="Rd154db2ed9d84f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bd5fee60354c13" /><Relationship Type="http://schemas.openxmlformats.org/officeDocument/2006/relationships/notesSlide" Target="/ppt/notesSlides/notesSlide8.xml" Id="R76a43086d90549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bdb50fa3254ea3" /><Relationship Type="http://schemas.openxmlformats.org/officeDocument/2006/relationships/notesSlide" Target="/ppt/notesSlides/notesSlide9.xml" Id="R3081536439744b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451982253e446e" /><Relationship Type="http://schemas.openxmlformats.org/officeDocument/2006/relationships/notesSlide" Target="/ppt/notesSlides/notesSlide10.xml" Id="R21a1c488841c40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4f4df80b634771" /><Relationship Type="http://schemas.openxmlformats.org/officeDocument/2006/relationships/notesSlide" Target="/ppt/notesSlides/notesSlide11.xml" Id="R1bb3d97de5c042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f06b5958fe47c2" /><Relationship Type="http://schemas.openxmlformats.org/officeDocument/2006/relationships/notesSlide" Target="/ppt/notesSlides/notesSlide12.xml" Id="R2ac6ca9c32b04b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adbf6ad9ea4c81" /><Relationship Type="http://schemas.openxmlformats.org/officeDocument/2006/relationships/notesSlide" Target="/ppt/notesSlides/notesSlide13.xml" Id="R0796ce17315642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bc799272654152" /><Relationship Type="http://schemas.openxmlformats.org/officeDocument/2006/relationships/notesSlide" Target="/ppt/notesSlides/notesSlide14.xml" Id="Ra560bb8ab38248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23e308b01e4013" /><Relationship Type="http://schemas.openxmlformats.org/officeDocument/2006/relationships/notesSlide" Target="/ppt/notesSlides/notesSlide15.xml" Id="R76745cfe74b44d0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941e41cd07842d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820309-008E-48AF-8E8C-B4F7D886F6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00025">
                  <a:alpha val="96000"/>
                </a:srgbClr>
              </a:gs>
              <a:gs pos="72000">
                <a:srgbClr val="000025">
                  <a:alpha val="30000"/>
                </a:srgbClr>
              </a:gs>
              <a:gs pos="100000">
                <a:srgbClr val="000025">
                  <a:alpha val="5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9EB5B1-73B1-4D84-8E69-9CBE113491F9}"/>
              </a:ext>
            </a:extLst>
          </p:cNvPr>
          <p:cNvSpPr>
            <a:spLocks xmlns:a="http://schemas.openxmlformats.org/drawingml/2006/main" noGrp="1"/>
          </p:cNvSpPr>
          <p:nvPr/>
        </p:nvSpPr>
        <p:spPr>
          <a:xfrm xmlns:a="http://schemas.openxmlformats.org/drawingml/2006/main">
            <a:off x="647700" y="876300"/>
            <a:ext cx="619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WHEN THE</a:t>
            </a:r>
          </a:p>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AGENT ACTS</a:t>
            </a:r>
          </a:p>
        </p:txBody>
      </p:sp>
      <p:sp>
        <p:nvSpPr>
          <p:cNvPr id="4" name="">
            <a:extLst xmlns:a="http://schemas.openxmlformats.org/drawingml/2006/main">
              <a:ext uri="{FF2B5EF4-FFF2-40B4-BE49-F238E27FC236}">
                <a16:creationId xmlns:a16="http://schemas.microsoft.com/office/drawing/2014/main" id="{E9B6E21E-875F-435D-A941-0B6186C1D4A3}"/>
              </a:ext>
            </a:extLst>
          </p:cNvPr>
          <p:cNvSpPr>
            <a:spLocks xmlns:a="http://schemas.openxmlformats.org/drawingml/2006/main" noGrp="1"/>
          </p:cNvSpPr>
          <p:nvPr/>
        </p:nvSpPr>
        <p:spPr>
          <a:xfrm xmlns:a="http://schemas.openxmlformats.org/drawingml/2006/main">
            <a:off x="685800" y="29051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0">
                <a:solidFill>
                  <a:srgbClr val="78DCFF"/>
                </a:solidFill>
                <a:latin typeface="Arial"/>
                <a:ea typeface="Arial"/>
                <a:cs typeface="Arial"/>
              </a:defRPr>
            </a:pPr>
            <a:r>
              <a:rPr sz="2025" b="0">
                <a:solidFill>
                  <a:srgbClr val="78DCFF"/>
                </a:solidFill>
                <a:latin typeface="Arial"/>
                <a:ea typeface="Arial"/>
                <a:cs typeface="Arial"/>
              </a:rPr>
              <a:t>A tabletop workshop on visibility, permissions and response</a:t>
            </a:r>
          </a:p>
        </p:txBody>
      </p:sp>
      <p:sp>
        <p:nvSpPr>
          <p:cNvPr id="5" name="">
            <a:extLst xmlns:a="http://schemas.openxmlformats.org/drawingml/2006/main">
              <a:ext uri="{FF2B5EF4-FFF2-40B4-BE49-F238E27FC236}">
                <a16:creationId xmlns:a16="http://schemas.microsoft.com/office/drawing/2014/main" id="{CE3EC932-1F93-4A53-A75D-C272FD5BC15F}"/>
              </a:ext>
            </a:extLst>
          </p:cNvPr>
          <p:cNvSpPr>
            <a:spLocks xmlns:a="http://schemas.openxmlformats.org/drawingml/2006/main" noGrp="1"/>
          </p:cNvSpPr>
          <p:nvPr/>
        </p:nvSpPr>
        <p:spPr>
          <a:xfrm xmlns:a="http://schemas.openxmlformats.org/drawingml/2006/main">
            <a:off x="685800" y="3962400"/>
            <a:ext cx="952500" cy="4762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8886B9-5122-4C01-BEEA-D295E8308D91}"/>
              </a:ext>
            </a:extLst>
          </p:cNvPr>
          <p:cNvSpPr>
            <a:spLocks xmlns:a="http://schemas.openxmlformats.org/drawingml/2006/main" noGrp="1"/>
          </p:cNvSpPr>
          <p:nvPr/>
        </p:nvSpPr>
        <p:spPr>
          <a:xfrm xmlns:a="http://schemas.openxmlformats.org/drawingml/2006/main">
            <a:off x="685800" y="4210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Adam Rappaport</a:t>
            </a:r>
          </a:p>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AI Sales Specialist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45c971ba7324725"/>
          <a:stretch xmlns:a="http://schemas.openxmlformats.org/drawingml/2006/main"/>
        </p:blipFill>
        <p:spPr>
          <a:xfrm xmlns:a="http://schemas.openxmlformats.org/drawingml/2006/main">
            <a:off x="688543" y="5667375"/>
            <a:ext cx="1185138" cy="476250"/>
          </a:xfrm>
          <a:prstGeom xmlns:a="http://schemas.openxmlformats.org/drawingml/2006/main" prst="rect">
            <a:avLst/>
          </a:prstGeom>
        </p:spPr>
      </p:pic>
    </p:spTree>
    <p:extLst>
      <p:ext uri="{BB962C8B-B14F-4D97-AF65-F5344CB8AC3E}">
        <p14:creationId xmlns:p14="http://schemas.microsoft.com/office/powerpoint/2010/main" val="185446779"/>
      </p:ext>
    </p:extLst>
  </p:cSld>
</p:sld>
</file>

<file path=ppt/slides/slide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834933-9DC2-42C9-A185-E080A0FE4D8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PROVOCATION</a:t>
            </a:r>
          </a:p>
        </p:txBody>
      </p:sp>
      <p:sp>
        <p:nvSpPr>
          <p:cNvPr id="2" name="">
            <a:extLst xmlns:a="http://schemas.openxmlformats.org/drawingml/2006/main">
              <a:ext uri="{FF2B5EF4-FFF2-40B4-BE49-F238E27FC236}">
                <a16:creationId xmlns:a16="http://schemas.microsoft.com/office/drawing/2014/main" id="{0A93FCE4-9E55-465B-879E-AD3925708EA3}"/>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An enterprise intrusion moved at agent speed</a:t>
            </a:r>
          </a:p>
        </p:txBody>
      </p:sp>
      <p:sp>
        <p:nvSpPr>
          <p:cNvPr id="3" name="">
            <a:extLst xmlns:a="http://schemas.openxmlformats.org/drawingml/2006/main">
              <a:ext uri="{FF2B5EF4-FFF2-40B4-BE49-F238E27FC236}">
                <a16:creationId xmlns:a16="http://schemas.microsoft.com/office/drawing/2014/main" id="{19311E74-13DD-4E78-B655-69C0CA56C86D}"/>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9C45151C-8E6D-456C-94EF-470507BA4C6F}"/>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50D8AD6-448C-408D-8B07-FC106E2A9C38}"/>
              </a:ext>
            </a:extLst>
          </p:cNvPr>
          <p:cNvSpPr>
            <a:spLocks xmlns:a="http://schemas.openxmlformats.org/drawingml/2006/main" noGrp="1"/>
          </p:cNvSpPr>
          <p:nvPr/>
        </p:nvSpPr>
        <p:spPr>
          <a:xfrm xmlns:a="http://schemas.openxmlformats.org/drawingml/2006/main">
            <a:off x="666750" y="1447800"/>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0000"/>
              </a:lnSpc>
              <a:buNone/>
              <a:defRPr sz="8400" b="1">
                <a:solidFill>
                  <a:srgbClr val="00FFFF"/>
                </a:solidFill>
                <a:latin typeface="Arial"/>
                <a:ea typeface="Arial"/>
                <a:cs typeface="Arial"/>
              </a:defRPr>
            </a:pPr>
            <a:r>
              <a:rPr sz="8400" b="1">
                <a:solidFill>
                  <a:srgbClr val="00FFFF"/>
                </a:solidFill>
                <a:latin typeface="Arial"/>
                <a:ea typeface="Arial"/>
                <a:cs typeface="Arial"/>
              </a:rPr>
              <a:t>&lt; 10</a:t>
            </a:r>
          </a:p>
        </p:txBody>
      </p:sp>
      <p:sp>
        <p:nvSpPr>
          <p:cNvPr id="6" name="">
            <a:extLst xmlns:a="http://schemas.openxmlformats.org/drawingml/2006/main">
              <a:ext uri="{FF2B5EF4-FFF2-40B4-BE49-F238E27FC236}">
                <a16:creationId xmlns:a16="http://schemas.microsoft.com/office/drawing/2014/main" id="{A99173BB-8C4C-4851-969C-8ADAF235D09A}"/>
              </a:ext>
            </a:extLst>
          </p:cNvPr>
          <p:cNvSpPr>
            <a:spLocks xmlns:a="http://schemas.openxmlformats.org/drawingml/2006/main" noGrp="1"/>
          </p:cNvSpPr>
          <p:nvPr/>
        </p:nvSpPr>
        <p:spPr>
          <a:xfrm xmlns:a="http://schemas.openxmlformats.org/drawingml/2006/main">
            <a:off x="752475" y="27813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75" b="1">
                <a:solidFill>
                  <a:srgbClr val="FFFFFF"/>
                </a:solidFill>
                <a:latin typeface="Arial"/>
                <a:ea typeface="Arial"/>
                <a:cs typeface="Arial"/>
              </a:defRPr>
            </a:pPr>
            <a:r>
              <a:rPr sz="2775" b="1">
                <a:solidFill>
                  <a:srgbClr val="FFFFFF"/>
                </a:solidFill>
                <a:latin typeface="Arial"/>
                <a:ea typeface="Arial"/>
                <a:cs typeface="Arial"/>
              </a:rPr>
              <a:t>hours</a:t>
            </a:r>
          </a:p>
        </p:txBody>
      </p:sp>
      <p:sp>
        <p:nvSpPr>
          <p:cNvPr id="7" name="">
            <a:extLst xmlns:a="http://schemas.openxmlformats.org/drawingml/2006/main">
              <a:ext uri="{FF2B5EF4-FFF2-40B4-BE49-F238E27FC236}">
                <a16:creationId xmlns:a16="http://schemas.microsoft.com/office/drawing/2014/main" id="{01BA4425-7914-41E9-9A28-9F30442AF916}"/>
              </a:ext>
            </a:extLst>
          </p:cNvPr>
          <p:cNvSpPr>
            <a:spLocks xmlns:a="http://schemas.openxmlformats.org/drawingml/2006/main" noGrp="1"/>
          </p:cNvSpPr>
          <p:nvPr/>
        </p:nvSpPr>
        <p:spPr>
          <a:xfrm xmlns:a="http://schemas.openxmlformats.org/drawingml/2006/main">
            <a:off x="723900" y="339090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0">
                <a:solidFill>
                  <a:srgbClr val="78DCFF"/>
                </a:solidFill>
                <a:latin typeface="Arial"/>
                <a:ea typeface="Arial"/>
                <a:cs typeface="Arial"/>
              </a:defRPr>
            </a:pPr>
            <a:r>
              <a:rPr sz="1875" b="0">
                <a:solidFill>
                  <a:srgbClr val="78DCFF"/>
                </a:solidFill>
                <a:latin typeface="Arial"/>
                <a:ea typeface="Arial"/>
                <a:cs typeface="Arial"/>
              </a:rPr>
              <a:t>From initial access to privileged control</a:t>
            </a:r>
          </a:p>
        </p:txBody>
      </p:sp>
      <p:sp>
        <p:nvSpPr>
          <p:cNvPr id="8" name="">
            <a:extLst xmlns:a="http://schemas.openxmlformats.org/drawingml/2006/main">
              <a:ext uri="{FF2B5EF4-FFF2-40B4-BE49-F238E27FC236}">
                <a16:creationId xmlns:a16="http://schemas.microsoft.com/office/drawing/2014/main" id="{644183AE-C667-4574-B099-3C70DB8EE76E}"/>
              </a:ext>
            </a:extLst>
          </p:cNvPr>
          <p:cNvSpPr>
            <a:spLocks xmlns:a="http://schemas.openxmlformats.org/drawingml/2006/main" noGrp="1"/>
          </p:cNvSpPr>
          <p:nvPr/>
        </p:nvSpPr>
        <p:spPr>
          <a:xfrm xmlns:a="http://schemas.openxmlformats.org/drawingml/2006/main">
            <a:off x="5619750" y="1562100"/>
            <a:ext cx="25717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3ED99B2-C009-43DC-9D8A-E21B9EBB3A50}"/>
              </a:ext>
            </a:extLst>
          </p:cNvPr>
          <p:cNvSpPr>
            <a:spLocks xmlns:a="http://schemas.openxmlformats.org/drawingml/2006/main" noGrp="1"/>
          </p:cNvSpPr>
          <p:nvPr/>
        </p:nvSpPr>
        <p:spPr>
          <a:xfrm xmlns:a="http://schemas.openxmlformats.org/drawingml/2006/main">
            <a:off x="5619750" y="1562100"/>
            <a:ext cx="66675" cy="1219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262E4A-7999-478F-B18E-6EC3196B0D26}"/>
              </a:ext>
            </a:extLst>
          </p:cNvPr>
          <p:cNvSpPr>
            <a:spLocks xmlns:a="http://schemas.openxmlformats.org/drawingml/2006/main" noGrp="1"/>
          </p:cNvSpPr>
          <p:nvPr/>
        </p:nvSpPr>
        <p:spPr>
          <a:xfrm xmlns:a="http://schemas.openxmlformats.org/drawingml/2006/main">
            <a:off x="5829300" y="17335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50+ techniques</a:t>
            </a:r>
          </a:p>
        </p:txBody>
      </p:sp>
      <p:sp>
        <p:nvSpPr>
          <p:cNvPr id="11" name="">
            <a:extLst xmlns:a="http://schemas.openxmlformats.org/drawingml/2006/main">
              <a:ext uri="{FF2B5EF4-FFF2-40B4-BE49-F238E27FC236}">
                <a16:creationId xmlns:a16="http://schemas.microsoft.com/office/drawing/2014/main" id="{51CBDC6F-BA8C-4A48-83E7-D7A64E8335D0}"/>
              </a:ext>
            </a:extLst>
          </p:cNvPr>
          <p:cNvSpPr>
            <a:spLocks xmlns:a="http://schemas.openxmlformats.org/drawingml/2006/main" noGrp="1"/>
          </p:cNvSpPr>
          <p:nvPr/>
        </p:nvSpPr>
        <p:spPr>
          <a:xfrm xmlns:a="http://schemas.openxmlformats.org/drawingml/2006/main">
            <a:off x="5829300" y="2114550"/>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AI agents mapped the environment and executed across the attack chain.</a:t>
            </a:r>
          </a:p>
        </p:txBody>
      </p:sp>
      <p:sp>
        <p:nvSpPr>
          <p:cNvPr id="12" name="">
            <a:extLst xmlns:a="http://schemas.openxmlformats.org/drawingml/2006/main">
              <a:ext uri="{FF2B5EF4-FFF2-40B4-BE49-F238E27FC236}">
                <a16:creationId xmlns:a16="http://schemas.microsoft.com/office/drawing/2014/main" id="{907D7CDF-0F5D-464A-982D-E716F4A38A60}"/>
              </a:ext>
            </a:extLst>
          </p:cNvPr>
          <p:cNvSpPr>
            <a:spLocks xmlns:a="http://schemas.openxmlformats.org/drawingml/2006/main" noGrp="1"/>
          </p:cNvSpPr>
          <p:nvPr/>
        </p:nvSpPr>
        <p:spPr>
          <a:xfrm xmlns:a="http://schemas.openxmlformats.org/drawingml/2006/main">
            <a:off x="8439150" y="1562100"/>
            <a:ext cx="27622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680CC78-D2EE-4735-9B83-261A947CDAED}"/>
              </a:ext>
            </a:extLst>
          </p:cNvPr>
          <p:cNvSpPr>
            <a:spLocks xmlns:a="http://schemas.openxmlformats.org/drawingml/2006/main" noGrp="1"/>
          </p:cNvSpPr>
          <p:nvPr/>
        </p:nvSpPr>
        <p:spPr>
          <a:xfrm xmlns:a="http://schemas.openxmlformats.org/drawingml/2006/main">
            <a:off x="8439150" y="1562100"/>
            <a:ext cx="66675" cy="1219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8BA0BC6-9021-4CC6-8191-C4475F0FF99F}"/>
              </a:ext>
            </a:extLst>
          </p:cNvPr>
          <p:cNvSpPr>
            <a:spLocks xmlns:a="http://schemas.openxmlformats.org/drawingml/2006/main" noGrp="1"/>
          </p:cNvSpPr>
          <p:nvPr/>
        </p:nvSpPr>
        <p:spPr>
          <a:xfrm xmlns:a="http://schemas.openxmlformats.org/drawingml/2006/main">
            <a:off x="8648700" y="173355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Human-directed</a:t>
            </a:r>
          </a:p>
        </p:txBody>
      </p:sp>
      <p:sp>
        <p:nvSpPr>
          <p:cNvPr id="15" name="">
            <a:extLst xmlns:a="http://schemas.openxmlformats.org/drawingml/2006/main">
              <a:ext uri="{FF2B5EF4-FFF2-40B4-BE49-F238E27FC236}">
                <a16:creationId xmlns:a16="http://schemas.microsoft.com/office/drawing/2014/main" id="{CA0A6824-2A97-4341-A00A-20C1FC58E5BF}"/>
              </a:ext>
            </a:extLst>
          </p:cNvPr>
          <p:cNvSpPr>
            <a:spLocks xmlns:a="http://schemas.openxmlformats.org/drawingml/2006/main" noGrp="1"/>
          </p:cNvSpPr>
          <p:nvPr/>
        </p:nvSpPr>
        <p:spPr>
          <a:xfrm xmlns:a="http://schemas.openxmlformats.org/drawingml/2006/main">
            <a:off x="8648700" y="211455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 person set objectives. Agents handled much of the execution and replanning.</a:t>
            </a:r>
          </a:p>
        </p:txBody>
      </p:sp>
      <p:sp>
        <p:nvSpPr>
          <p:cNvPr id="16" name="">
            <a:extLst xmlns:a="http://schemas.openxmlformats.org/drawingml/2006/main">
              <a:ext uri="{FF2B5EF4-FFF2-40B4-BE49-F238E27FC236}">
                <a16:creationId xmlns:a16="http://schemas.microsoft.com/office/drawing/2014/main" id="{14FC6622-FA81-4345-9D77-C6805666EEB0}"/>
              </a:ext>
            </a:extLst>
          </p:cNvPr>
          <p:cNvSpPr>
            <a:spLocks xmlns:a="http://schemas.openxmlformats.org/drawingml/2006/main" noGrp="1"/>
          </p:cNvSpPr>
          <p:nvPr/>
        </p:nvSpPr>
        <p:spPr>
          <a:xfrm xmlns:a="http://schemas.openxmlformats.org/drawingml/2006/main">
            <a:off x="5619750" y="3105150"/>
            <a:ext cx="5581650" cy="15430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08EE1F-4B50-4DFD-A83E-9EA76A4745E6}"/>
              </a:ext>
            </a:extLst>
          </p:cNvPr>
          <p:cNvSpPr>
            <a:spLocks xmlns:a="http://schemas.openxmlformats.org/drawingml/2006/main" noGrp="1"/>
          </p:cNvSpPr>
          <p:nvPr/>
        </p:nvSpPr>
        <p:spPr>
          <a:xfrm xmlns:a="http://schemas.openxmlformats.org/drawingml/2006/main">
            <a:off x="5619750" y="3105150"/>
            <a:ext cx="66675" cy="154305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ED8014-F950-4AB8-960F-35EEADC72427}"/>
              </a:ext>
            </a:extLst>
          </p:cNvPr>
          <p:cNvSpPr>
            <a:spLocks xmlns:a="http://schemas.openxmlformats.org/drawingml/2006/main" noGrp="1"/>
          </p:cNvSpPr>
          <p:nvPr/>
        </p:nvSpPr>
        <p:spPr>
          <a:xfrm xmlns:a="http://schemas.openxmlformats.org/drawingml/2006/main">
            <a:off x="5829300" y="3276600"/>
            <a:ext cx="516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FFFF"/>
                </a:solidFill>
                <a:latin typeface="Arial"/>
                <a:ea typeface="Arial"/>
                <a:cs typeface="Arial"/>
              </a:defRPr>
            </a:pPr>
            <a:r>
              <a:rPr sz="2025" b="1">
                <a:solidFill>
                  <a:srgbClr val="FFFFFF"/>
                </a:solidFill>
                <a:latin typeface="Arial"/>
                <a:ea typeface="Arial"/>
                <a:cs typeface="Arial"/>
              </a:rPr>
              <a:t>The operating model has changed</a:t>
            </a:r>
          </a:p>
        </p:txBody>
      </p:sp>
      <p:sp>
        <p:nvSpPr>
          <p:cNvPr id="19" name="">
            <a:extLst xmlns:a="http://schemas.openxmlformats.org/drawingml/2006/main">
              <a:ext uri="{FF2B5EF4-FFF2-40B4-BE49-F238E27FC236}">
                <a16:creationId xmlns:a16="http://schemas.microsoft.com/office/drawing/2014/main" id="{118051D2-4051-420F-B8ED-803F1C0E81A5}"/>
              </a:ext>
            </a:extLst>
          </p:cNvPr>
          <p:cNvSpPr>
            <a:spLocks xmlns:a="http://schemas.openxmlformats.org/drawingml/2006/main" noGrp="1"/>
          </p:cNvSpPr>
          <p:nvPr/>
        </p:nvSpPr>
        <p:spPr>
          <a:xfrm xmlns:a="http://schemas.openxmlformats.org/drawingml/2006/main">
            <a:off x="5829300" y="3657600"/>
            <a:ext cx="51625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75" b="0">
                <a:solidFill>
                  <a:srgbClr val="FFFFFF"/>
                </a:solidFill>
                <a:latin typeface="Arial"/>
                <a:ea typeface="Arial"/>
                <a:cs typeface="Arial"/>
              </a:defRPr>
            </a:pPr>
            <a:r>
              <a:rPr sz="1575" b="0">
                <a:solidFill>
                  <a:srgbClr val="FFFFFF"/>
                </a:solidFill>
                <a:latin typeface="Arial"/>
                <a:ea typeface="Arial"/>
                <a:cs typeface="Arial"/>
              </a:rPr>
              <a:t>The control challenge is no longer just whether an action was authorised. It is whether the workflow stayed inside the intent, evidence and decision rights we expected.</a:t>
            </a:r>
          </a:p>
        </p:txBody>
      </p:sp>
      <p:sp>
        <p:nvSpPr>
          <p:cNvPr id="20" name="">
            <a:extLst xmlns:a="http://schemas.openxmlformats.org/drawingml/2006/main">
              <a:ext uri="{FF2B5EF4-FFF2-40B4-BE49-F238E27FC236}">
                <a16:creationId xmlns:a16="http://schemas.microsoft.com/office/drawing/2014/main" id="{2702F577-C7C1-4763-9D85-F2BEBD77BCE1}"/>
              </a:ext>
            </a:extLst>
          </p:cNvPr>
          <p:cNvSpPr>
            <a:spLocks xmlns:a="http://schemas.openxmlformats.org/drawingml/2006/main" noGrp="1"/>
          </p:cNvSpPr>
          <p:nvPr/>
        </p:nvSpPr>
        <p:spPr>
          <a:xfrm xmlns:a="http://schemas.openxmlformats.org/drawingml/2006/main">
            <a:off x="723900" y="5962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0">
                <a:solidFill>
                  <a:srgbClr val="9AA7B5"/>
                </a:solidFill>
                <a:latin typeface="Arial"/>
                <a:ea typeface="Arial"/>
                <a:cs typeface="Arial"/>
              </a:defRPr>
            </a:pPr>
            <a:r>
              <a:rPr sz="1050" b="0">
                <a:solidFill>
                  <a:srgbClr val="9AA7B5"/>
                </a:solidFill>
                <a:latin typeface="Arial"/>
                <a:ea typeface="Arial"/>
                <a:cs typeface="Arial"/>
              </a:rPr>
              <a:t>2 September 2026 · Unit 42 investigation</a:t>
            </a:r>
          </a:p>
        </p:txBody>
      </p:sp>
    </p:spTree>
    <p:extLst>
      <p:ext uri="{BB962C8B-B14F-4D97-AF65-F5344CB8AC3E}">
        <p14:creationId xmlns:p14="http://schemas.microsoft.com/office/powerpoint/2010/main" val="126690676"/>
      </p:ext>
    </p:extLst>
  </p:cSld>
</p:sld>
</file>

<file path=ppt/slides/slide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EA501F0-4DF4-45BF-9EC2-A7BB422101A5}"/>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CONTROL PROBLEM</a:t>
            </a:r>
          </a:p>
        </p:txBody>
      </p:sp>
      <p:sp>
        <p:nvSpPr>
          <p:cNvPr id="2" name="">
            <a:extLst xmlns:a="http://schemas.openxmlformats.org/drawingml/2006/main">
              <a:ext uri="{FF2B5EF4-FFF2-40B4-BE49-F238E27FC236}">
                <a16:creationId xmlns:a16="http://schemas.microsoft.com/office/drawing/2014/main" id="{D633A24F-6D09-4456-8380-8AA8C1472F53}"/>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dangerous path can look legitimate</a:t>
            </a:r>
          </a:p>
        </p:txBody>
      </p:sp>
      <p:sp>
        <p:nvSpPr>
          <p:cNvPr id="3" name="">
            <a:extLst xmlns:a="http://schemas.openxmlformats.org/drawingml/2006/main">
              <a:ext uri="{FF2B5EF4-FFF2-40B4-BE49-F238E27FC236}">
                <a16:creationId xmlns:a16="http://schemas.microsoft.com/office/drawing/2014/main" id="{76F6EEC2-8132-4CE7-9B03-DCF244ECD9DC}"/>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FC2976BD-6647-4919-BCEB-EA39533732D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D5B7033-B841-495E-B69A-869CDE6AE7B4}"/>
              </a:ext>
            </a:extLst>
          </p:cNvPr>
          <p:cNvSpPr>
            <a:spLocks xmlns:a="http://schemas.openxmlformats.org/drawingml/2006/main" noGrp="1"/>
          </p:cNvSpPr>
          <p:nvPr/>
        </p:nvSpPr>
        <p:spPr>
          <a:xfrm xmlns:a="http://schemas.openxmlformats.org/drawingml/2006/main">
            <a:off x="628650" y="12763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Nothing in the chain has to look like malware.</a:t>
            </a:r>
          </a:p>
        </p:txBody>
      </p:sp>
      <p:sp>
        <p:nvSpPr>
          <p:cNvPr id="6" name="">
            <a:extLst xmlns:a="http://schemas.openxmlformats.org/drawingml/2006/main">
              <a:ext uri="{FF2B5EF4-FFF2-40B4-BE49-F238E27FC236}">
                <a16:creationId xmlns:a16="http://schemas.microsoft.com/office/drawing/2014/main" id="{0A0472D5-E34F-46B9-815E-4950B3230B96}"/>
              </a:ext>
            </a:extLst>
          </p:cNvPr>
          <p:cNvSpPr>
            <a:spLocks xmlns:a="http://schemas.openxmlformats.org/drawingml/2006/main" noGrp="1"/>
          </p:cNvSpPr>
          <p:nvPr/>
        </p:nvSpPr>
        <p:spPr>
          <a:xfrm xmlns:a="http://schemas.openxmlformats.org/drawingml/2006/main">
            <a:off x="6096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7" name="">
            <a:extLst xmlns:a="http://schemas.openxmlformats.org/drawingml/2006/main">
              <a:ext uri="{FF2B5EF4-FFF2-40B4-BE49-F238E27FC236}">
                <a16:creationId xmlns:a16="http://schemas.microsoft.com/office/drawing/2014/main" id="{E5DA8B14-AF72-4A50-9683-87A48CB328CF}"/>
              </a:ext>
            </a:extLst>
          </p:cNvPr>
          <p:cNvSpPr>
            <a:spLocks xmlns:a="http://schemas.openxmlformats.org/drawingml/2006/main" noGrp="1"/>
          </p:cNvSpPr>
          <p:nvPr/>
        </p:nvSpPr>
        <p:spPr>
          <a:xfrm xmlns:a="http://schemas.openxmlformats.org/drawingml/2006/main">
            <a:off x="1352550" y="2343150"/>
            <a:ext cx="466725" cy="466725"/>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ECB57C-D290-4CB0-B1EE-EAF9F753A8E6}"/>
              </a:ext>
            </a:extLst>
          </p:cNvPr>
          <p:cNvSpPr>
            <a:spLocks xmlns:a="http://schemas.openxmlformats.org/drawingml/2006/main" noGrp="1"/>
          </p:cNvSpPr>
          <p:nvPr/>
        </p:nvSpPr>
        <p:spPr>
          <a:xfrm xmlns:a="http://schemas.openxmlformats.org/drawingml/2006/main">
            <a:off x="13525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ACEC754D-B490-4545-904B-8AD584905FB8}"/>
              </a:ext>
            </a:extLst>
          </p:cNvPr>
          <p:cNvSpPr>
            <a:spLocks xmlns:a="http://schemas.openxmlformats.org/drawingml/2006/main" noGrp="1"/>
          </p:cNvSpPr>
          <p:nvPr/>
        </p:nvSpPr>
        <p:spPr>
          <a:xfrm xmlns:a="http://schemas.openxmlformats.org/drawingml/2006/main">
            <a:off x="7620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AEFF"/>
                </a:solidFill>
                <a:latin typeface="Arial"/>
                <a:ea typeface="Arial"/>
                <a:cs typeface="Arial"/>
              </a:defRPr>
            </a:pPr>
            <a:r>
              <a:rPr sz="1050" b="1">
                <a:solidFill>
                  <a:srgbClr val="00AEFF"/>
                </a:solidFill>
                <a:latin typeface="Arial"/>
                <a:ea typeface="Arial"/>
                <a:cs typeface="Arial"/>
              </a:rPr>
              <a:t>APPROVED TASK</a:t>
            </a:r>
          </a:p>
        </p:txBody>
      </p:sp>
      <p:sp>
        <p:nvSpPr>
          <p:cNvPr id="10" name="">
            <a:extLst xmlns:a="http://schemas.openxmlformats.org/drawingml/2006/main">
              <a:ext uri="{FF2B5EF4-FFF2-40B4-BE49-F238E27FC236}">
                <a16:creationId xmlns:a16="http://schemas.microsoft.com/office/drawing/2014/main" id="{B569B52E-1570-49B3-8BCC-3C76953997F6}"/>
              </a:ext>
            </a:extLst>
          </p:cNvPr>
          <p:cNvSpPr>
            <a:spLocks xmlns:a="http://schemas.openxmlformats.org/drawingml/2006/main" noGrp="1"/>
          </p:cNvSpPr>
          <p:nvPr/>
        </p:nvSpPr>
        <p:spPr>
          <a:xfrm xmlns:a="http://schemas.openxmlformats.org/drawingml/2006/main">
            <a:off x="7620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Useful business request</a:t>
            </a:r>
          </a:p>
        </p:txBody>
      </p:sp>
      <p:sp>
        <p:nvSpPr>
          <p:cNvPr id="11" name="">
            <a:extLst xmlns:a="http://schemas.openxmlformats.org/drawingml/2006/main">
              <a:ext uri="{FF2B5EF4-FFF2-40B4-BE49-F238E27FC236}">
                <a16:creationId xmlns:a16="http://schemas.microsoft.com/office/drawing/2014/main" id="{E5DB4CF4-D3E4-449B-88A8-72CE6B50A65B}"/>
              </a:ext>
            </a:extLst>
          </p:cNvPr>
          <p:cNvSpPr>
            <a:spLocks xmlns:a="http://schemas.openxmlformats.org/drawingml/2006/main" noGrp="1"/>
          </p:cNvSpPr>
          <p:nvPr/>
        </p:nvSpPr>
        <p:spPr>
          <a:xfrm xmlns:a="http://schemas.openxmlformats.org/drawingml/2006/main">
            <a:off x="258127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2F8C52-DBB1-4558-A844-800025213391}"/>
              </a:ext>
            </a:extLst>
          </p:cNvPr>
          <p:cNvSpPr>
            <a:spLocks xmlns:a="http://schemas.openxmlformats.org/drawingml/2006/main" noGrp="1"/>
          </p:cNvSpPr>
          <p:nvPr/>
        </p:nvSpPr>
        <p:spPr>
          <a:xfrm xmlns:a="http://schemas.openxmlformats.org/drawingml/2006/main">
            <a:off x="288607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D8F8FFC4-A4B5-4F9B-82CD-24D30A0AEAC4}"/>
              </a:ext>
            </a:extLst>
          </p:cNvPr>
          <p:cNvSpPr>
            <a:spLocks xmlns:a="http://schemas.openxmlformats.org/drawingml/2006/main" noGrp="1"/>
          </p:cNvSpPr>
          <p:nvPr/>
        </p:nvSpPr>
        <p:spPr>
          <a:xfrm xmlns:a="http://schemas.openxmlformats.org/drawingml/2006/main">
            <a:off x="3629025" y="2343150"/>
            <a:ext cx="466725" cy="466725"/>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07830B4-FCDD-482F-8578-31824E57A669}"/>
              </a:ext>
            </a:extLst>
          </p:cNvPr>
          <p:cNvSpPr>
            <a:spLocks xmlns:a="http://schemas.openxmlformats.org/drawingml/2006/main" noGrp="1"/>
          </p:cNvSpPr>
          <p:nvPr/>
        </p:nvSpPr>
        <p:spPr>
          <a:xfrm xmlns:a="http://schemas.openxmlformats.org/drawingml/2006/main">
            <a:off x="362902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2EAE7395-93B2-4E35-8F01-32833FF7C59D}"/>
              </a:ext>
            </a:extLst>
          </p:cNvPr>
          <p:cNvSpPr>
            <a:spLocks xmlns:a="http://schemas.openxmlformats.org/drawingml/2006/main" noGrp="1"/>
          </p:cNvSpPr>
          <p:nvPr/>
        </p:nvSpPr>
        <p:spPr>
          <a:xfrm xmlns:a="http://schemas.openxmlformats.org/drawingml/2006/main">
            <a:off x="303847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TRUSTED CONTENT</a:t>
            </a:r>
          </a:p>
        </p:txBody>
      </p:sp>
      <p:sp>
        <p:nvSpPr>
          <p:cNvPr id="16" name="">
            <a:extLst xmlns:a="http://schemas.openxmlformats.org/drawingml/2006/main">
              <a:ext uri="{FF2B5EF4-FFF2-40B4-BE49-F238E27FC236}">
                <a16:creationId xmlns:a16="http://schemas.microsoft.com/office/drawing/2014/main" id="{E47AA119-DF2B-4BC2-809C-5C86A4BDCB85}"/>
              </a:ext>
            </a:extLst>
          </p:cNvPr>
          <p:cNvSpPr>
            <a:spLocks xmlns:a="http://schemas.openxmlformats.org/drawingml/2006/main" noGrp="1"/>
          </p:cNvSpPr>
          <p:nvPr/>
        </p:nvSpPr>
        <p:spPr>
          <a:xfrm xmlns:a="http://schemas.openxmlformats.org/drawingml/2006/main">
            <a:off x="303847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Supplier or citizen document</a:t>
            </a:r>
          </a:p>
        </p:txBody>
      </p:sp>
      <p:sp>
        <p:nvSpPr>
          <p:cNvPr id="17" name="">
            <a:extLst xmlns:a="http://schemas.openxmlformats.org/drawingml/2006/main">
              <a:ext uri="{FF2B5EF4-FFF2-40B4-BE49-F238E27FC236}">
                <a16:creationId xmlns:a16="http://schemas.microsoft.com/office/drawing/2014/main" id="{20F3C9DF-76AD-4BD2-AE14-5E2709F3C89A}"/>
              </a:ext>
            </a:extLst>
          </p:cNvPr>
          <p:cNvSpPr>
            <a:spLocks xmlns:a="http://schemas.openxmlformats.org/drawingml/2006/main" noGrp="1"/>
          </p:cNvSpPr>
          <p:nvPr/>
        </p:nvSpPr>
        <p:spPr>
          <a:xfrm xmlns:a="http://schemas.openxmlformats.org/drawingml/2006/main">
            <a:off x="485775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E9E992-E023-4A38-97B1-BED0F71D86CF}"/>
              </a:ext>
            </a:extLst>
          </p:cNvPr>
          <p:cNvSpPr>
            <a:spLocks xmlns:a="http://schemas.openxmlformats.org/drawingml/2006/main" noGrp="1"/>
          </p:cNvSpPr>
          <p:nvPr/>
        </p:nvSpPr>
        <p:spPr>
          <a:xfrm xmlns:a="http://schemas.openxmlformats.org/drawingml/2006/main">
            <a:off x="516255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CEF2FF15-F323-4180-9E40-E1BA3FF56541}"/>
              </a:ext>
            </a:extLst>
          </p:cNvPr>
          <p:cNvSpPr>
            <a:spLocks xmlns:a="http://schemas.openxmlformats.org/drawingml/2006/main" noGrp="1"/>
          </p:cNvSpPr>
          <p:nvPr/>
        </p:nvSpPr>
        <p:spPr>
          <a:xfrm xmlns:a="http://schemas.openxmlformats.org/drawingml/2006/main">
            <a:off x="5905500" y="2343150"/>
            <a:ext cx="466725" cy="466725"/>
          </a:xfrm>
          <a:prstGeom xmlns:a="http://schemas.openxmlformats.org/drawingml/2006/main" prst="ellipse">
            <a:avLst/>
          </a:prstGeom>
          <a:solidFill xmlns:a="http://schemas.openxmlformats.org/drawingml/2006/main">
            <a:srgbClr val="78DC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8422F2D-ABBD-4B0A-BB7E-F5E6C1349B63}"/>
              </a:ext>
            </a:extLst>
          </p:cNvPr>
          <p:cNvSpPr>
            <a:spLocks xmlns:a="http://schemas.openxmlformats.org/drawingml/2006/main" noGrp="1"/>
          </p:cNvSpPr>
          <p:nvPr/>
        </p:nvSpPr>
        <p:spPr>
          <a:xfrm xmlns:a="http://schemas.openxmlformats.org/drawingml/2006/main">
            <a:off x="590550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000025"/>
                </a:solidFill>
                <a:latin typeface="Arial"/>
                <a:ea typeface="Arial"/>
                <a:cs typeface="Arial"/>
              </a:defRPr>
            </a:pPr>
            <a:r>
              <a:rPr sz="1200" b="1">
                <a:solidFill>
                  <a:srgbClr val="000025"/>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61B6D26F-F63E-4153-97A9-87B15D63A559}"/>
              </a:ext>
            </a:extLst>
          </p:cNvPr>
          <p:cNvSpPr>
            <a:spLocks xmlns:a="http://schemas.openxmlformats.org/drawingml/2006/main" noGrp="1"/>
          </p:cNvSpPr>
          <p:nvPr/>
        </p:nvSpPr>
        <p:spPr>
          <a:xfrm xmlns:a="http://schemas.openxmlformats.org/drawingml/2006/main">
            <a:off x="531495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8DCFF"/>
                </a:solidFill>
                <a:latin typeface="Arial"/>
                <a:ea typeface="Arial"/>
                <a:cs typeface="Arial"/>
              </a:defRPr>
            </a:pPr>
            <a:r>
              <a:rPr sz="1050" b="1">
                <a:solidFill>
                  <a:srgbClr val="78DCFF"/>
                </a:solidFill>
                <a:latin typeface="Arial"/>
                <a:ea typeface="Arial"/>
                <a:cs typeface="Arial"/>
              </a:rPr>
              <a:t>VALID IDENTITY</a:t>
            </a:r>
          </a:p>
        </p:txBody>
      </p:sp>
      <p:sp>
        <p:nvSpPr>
          <p:cNvPr id="22" name="">
            <a:extLst xmlns:a="http://schemas.openxmlformats.org/drawingml/2006/main">
              <a:ext uri="{FF2B5EF4-FFF2-40B4-BE49-F238E27FC236}">
                <a16:creationId xmlns:a16="http://schemas.microsoft.com/office/drawing/2014/main" id="{9FE3C5A0-5B7B-4244-9611-789A9B88A51A}"/>
              </a:ext>
            </a:extLst>
          </p:cNvPr>
          <p:cNvSpPr>
            <a:spLocks xmlns:a="http://schemas.openxmlformats.org/drawingml/2006/main" noGrp="1"/>
          </p:cNvSpPr>
          <p:nvPr/>
        </p:nvSpPr>
        <p:spPr>
          <a:xfrm xmlns:a="http://schemas.openxmlformats.org/drawingml/2006/main">
            <a:off x="531495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Expected access</a:t>
            </a:r>
          </a:p>
        </p:txBody>
      </p:sp>
      <p:sp>
        <p:nvSpPr>
          <p:cNvPr id="23" name="">
            <a:extLst xmlns:a="http://schemas.openxmlformats.org/drawingml/2006/main">
              <a:ext uri="{FF2B5EF4-FFF2-40B4-BE49-F238E27FC236}">
                <a16:creationId xmlns:a16="http://schemas.microsoft.com/office/drawing/2014/main" id="{F676A514-4371-4496-90B3-705D294FBE7F}"/>
              </a:ext>
            </a:extLst>
          </p:cNvPr>
          <p:cNvSpPr>
            <a:spLocks xmlns:a="http://schemas.openxmlformats.org/drawingml/2006/main" noGrp="1"/>
          </p:cNvSpPr>
          <p:nvPr/>
        </p:nvSpPr>
        <p:spPr>
          <a:xfrm xmlns:a="http://schemas.openxmlformats.org/drawingml/2006/main">
            <a:off x="713422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9C84D83-B5B9-47A3-825F-8D96A787BF7C}"/>
              </a:ext>
            </a:extLst>
          </p:cNvPr>
          <p:cNvSpPr>
            <a:spLocks xmlns:a="http://schemas.openxmlformats.org/drawingml/2006/main" noGrp="1"/>
          </p:cNvSpPr>
          <p:nvPr/>
        </p:nvSpPr>
        <p:spPr>
          <a:xfrm xmlns:a="http://schemas.openxmlformats.org/drawingml/2006/main">
            <a:off x="743902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25" name="">
            <a:extLst xmlns:a="http://schemas.openxmlformats.org/drawingml/2006/main">
              <a:ext uri="{FF2B5EF4-FFF2-40B4-BE49-F238E27FC236}">
                <a16:creationId xmlns:a16="http://schemas.microsoft.com/office/drawing/2014/main" id="{6697EE47-D2A1-4926-B288-516FC8E92AEB}"/>
              </a:ext>
            </a:extLst>
          </p:cNvPr>
          <p:cNvSpPr>
            <a:spLocks xmlns:a="http://schemas.openxmlformats.org/drawingml/2006/main" noGrp="1"/>
          </p:cNvSpPr>
          <p:nvPr/>
        </p:nvSpPr>
        <p:spPr>
          <a:xfrm xmlns:a="http://schemas.openxmlformats.org/drawingml/2006/main">
            <a:off x="8181975" y="2343150"/>
            <a:ext cx="466725" cy="466725"/>
          </a:xfrm>
          <a:prstGeom xmlns:a="http://schemas.openxmlformats.org/drawingml/2006/main" prst="ellipse">
            <a:avLst/>
          </a:prstGeom>
          <a:solidFill xmlns:a="http://schemas.openxmlformats.org/drawingml/2006/main">
            <a:srgbClr val="007BC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B55485C-B20A-4B12-901F-2336D58042F8}"/>
              </a:ext>
            </a:extLst>
          </p:cNvPr>
          <p:cNvSpPr>
            <a:spLocks xmlns:a="http://schemas.openxmlformats.org/drawingml/2006/main" noGrp="1"/>
          </p:cNvSpPr>
          <p:nvPr/>
        </p:nvSpPr>
        <p:spPr>
          <a:xfrm xmlns:a="http://schemas.openxmlformats.org/drawingml/2006/main">
            <a:off x="818197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4AF65E4E-ADF2-483F-B18C-9FF5316A984D}"/>
              </a:ext>
            </a:extLst>
          </p:cNvPr>
          <p:cNvSpPr>
            <a:spLocks xmlns:a="http://schemas.openxmlformats.org/drawingml/2006/main" noGrp="1"/>
          </p:cNvSpPr>
          <p:nvPr/>
        </p:nvSpPr>
        <p:spPr>
          <a:xfrm xmlns:a="http://schemas.openxmlformats.org/drawingml/2006/main">
            <a:off x="759142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7BC3"/>
                </a:solidFill>
                <a:latin typeface="Arial"/>
                <a:ea typeface="Arial"/>
                <a:cs typeface="Arial"/>
              </a:defRPr>
            </a:pPr>
            <a:r>
              <a:rPr sz="1050" b="1">
                <a:solidFill>
                  <a:srgbClr val="007BC3"/>
                </a:solidFill>
                <a:latin typeface="Arial"/>
                <a:ea typeface="Arial"/>
                <a:cs typeface="Arial"/>
              </a:rPr>
              <a:t>PERMITTED TOOLS</a:t>
            </a:r>
          </a:p>
        </p:txBody>
      </p:sp>
      <p:sp>
        <p:nvSpPr>
          <p:cNvPr id="28" name="">
            <a:extLst xmlns:a="http://schemas.openxmlformats.org/drawingml/2006/main">
              <a:ext uri="{FF2B5EF4-FFF2-40B4-BE49-F238E27FC236}">
                <a16:creationId xmlns:a16="http://schemas.microsoft.com/office/drawing/2014/main" id="{2EA988E9-8E9E-4B8A-8425-A7ACF90F4FB3}"/>
              </a:ext>
            </a:extLst>
          </p:cNvPr>
          <p:cNvSpPr>
            <a:spLocks xmlns:a="http://schemas.openxmlformats.org/drawingml/2006/main" noGrp="1"/>
          </p:cNvSpPr>
          <p:nvPr/>
        </p:nvSpPr>
        <p:spPr>
          <a:xfrm xmlns:a="http://schemas.openxmlformats.org/drawingml/2006/main">
            <a:off x="759142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Normal connectors and APIs</a:t>
            </a:r>
          </a:p>
        </p:txBody>
      </p:sp>
      <p:sp>
        <p:nvSpPr>
          <p:cNvPr id="29" name="">
            <a:extLst xmlns:a="http://schemas.openxmlformats.org/drawingml/2006/main">
              <a:ext uri="{FF2B5EF4-FFF2-40B4-BE49-F238E27FC236}">
                <a16:creationId xmlns:a16="http://schemas.microsoft.com/office/drawing/2014/main" id="{EAD66972-2884-4815-A91C-89C3682202F0}"/>
              </a:ext>
            </a:extLst>
          </p:cNvPr>
          <p:cNvSpPr>
            <a:spLocks xmlns:a="http://schemas.openxmlformats.org/drawingml/2006/main" noGrp="1"/>
          </p:cNvSpPr>
          <p:nvPr/>
        </p:nvSpPr>
        <p:spPr>
          <a:xfrm xmlns:a="http://schemas.openxmlformats.org/drawingml/2006/main">
            <a:off x="941070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878E68C-DCA2-4EC2-B4BB-9BC748AC5129}"/>
              </a:ext>
            </a:extLst>
          </p:cNvPr>
          <p:cNvSpPr>
            <a:spLocks xmlns:a="http://schemas.openxmlformats.org/drawingml/2006/main" noGrp="1"/>
          </p:cNvSpPr>
          <p:nvPr/>
        </p:nvSpPr>
        <p:spPr>
          <a:xfrm xmlns:a="http://schemas.openxmlformats.org/drawingml/2006/main">
            <a:off x="97155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31" name="">
            <a:extLst xmlns:a="http://schemas.openxmlformats.org/drawingml/2006/main">
              <a:ext uri="{FF2B5EF4-FFF2-40B4-BE49-F238E27FC236}">
                <a16:creationId xmlns:a16="http://schemas.microsoft.com/office/drawing/2014/main" id="{E78D2AB4-B8C6-446B-9581-9D0D6D5B467E}"/>
              </a:ext>
            </a:extLst>
          </p:cNvPr>
          <p:cNvSpPr>
            <a:spLocks xmlns:a="http://schemas.openxmlformats.org/drawingml/2006/main" noGrp="1"/>
          </p:cNvSpPr>
          <p:nvPr/>
        </p:nvSpPr>
        <p:spPr>
          <a:xfrm xmlns:a="http://schemas.openxmlformats.org/drawingml/2006/main">
            <a:off x="10458450" y="2343150"/>
            <a:ext cx="466725" cy="466725"/>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7B2127F-E46C-43A7-BC54-C984B4997EC0}"/>
              </a:ext>
            </a:extLst>
          </p:cNvPr>
          <p:cNvSpPr>
            <a:spLocks xmlns:a="http://schemas.openxmlformats.org/drawingml/2006/main" noGrp="1"/>
          </p:cNvSpPr>
          <p:nvPr/>
        </p:nvSpPr>
        <p:spPr>
          <a:xfrm xmlns:a="http://schemas.openxmlformats.org/drawingml/2006/main">
            <a:off x="104584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3" name="">
            <a:extLst xmlns:a="http://schemas.openxmlformats.org/drawingml/2006/main">
              <a:ext uri="{FF2B5EF4-FFF2-40B4-BE49-F238E27FC236}">
                <a16:creationId xmlns:a16="http://schemas.microsoft.com/office/drawing/2014/main" id="{BDB966C0-00A8-4CE4-84E9-9B9269EDF41B}"/>
              </a:ext>
            </a:extLst>
          </p:cNvPr>
          <p:cNvSpPr>
            <a:spLocks xmlns:a="http://schemas.openxmlformats.org/drawingml/2006/main" noGrp="1"/>
          </p:cNvSpPr>
          <p:nvPr/>
        </p:nvSpPr>
        <p:spPr>
          <a:xfrm xmlns:a="http://schemas.openxmlformats.org/drawingml/2006/main">
            <a:off x="98679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REAL-WORLD ACTION</a:t>
            </a:r>
          </a:p>
        </p:txBody>
      </p:sp>
      <p:sp>
        <p:nvSpPr>
          <p:cNvPr id="34" name="">
            <a:extLst xmlns:a="http://schemas.openxmlformats.org/drawingml/2006/main">
              <a:ext uri="{FF2B5EF4-FFF2-40B4-BE49-F238E27FC236}">
                <a16:creationId xmlns:a16="http://schemas.microsoft.com/office/drawing/2014/main" id="{34C30DF0-33DF-4B1C-B0C5-94B5F4552ADF}"/>
              </a:ext>
            </a:extLst>
          </p:cNvPr>
          <p:cNvSpPr>
            <a:spLocks xmlns:a="http://schemas.openxmlformats.org/drawingml/2006/main" noGrp="1"/>
          </p:cNvSpPr>
          <p:nvPr/>
        </p:nvSpPr>
        <p:spPr>
          <a:xfrm xmlns:a="http://schemas.openxmlformats.org/drawingml/2006/main">
            <a:off x="98679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Share, send, change or trigger</a:t>
            </a:r>
          </a:p>
        </p:txBody>
      </p:sp>
      <p:sp>
        <p:nvSpPr>
          <p:cNvPr id="35" name="">
            <a:extLst xmlns:a="http://schemas.openxmlformats.org/drawingml/2006/main">
              <a:ext uri="{FF2B5EF4-FFF2-40B4-BE49-F238E27FC236}">
                <a16:creationId xmlns:a16="http://schemas.microsoft.com/office/drawing/2014/main" id="{FFC75A33-1EAE-4D07-A0B9-4CF85A42DD4E}"/>
              </a:ext>
            </a:extLst>
          </p:cNvPr>
          <p:cNvSpPr>
            <a:spLocks xmlns:a="http://schemas.openxmlformats.org/drawingml/2006/main" noGrp="1"/>
          </p:cNvSpPr>
          <p:nvPr/>
        </p:nvSpPr>
        <p:spPr>
          <a:xfrm xmlns:a="http://schemas.openxmlformats.org/drawingml/2006/main">
            <a:off x="1171575" y="4257675"/>
            <a:ext cx="98488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36" name="">
            <a:extLst xmlns:a="http://schemas.openxmlformats.org/drawingml/2006/main">
              <a:ext uri="{FF2B5EF4-FFF2-40B4-BE49-F238E27FC236}">
                <a16:creationId xmlns:a16="http://schemas.microsoft.com/office/drawing/2014/main" id="{7976AD6F-8326-452D-B0AD-9BB22D980A18}"/>
              </a:ext>
            </a:extLst>
          </p:cNvPr>
          <p:cNvSpPr>
            <a:spLocks xmlns:a="http://schemas.openxmlformats.org/drawingml/2006/main" noGrp="1"/>
          </p:cNvSpPr>
          <p:nvPr/>
        </p:nvSpPr>
        <p:spPr>
          <a:xfrm xmlns:a="http://schemas.openxmlformats.org/drawingml/2006/main">
            <a:off x="1476375" y="4524375"/>
            <a:ext cx="923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78DCFF"/>
                </a:solidFill>
                <a:latin typeface="Arial"/>
                <a:ea typeface="Arial"/>
                <a:cs typeface="Arial"/>
              </a:defRPr>
            </a:pPr>
            <a:r>
              <a:rPr sz="1125" b="1">
                <a:solidFill>
                  <a:srgbClr val="78DCFF"/>
                </a:solidFill>
                <a:latin typeface="Arial"/>
                <a:ea typeface="Arial"/>
                <a:cs typeface="Arial"/>
              </a:rPr>
              <a:t>EVERY STEP CAN BE AUTHORISED</a:t>
            </a:r>
          </a:p>
        </p:txBody>
      </p:sp>
      <p:sp>
        <p:nvSpPr>
          <p:cNvPr id="37" name="">
            <a:extLst xmlns:a="http://schemas.openxmlformats.org/drawingml/2006/main">
              <a:ext uri="{FF2B5EF4-FFF2-40B4-BE49-F238E27FC236}">
                <a16:creationId xmlns:a16="http://schemas.microsoft.com/office/drawing/2014/main" id="{9B1482F8-E27F-4DF5-A32A-0AAE7D137C01}"/>
              </a:ext>
            </a:extLst>
          </p:cNvPr>
          <p:cNvSpPr>
            <a:spLocks xmlns:a="http://schemas.openxmlformats.org/drawingml/2006/main" noGrp="1"/>
          </p:cNvSpPr>
          <p:nvPr/>
        </p:nvSpPr>
        <p:spPr>
          <a:xfrm xmlns:a="http://schemas.openxmlformats.org/drawingml/2006/main">
            <a:off x="1476375" y="4905375"/>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325" b="1">
                <a:solidFill>
                  <a:srgbClr val="FFFFFF"/>
                </a:solidFill>
                <a:latin typeface="Arial"/>
                <a:ea typeface="Arial"/>
                <a:cs typeface="Arial"/>
              </a:defRPr>
            </a:pPr>
            <a:r>
              <a:rPr sz="2325" b="1">
                <a:solidFill>
                  <a:srgbClr val="FFFFFF"/>
                </a:solidFill>
                <a:latin typeface="Arial"/>
                <a:ea typeface="Arial"/>
                <a:cs typeface="Arial"/>
              </a:rPr>
              <a:t>The combined outcome can still be unacceptable.</a:t>
            </a:r>
          </a:p>
        </p:txBody>
      </p:sp>
      <p:sp>
        <p:nvSpPr>
          <p:cNvPr id="38" name="">
            <a:extLst xmlns:a="http://schemas.openxmlformats.org/drawingml/2006/main">
              <a:ext uri="{FF2B5EF4-FFF2-40B4-BE49-F238E27FC236}">
                <a16:creationId xmlns:a16="http://schemas.microsoft.com/office/drawing/2014/main" id="{3D074383-B9A2-4FE4-88EC-8C743AB39E4C}"/>
              </a:ext>
            </a:extLst>
          </p:cNvPr>
          <p:cNvSpPr>
            <a:spLocks xmlns:a="http://schemas.openxmlformats.org/drawingml/2006/main" noGrp="1"/>
          </p:cNvSpPr>
          <p:nvPr/>
        </p:nvSpPr>
        <p:spPr>
          <a:xfrm xmlns:a="http://schemas.openxmlformats.org/drawingml/2006/main">
            <a:off x="1476375" y="5838825"/>
            <a:ext cx="923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00FFFF"/>
                </a:solidFill>
                <a:latin typeface="Arial"/>
                <a:ea typeface="Arial"/>
                <a:cs typeface="Arial"/>
              </a:defRPr>
            </a:pPr>
            <a:r>
              <a:rPr sz="1425" b="1">
                <a:solidFill>
                  <a:srgbClr val="00FFFF"/>
                </a:solidFill>
                <a:latin typeface="Arial"/>
                <a:ea typeface="Arial"/>
                <a:cs typeface="Arial"/>
              </a:rPr>
              <a:t>That is the incident we are about to practise.</a:t>
            </a:r>
          </a:p>
        </p:txBody>
      </p:sp>
    </p:spTree>
    <p:extLst>
      <p:ext uri="{BB962C8B-B14F-4D97-AF65-F5344CB8AC3E}">
        <p14:creationId xmlns:p14="http://schemas.microsoft.com/office/powerpoint/2010/main" val="1760484808"/>
      </p:ext>
    </p:extLst>
  </p:cSld>
</p:sld>
</file>

<file path=ppt/slides/slide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767717-7E35-4034-B4BB-B96191F4019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ONE</a:t>
            </a:r>
          </a:p>
        </p:txBody>
      </p:sp>
      <p:sp>
        <p:nvSpPr>
          <p:cNvPr id="2" name="">
            <a:extLst xmlns:a="http://schemas.openxmlformats.org/drawingml/2006/main">
              <a:ext uri="{FF2B5EF4-FFF2-40B4-BE49-F238E27FC236}">
                <a16:creationId xmlns:a16="http://schemas.microsoft.com/office/drawing/2014/main" id="{2268426A-A185-441A-AB58-686F6ED328CD}"/>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Agents inherit authority, not intent</a:t>
            </a:r>
          </a:p>
        </p:txBody>
      </p:sp>
      <p:sp>
        <p:nvSpPr>
          <p:cNvPr id="3" name="">
            <a:extLst xmlns:a="http://schemas.openxmlformats.org/drawingml/2006/main">
              <a:ext uri="{FF2B5EF4-FFF2-40B4-BE49-F238E27FC236}">
                <a16:creationId xmlns:a16="http://schemas.microsoft.com/office/drawing/2014/main" id="{5157CB51-ECFA-4AE5-A2A9-C3433BDA06A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E2656D9-8773-40BF-952C-112B7C74EC10}"/>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601D635-FE73-43FC-BAFD-0F4556E2DD26}"/>
              </a:ext>
            </a:extLst>
          </p:cNvPr>
          <p:cNvSpPr>
            <a:spLocks xmlns:a="http://schemas.openxmlformats.org/drawingml/2006/main" noGrp="1"/>
          </p:cNvSpPr>
          <p:nvPr/>
        </p:nvSpPr>
        <p:spPr>
          <a:xfrm xmlns:a="http://schemas.openxmlformats.org/drawingml/2006/main">
            <a:off x="628650" y="12668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Permissions can be valid. The outcome can still be wrong.</a:t>
            </a:r>
          </a:p>
        </p:txBody>
      </p:sp>
      <p:sp>
        <p:nvSpPr>
          <p:cNvPr id="6" name="">
            <a:extLst xmlns:a="http://schemas.openxmlformats.org/drawingml/2006/main">
              <a:ext uri="{FF2B5EF4-FFF2-40B4-BE49-F238E27FC236}">
                <a16:creationId xmlns:a16="http://schemas.microsoft.com/office/drawing/2014/main" id="{5FE9F844-52E8-45BA-B5D2-7809CB5F5F3B}"/>
              </a:ext>
            </a:extLst>
          </p:cNvPr>
          <p:cNvSpPr>
            <a:spLocks xmlns:a="http://schemas.openxmlformats.org/drawingml/2006/main" noGrp="1"/>
          </p:cNvSpPr>
          <p:nvPr/>
        </p:nvSpPr>
        <p:spPr>
          <a:xfrm xmlns:a="http://schemas.openxmlformats.org/drawingml/2006/main">
            <a:off x="762000" y="2667000"/>
            <a:ext cx="1619250" cy="1123950"/>
          </a:xfrm>
          <a:prstGeom xmlns:a="http://schemas.openxmlformats.org/drawingml/2006/main" prst="roundRect">
            <a:avLst>
              <a:gd name="adj" fmla="val 6780"/>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Human</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request</a:t>
            </a:r>
          </a:p>
        </p:txBody>
      </p:sp>
      <p:sp>
        <p:nvSpPr>
          <p:cNvPr id="7" name="">
            <a:extLst xmlns:a="http://schemas.openxmlformats.org/drawingml/2006/main">
              <a:ext uri="{FF2B5EF4-FFF2-40B4-BE49-F238E27FC236}">
                <a16:creationId xmlns:a16="http://schemas.microsoft.com/office/drawing/2014/main" id="{4EB24194-C329-4343-8705-241F42480AFA}"/>
              </a:ext>
            </a:extLst>
          </p:cNvPr>
          <p:cNvSpPr>
            <a:spLocks xmlns:a="http://schemas.openxmlformats.org/drawingml/2006/main" noGrp="1"/>
          </p:cNvSpPr>
          <p:nvPr/>
        </p:nvSpPr>
        <p:spPr>
          <a:xfrm xmlns:a="http://schemas.openxmlformats.org/drawingml/2006/main">
            <a:off x="2952750" y="2667000"/>
            <a:ext cx="1619250" cy="1123950"/>
          </a:xfrm>
          <a:prstGeom xmlns:a="http://schemas.openxmlformats.org/drawingml/2006/main" prst="roundRect">
            <a:avLst>
              <a:gd name="adj" fmla="val 6780"/>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Agent</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91D5573D-51F4-4FEE-AB90-6223CF3A2372}"/>
              </a:ext>
            </a:extLst>
          </p:cNvPr>
          <p:cNvSpPr>
            <a:spLocks xmlns:a="http://schemas.openxmlformats.org/drawingml/2006/main" noGrp="1"/>
          </p:cNvSpPr>
          <p:nvPr/>
        </p:nvSpPr>
        <p:spPr>
          <a:xfrm xmlns:a="http://schemas.openxmlformats.org/drawingml/2006/main">
            <a:off x="5143500" y="2667000"/>
            <a:ext cx="1619250" cy="1123950"/>
          </a:xfrm>
          <a:prstGeom xmlns:a="http://schemas.openxmlformats.org/drawingml/2006/main" prst="roundRect">
            <a:avLst>
              <a:gd name="adj" fmla="val 6780"/>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Tools &amp;</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connectors</a:t>
            </a:r>
          </a:p>
        </p:txBody>
      </p:sp>
      <p:sp>
        <p:nvSpPr>
          <p:cNvPr id="9" name="">
            <a:extLst xmlns:a="http://schemas.openxmlformats.org/drawingml/2006/main">
              <a:ext uri="{FF2B5EF4-FFF2-40B4-BE49-F238E27FC236}">
                <a16:creationId xmlns:a16="http://schemas.microsoft.com/office/drawing/2014/main" id="{BF5A57C4-CC19-411B-BABC-ACFAF3B2CB09}"/>
              </a:ext>
            </a:extLst>
          </p:cNvPr>
          <p:cNvSpPr>
            <a:spLocks xmlns:a="http://schemas.openxmlformats.org/drawingml/2006/main" noGrp="1"/>
          </p:cNvSpPr>
          <p:nvPr/>
        </p:nvSpPr>
        <p:spPr>
          <a:xfrm xmlns:a="http://schemas.openxmlformats.org/drawingml/2006/main">
            <a:off x="7334250" y="2667000"/>
            <a:ext cx="1619250" cy="1123950"/>
          </a:xfrm>
          <a:prstGeom xmlns:a="http://schemas.openxmlformats.org/drawingml/2006/main" prst="roundRect">
            <a:avLst>
              <a:gd name="adj" fmla="val 6780"/>
            </a:avLst>
          </a:prstGeom>
          <a:solidFill xmlns:a="http://schemas.openxmlformats.org/drawingml/2006/main">
            <a:srgbClr val="245B79"/>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Enterprise</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data</a:t>
            </a:r>
          </a:p>
        </p:txBody>
      </p:sp>
      <p:sp>
        <p:nvSpPr>
          <p:cNvPr id="10" name="">
            <a:extLst xmlns:a="http://schemas.openxmlformats.org/drawingml/2006/main">
              <a:ext uri="{FF2B5EF4-FFF2-40B4-BE49-F238E27FC236}">
                <a16:creationId xmlns:a16="http://schemas.microsoft.com/office/drawing/2014/main" id="{17634B55-E22C-464F-BC8E-F2808C073836}"/>
              </a:ext>
            </a:extLst>
          </p:cNvPr>
          <p:cNvSpPr>
            <a:spLocks xmlns:a="http://schemas.openxmlformats.org/drawingml/2006/main" noGrp="1"/>
          </p:cNvSpPr>
          <p:nvPr/>
        </p:nvSpPr>
        <p:spPr>
          <a:xfrm xmlns:a="http://schemas.openxmlformats.org/drawingml/2006/main">
            <a:off x="9525000" y="2667000"/>
            <a:ext cx="1619250" cy="1123950"/>
          </a:xfrm>
          <a:prstGeom xmlns:a="http://schemas.openxmlformats.org/drawingml/2006/main" prst="roundRect">
            <a:avLst>
              <a:gd name="adj" fmla="val 6780"/>
            </a:avLst>
          </a:prstGeom>
          <a:solidFill xmlns:a="http://schemas.openxmlformats.org/drawingml/2006/main">
            <a:srgbClr val="E5484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Real-world</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action</a:t>
            </a:r>
          </a:p>
        </p:txBody>
      </p:sp>
      <p:sp>
        <p:nvSpPr>
          <p:cNvPr id="11" name="">
            <a:extLst xmlns:a="http://schemas.openxmlformats.org/drawingml/2006/main">
              <a:ext uri="{FF2B5EF4-FFF2-40B4-BE49-F238E27FC236}">
                <a16:creationId xmlns:a16="http://schemas.microsoft.com/office/drawing/2014/main" id="{708D38A3-47FF-43BE-B420-1384F8B10CE6}"/>
              </a:ext>
            </a:extLst>
          </p:cNvPr>
          <p:cNvSpPr>
            <a:spLocks xmlns:a="http://schemas.openxmlformats.org/drawingml/2006/main" noGrp="1"/>
          </p:cNvSpPr>
          <p:nvPr/>
        </p:nvSpPr>
        <p:spPr>
          <a:xfrm xmlns:a="http://schemas.openxmlformats.org/drawingml/2006/main">
            <a:off x="24765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BF21E5E-4178-48D4-BDA9-2D48E827C030}"/>
              </a:ext>
            </a:extLst>
          </p:cNvPr>
          <p:cNvSpPr>
            <a:spLocks xmlns:a="http://schemas.openxmlformats.org/drawingml/2006/main" noGrp="1"/>
          </p:cNvSpPr>
          <p:nvPr/>
        </p:nvSpPr>
        <p:spPr>
          <a:xfrm xmlns:a="http://schemas.openxmlformats.org/drawingml/2006/main">
            <a:off x="46672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0993EC-11A7-4A2E-82FB-170471D0F279}"/>
              </a:ext>
            </a:extLst>
          </p:cNvPr>
          <p:cNvSpPr>
            <a:spLocks xmlns:a="http://schemas.openxmlformats.org/drawingml/2006/main" noGrp="1"/>
          </p:cNvSpPr>
          <p:nvPr/>
        </p:nvSpPr>
        <p:spPr>
          <a:xfrm xmlns:a="http://schemas.openxmlformats.org/drawingml/2006/main">
            <a:off x="68580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60F933-951C-40D1-88DE-B5485EDCE5AE}"/>
              </a:ext>
            </a:extLst>
          </p:cNvPr>
          <p:cNvSpPr>
            <a:spLocks xmlns:a="http://schemas.openxmlformats.org/drawingml/2006/main" noGrp="1"/>
          </p:cNvSpPr>
          <p:nvPr/>
        </p:nvSpPr>
        <p:spPr>
          <a:xfrm xmlns:a="http://schemas.openxmlformats.org/drawingml/2006/main">
            <a:off x="90487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9BCBF2C-5B3A-4128-8879-DD31D6915F9F}"/>
              </a:ext>
            </a:extLst>
          </p:cNvPr>
          <p:cNvSpPr>
            <a:spLocks xmlns:a="http://schemas.openxmlformats.org/drawingml/2006/main" noGrp="1"/>
          </p:cNvSpPr>
          <p:nvPr/>
        </p:nvSpPr>
        <p:spPr>
          <a:xfrm xmlns:a="http://schemas.openxmlformats.org/drawingml/2006/main">
            <a:off x="1047750" y="4362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78DCFF"/>
                </a:solidFill>
                <a:latin typeface="Arial"/>
                <a:ea typeface="Arial"/>
                <a:cs typeface="Arial"/>
              </a:defRPr>
            </a:pPr>
            <a:r>
              <a:rPr sz="1725" b="1">
                <a:solidFill>
                  <a:srgbClr val="78DCFF"/>
                </a:solidFill>
                <a:latin typeface="Arial"/>
                <a:ea typeface="Arial"/>
                <a:cs typeface="Arial"/>
              </a:rPr>
              <a:t>Identity answers ‘may it act?’</a:t>
            </a:r>
          </a:p>
        </p:txBody>
      </p:sp>
      <p:sp>
        <p:nvSpPr>
          <p:cNvPr id="16" name="">
            <a:extLst xmlns:a="http://schemas.openxmlformats.org/drawingml/2006/main">
              <a:ext uri="{FF2B5EF4-FFF2-40B4-BE49-F238E27FC236}">
                <a16:creationId xmlns:a16="http://schemas.microsoft.com/office/drawing/2014/main" id="{DD13ED5F-3C94-47EE-8BB1-7CE0351EF41E}"/>
              </a:ext>
            </a:extLst>
          </p:cNvPr>
          <p:cNvSpPr>
            <a:spLocks xmlns:a="http://schemas.openxmlformats.org/drawingml/2006/main" noGrp="1"/>
          </p:cNvSpPr>
          <p:nvPr/>
        </p:nvSpPr>
        <p:spPr>
          <a:xfrm xmlns:a="http://schemas.openxmlformats.org/drawingml/2006/main">
            <a:off x="4524375" y="4362450"/>
            <a:ext cx="657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2025" b="1">
                <a:solidFill>
                  <a:srgbClr val="00FFFF"/>
                </a:solidFill>
                <a:latin typeface="Arial"/>
                <a:ea typeface="Arial"/>
                <a:cs typeface="Arial"/>
              </a:defRPr>
            </a:pPr>
            <a:r>
              <a:rPr sz="2025" b="1">
                <a:solidFill>
                  <a:srgbClr val="00FFFF"/>
                </a:solidFill>
                <a:latin typeface="Arial"/>
                <a:ea typeface="Arial"/>
                <a:cs typeface="Arial"/>
              </a:rPr>
              <a:t>Governance must answer ‘should it act - here, now, for this purpose?’</a:t>
            </a:r>
          </a:p>
        </p:txBody>
      </p:sp>
    </p:spTree>
    <p:extLst>
      <p:ext uri="{BB962C8B-B14F-4D97-AF65-F5344CB8AC3E}">
        <p14:creationId xmlns:p14="http://schemas.microsoft.com/office/powerpoint/2010/main" val="1444354674"/>
      </p:ext>
    </p:extLst>
  </p:cSld>
</p:sld>
</file>

<file path=ppt/slides/slide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0F4E527-5711-475E-8D4F-FB3135ABF267}"/>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TWO</a:t>
            </a:r>
          </a:p>
        </p:txBody>
      </p:sp>
      <p:sp>
        <p:nvSpPr>
          <p:cNvPr id="2" name="">
            <a:extLst xmlns:a="http://schemas.openxmlformats.org/drawingml/2006/main">
              <a:ext uri="{FF2B5EF4-FFF2-40B4-BE49-F238E27FC236}">
                <a16:creationId xmlns:a16="http://schemas.microsoft.com/office/drawing/2014/main" id="{D414B071-57D4-4396-81B5-099C5C909A29}"/>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workflow is the control boundary</a:t>
            </a:r>
          </a:p>
        </p:txBody>
      </p:sp>
      <p:sp>
        <p:nvSpPr>
          <p:cNvPr id="3" name="">
            <a:extLst xmlns:a="http://schemas.openxmlformats.org/drawingml/2006/main">
              <a:ext uri="{FF2B5EF4-FFF2-40B4-BE49-F238E27FC236}">
                <a16:creationId xmlns:a16="http://schemas.microsoft.com/office/drawing/2014/main" id="{99275596-9211-4791-95A6-909DE1967C02}"/>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62244075-DB36-485F-8728-0A8B3CAF8B53}"/>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7F5126D-940C-4DF9-9534-72E5BCF2CE1E}"/>
              </a:ext>
            </a:extLst>
          </p:cNvPr>
          <p:cNvSpPr>
            <a:spLocks xmlns:a="http://schemas.openxmlformats.org/drawingml/2006/main" noGrp="1"/>
          </p:cNvSpPr>
          <p:nvPr/>
        </p:nvSpPr>
        <p:spPr>
          <a:xfrm xmlns:a="http://schemas.openxmlformats.org/drawingml/2006/main">
            <a:off x="628650" y="1266825"/>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Reviewing the model is too narrow. Map the whole path to action.</a:t>
            </a:r>
          </a:p>
        </p:txBody>
      </p:sp>
      <p:sp>
        <p:nvSpPr>
          <p:cNvPr id="6" name="">
            <a:extLst xmlns:a="http://schemas.openxmlformats.org/drawingml/2006/main">
              <a:ext uri="{FF2B5EF4-FFF2-40B4-BE49-F238E27FC236}">
                <a16:creationId xmlns:a16="http://schemas.microsoft.com/office/drawing/2014/main" id="{40884D60-79DA-4041-B7A3-AA7CADBB9C38}"/>
              </a:ext>
            </a:extLst>
          </p:cNvPr>
          <p:cNvSpPr>
            <a:spLocks xmlns:a="http://schemas.openxmlformats.org/drawingml/2006/main" noGrp="1"/>
          </p:cNvSpPr>
          <p:nvPr/>
        </p:nvSpPr>
        <p:spPr>
          <a:xfrm xmlns:a="http://schemas.openxmlformats.org/drawingml/2006/main">
            <a:off x="600075" y="2447925"/>
            <a:ext cx="1476375" cy="895350"/>
          </a:xfrm>
          <a:prstGeom xmlns:a="http://schemas.openxmlformats.org/drawingml/2006/main" prst="rightArrow">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Instruction</a:t>
            </a:r>
          </a:p>
        </p:txBody>
      </p:sp>
      <p:sp>
        <p:nvSpPr>
          <p:cNvPr id="7" name="">
            <a:extLst xmlns:a="http://schemas.openxmlformats.org/drawingml/2006/main">
              <a:ext uri="{FF2B5EF4-FFF2-40B4-BE49-F238E27FC236}">
                <a16:creationId xmlns:a16="http://schemas.microsoft.com/office/drawing/2014/main" id="{859D61BA-A1C9-40F2-938F-A396B54D8F7F}"/>
              </a:ext>
            </a:extLst>
          </p:cNvPr>
          <p:cNvSpPr>
            <a:spLocks xmlns:a="http://schemas.openxmlformats.org/drawingml/2006/main" noGrp="1"/>
          </p:cNvSpPr>
          <p:nvPr/>
        </p:nvSpPr>
        <p:spPr>
          <a:xfrm xmlns:a="http://schemas.openxmlformats.org/drawingml/2006/main">
            <a:off x="2228850" y="2447925"/>
            <a:ext cx="1476375" cy="895350"/>
          </a:xfrm>
          <a:prstGeom xmlns:a="http://schemas.openxmlformats.org/drawingml/2006/main" prst="rightArrow">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B4B48925-DA2A-415B-839D-93B73FB14F48}"/>
              </a:ext>
            </a:extLst>
          </p:cNvPr>
          <p:cNvSpPr>
            <a:spLocks xmlns:a="http://schemas.openxmlformats.org/drawingml/2006/main" noGrp="1"/>
          </p:cNvSpPr>
          <p:nvPr/>
        </p:nvSpPr>
        <p:spPr>
          <a:xfrm xmlns:a="http://schemas.openxmlformats.org/drawingml/2006/main">
            <a:off x="3857625" y="2447925"/>
            <a:ext cx="1476375" cy="895350"/>
          </a:xfrm>
          <a:prstGeom xmlns:a="http://schemas.openxmlformats.org/drawingml/2006/main" prst="rightArrow">
            <a:avLst/>
          </a:prstGeom>
          <a:solidFill xmlns:a="http://schemas.openxmlformats.org/drawingml/2006/main">
            <a:srgbClr val="2B63A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Context</a:t>
            </a:r>
          </a:p>
        </p:txBody>
      </p:sp>
      <p:sp>
        <p:nvSpPr>
          <p:cNvPr id="9" name="">
            <a:extLst xmlns:a="http://schemas.openxmlformats.org/drawingml/2006/main">
              <a:ext uri="{FF2B5EF4-FFF2-40B4-BE49-F238E27FC236}">
                <a16:creationId xmlns:a16="http://schemas.microsoft.com/office/drawing/2014/main" id="{B21DC1F4-AF6A-4A36-A9CE-EE9C14816D8A}"/>
              </a:ext>
            </a:extLst>
          </p:cNvPr>
          <p:cNvSpPr>
            <a:spLocks xmlns:a="http://schemas.openxmlformats.org/drawingml/2006/main" noGrp="1"/>
          </p:cNvSpPr>
          <p:nvPr/>
        </p:nvSpPr>
        <p:spPr>
          <a:xfrm xmlns:a="http://schemas.openxmlformats.org/drawingml/2006/main">
            <a:off x="5486400" y="2447925"/>
            <a:ext cx="1476375" cy="895350"/>
          </a:xfrm>
          <a:prstGeom xmlns:a="http://schemas.openxmlformats.org/drawingml/2006/main" prst="rightArrow">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Tools</a:t>
            </a:r>
          </a:p>
        </p:txBody>
      </p:sp>
      <p:sp>
        <p:nvSpPr>
          <p:cNvPr id="10" name="">
            <a:extLst xmlns:a="http://schemas.openxmlformats.org/drawingml/2006/main">
              <a:ext uri="{FF2B5EF4-FFF2-40B4-BE49-F238E27FC236}">
                <a16:creationId xmlns:a16="http://schemas.microsoft.com/office/drawing/2014/main" id="{54D9821B-0C67-4FBD-9FE1-95944581E0E7}"/>
              </a:ext>
            </a:extLst>
          </p:cNvPr>
          <p:cNvSpPr>
            <a:spLocks xmlns:a="http://schemas.openxmlformats.org/drawingml/2006/main" noGrp="1"/>
          </p:cNvSpPr>
          <p:nvPr/>
        </p:nvSpPr>
        <p:spPr>
          <a:xfrm xmlns:a="http://schemas.openxmlformats.org/drawingml/2006/main">
            <a:off x="7115175" y="2447925"/>
            <a:ext cx="1476375" cy="895350"/>
          </a:xfrm>
          <a:prstGeom xmlns:a="http://schemas.openxmlformats.org/drawingml/2006/main" prst="rightArrow">
            <a:avLst/>
          </a:prstGeom>
          <a:solidFill xmlns:a="http://schemas.openxmlformats.org/drawingml/2006/main">
            <a:srgbClr val="5369B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Data</a:t>
            </a:r>
          </a:p>
        </p:txBody>
      </p:sp>
      <p:sp>
        <p:nvSpPr>
          <p:cNvPr id="11" name="">
            <a:extLst xmlns:a="http://schemas.openxmlformats.org/drawingml/2006/main">
              <a:ext uri="{FF2B5EF4-FFF2-40B4-BE49-F238E27FC236}">
                <a16:creationId xmlns:a16="http://schemas.microsoft.com/office/drawing/2014/main" id="{64E84AB2-AD74-4181-92A3-7D1BDBDDE1D3}"/>
              </a:ext>
            </a:extLst>
          </p:cNvPr>
          <p:cNvSpPr>
            <a:spLocks xmlns:a="http://schemas.openxmlformats.org/drawingml/2006/main" noGrp="1"/>
          </p:cNvSpPr>
          <p:nvPr/>
        </p:nvSpPr>
        <p:spPr>
          <a:xfrm xmlns:a="http://schemas.openxmlformats.org/drawingml/2006/main">
            <a:off x="8743950" y="2447925"/>
            <a:ext cx="1476375" cy="895350"/>
          </a:xfrm>
          <a:prstGeom xmlns:a="http://schemas.openxmlformats.org/drawingml/2006/main" prst="rightArrow">
            <a:avLst/>
          </a:prstGeom>
          <a:solidFill xmlns:a="http://schemas.openxmlformats.org/drawingml/2006/main">
            <a:srgbClr val="00AE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Action</a:t>
            </a:r>
          </a:p>
        </p:txBody>
      </p:sp>
      <p:sp>
        <p:nvSpPr>
          <p:cNvPr id="12" name="">
            <a:extLst xmlns:a="http://schemas.openxmlformats.org/drawingml/2006/main">
              <a:ext uri="{FF2B5EF4-FFF2-40B4-BE49-F238E27FC236}">
                <a16:creationId xmlns:a16="http://schemas.microsoft.com/office/drawing/2014/main" id="{86387473-0EB2-4F43-B62C-F4A2A47C6EC0}"/>
              </a:ext>
            </a:extLst>
          </p:cNvPr>
          <p:cNvSpPr>
            <a:spLocks xmlns:a="http://schemas.openxmlformats.org/drawingml/2006/main" noGrp="1"/>
          </p:cNvSpPr>
          <p:nvPr/>
        </p:nvSpPr>
        <p:spPr>
          <a:xfrm xmlns:a="http://schemas.openxmlformats.org/drawingml/2006/main">
            <a:off x="10372725" y="2447925"/>
            <a:ext cx="1476375" cy="895350"/>
          </a:xfrm>
          <a:prstGeom xmlns:a="http://schemas.openxmlformats.org/drawingml/2006/main" prst="roundRect">
            <a:avLst>
              <a:gd name="adj" fmla="val 8511"/>
            </a:avLst>
          </a:prstGeom>
          <a:solidFill xmlns:a="http://schemas.openxmlformats.org/drawingml/2006/main">
            <a:srgbClr val="00FF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000025"/>
                </a:solidFill>
                <a:latin typeface="Arial"/>
                <a:ea typeface="Arial"/>
                <a:cs typeface="Arial"/>
              </a:defRPr>
            </a:pPr>
            <a:r>
              <a:rPr sz="1500" b="1">
                <a:solidFill>
                  <a:srgbClr val="000025"/>
                </a:solidFill>
                <a:latin typeface="Arial"/>
                <a:ea typeface="Arial"/>
                <a:cs typeface="Arial"/>
              </a:rPr>
              <a:t>Evidence</a:t>
            </a:r>
          </a:p>
        </p:txBody>
      </p:sp>
      <p:sp>
        <p:nvSpPr>
          <p:cNvPr id="13" name="">
            <a:extLst xmlns:a="http://schemas.openxmlformats.org/drawingml/2006/main">
              <a:ext uri="{FF2B5EF4-FFF2-40B4-BE49-F238E27FC236}">
                <a16:creationId xmlns:a16="http://schemas.microsoft.com/office/drawing/2014/main" id="{6D11532A-4386-4EEF-AEEE-6606330CCE05}"/>
              </a:ext>
            </a:extLst>
          </p:cNvPr>
          <p:cNvSpPr>
            <a:spLocks xmlns:a="http://schemas.openxmlformats.org/drawingml/2006/main" noGrp="1"/>
          </p:cNvSpPr>
          <p:nvPr/>
        </p:nvSpPr>
        <p:spPr>
          <a:xfrm xmlns:a="http://schemas.openxmlformats.org/drawingml/2006/main">
            <a:off x="6000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changed?</a:t>
            </a:r>
          </a:p>
        </p:txBody>
      </p:sp>
      <p:sp>
        <p:nvSpPr>
          <p:cNvPr id="14" name="">
            <a:extLst xmlns:a="http://schemas.openxmlformats.org/drawingml/2006/main">
              <a:ext uri="{FF2B5EF4-FFF2-40B4-BE49-F238E27FC236}">
                <a16:creationId xmlns:a16="http://schemas.microsoft.com/office/drawing/2014/main" id="{B3F5BA77-7793-4DCF-B4E4-F162FC01003F}"/>
              </a:ext>
            </a:extLst>
          </p:cNvPr>
          <p:cNvSpPr>
            <a:spLocks xmlns:a="http://schemas.openxmlformats.org/drawingml/2006/main" noGrp="1"/>
          </p:cNvSpPr>
          <p:nvPr/>
        </p:nvSpPr>
        <p:spPr>
          <a:xfrm xmlns:a="http://schemas.openxmlformats.org/drawingml/2006/main">
            <a:off x="22288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Who acted?</a:t>
            </a:r>
          </a:p>
        </p:txBody>
      </p:sp>
      <p:sp>
        <p:nvSpPr>
          <p:cNvPr id="15" name="">
            <a:extLst xmlns:a="http://schemas.openxmlformats.org/drawingml/2006/main">
              <a:ext uri="{FF2B5EF4-FFF2-40B4-BE49-F238E27FC236}">
                <a16:creationId xmlns:a16="http://schemas.microsoft.com/office/drawing/2014/main" id="{690ED181-DB00-4383-884B-66DFAC75117E}"/>
              </a:ext>
            </a:extLst>
          </p:cNvPr>
          <p:cNvSpPr>
            <a:spLocks xmlns:a="http://schemas.openxmlformats.org/drawingml/2006/main" noGrp="1"/>
          </p:cNvSpPr>
          <p:nvPr/>
        </p:nvSpPr>
        <p:spPr>
          <a:xfrm xmlns:a="http://schemas.openxmlformats.org/drawingml/2006/main">
            <a:off x="38576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see?</a:t>
            </a:r>
          </a:p>
        </p:txBody>
      </p:sp>
      <p:sp>
        <p:nvSpPr>
          <p:cNvPr id="16" name="">
            <a:extLst xmlns:a="http://schemas.openxmlformats.org/drawingml/2006/main">
              <a:ext uri="{FF2B5EF4-FFF2-40B4-BE49-F238E27FC236}">
                <a16:creationId xmlns:a16="http://schemas.microsoft.com/office/drawing/2014/main" id="{2D4D6F04-5216-43FC-ACEA-7B47DBA8B5B6}"/>
              </a:ext>
            </a:extLst>
          </p:cNvPr>
          <p:cNvSpPr>
            <a:spLocks xmlns:a="http://schemas.openxmlformats.org/drawingml/2006/main" noGrp="1"/>
          </p:cNvSpPr>
          <p:nvPr/>
        </p:nvSpPr>
        <p:spPr>
          <a:xfrm xmlns:a="http://schemas.openxmlformats.org/drawingml/2006/main">
            <a:off x="548640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call?</a:t>
            </a:r>
          </a:p>
        </p:txBody>
      </p:sp>
      <p:sp>
        <p:nvSpPr>
          <p:cNvPr id="17" name="">
            <a:extLst xmlns:a="http://schemas.openxmlformats.org/drawingml/2006/main">
              <a:ext uri="{FF2B5EF4-FFF2-40B4-BE49-F238E27FC236}">
                <a16:creationId xmlns:a16="http://schemas.microsoft.com/office/drawing/2014/main" id="{25CA49AF-05AF-47B3-806C-8B80BA4AC372}"/>
              </a:ext>
            </a:extLst>
          </p:cNvPr>
          <p:cNvSpPr>
            <a:spLocks xmlns:a="http://schemas.openxmlformats.org/drawingml/2006/main" noGrp="1"/>
          </p:cNvSpPr>
          <p:nvPr/>
        </p:nvSpPr>
        <p:spPr>
          <a:xfrm xmlns:a="http://schemas.openxmlformats.org/drawingml/2006/main">
            <a:off x="71151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crossed boundaries?</a:t>
            </a:r>
          </a:p>
        </p:txBody>
      </p:sp>
      <p:sp>
        <p:nvSpPr>
          <p:cNvPr id="18" name="">
            <a:extLst xmlns:a="http://schemas.openxmlformats.org/drawingml/2006/main">
              <a:ext uri="{FF2B5EF4-FFF2-40B4-BE49-F238E27FC236}">
                <a16:creationId xmlns:a16="http://schemas.microsoft.com/office/drawing/2014/main" id="{373F67F4-F743-41EC-94ED-D1D681F3F291}"/>
              </a:ext>
            </a:extLst>
          </p:cNvPr>
          <p:cNvSpPr>
            <a:spLocks xmlns:a="http://schemas.openxmlformats.org/drawingml/2006/main" noGrp="1"/>
          </p:cNvSpPr>
          <p:nvPr/>
        </p:nvSpPr>
        <p:spPr>
          <a:xfrm xmlns:a="http://schemas.openxmlformats.org/drawingml/2006/main">
            <a:off x="87439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became irreversible?</a:t>
            </a:r>
          </a:p>
        </p:txBody>
      </p:sp>
      <p:sp>
        <p:nvSpPr>
          <p:cNvPr id="19" name="">
            <a:extLst xmlns:a="http://schemas.openxmlformats.org/drawingml/2006/main">
              <a:ext uri="{FF2B5EF4-FFF2-40B4-BE49-F238E27FC236}">
                <a16:creationId xmlns:a16="http://schemas.microsoft.com/office/drawing/2014/main" id="{330696DE-7580-4943-8DCC-A76E459B540E}"/>
              </a:ext>
            </a:extLst>
          </p:cNvPr>
          <p:cNvSpPr>
            <a:spLocks xmlns:a="http://schemas.openxmlformats.org/drawingml/2006/main" noGrp="1"/>
          </p:cNvSpPr>
          <p:nvPr/>
        </p:nvSpPr>
        <p:spPr>
          <a:xfrm xmlns:a="http://schemas.openxmlformats.org/drawingml/2006/main">
            <a:off x="103727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1">
                <a:solidFill>
                  <a:srgbClr val="00FFFF"/>
                </a:solidFill>
                <a:latin typeface="Arial"/>
                <a:ea typeface="Arial"/>
                <a:cs typeface="Arial"/>
              </a:defRPr>
            </a:pPr>
            <a:r>
              <a:rPr sz="1275" b="1">
                <a:solidFill>
                  <a:srgbClr val="00FFFF"/>
                </a:solidFill>
                <a:latin typeface="Arial"/>
                <a:ea typeface="Arial"/>
                <a:cs typeface="Arial"/>
              </a:rPr>
              <a:t>Can we prove why?</a:t>
            </a:r>
          </a:p>
        </p:txBody>
      </p:sp>
      <p:sp>
        <p:nvSpPr>
          <p:cNvPr id="20" name="">
            <a:extLst xmlns:a="http://schemas.openxmlformats.org/drawingml/2006/main">
              <a:ext uri="{FF2B5EF4-FFF2-40B4-BE49-F238E27FC236}">
                <a16:creationId xmlns:a16="http://schemas.microsoft.com/office/drawing/2014/main" id="{5CAF23B1-B508-41DC-A380-0B8AABDAD6BB}"/>
              </a:ext>
            </a:extLst>
          </p:cNvPr>
          <p:cNvSpPr>
            <a:spLocks xmlns:a="http://schemas.openxmlformats.org/drawingml/2006/main" noGrp="1"/>
          </p:cNvSpPr>
          <p:nvPr/>
        </p:nvSpPr>
        <p:spPr>
          <a:xfrm xmlns:a="http://schemas.openxmlformats.org/drawingml/2006/main">
            <a:off x="1257300" y="4829175"/>
            <a:ext cx="9677400" cy="990600"/>
          </a:xfrm>
          <a:prstGeom xmlns:a="http://schemas.openxmlformats.org/drawingml/2006/main" prst="rect">
            <a:avLst/>
          </a:prstGeom>
          <a:solidFill xmlns:a="http://schemas.openxmlformats.org/drawingml/2006/main">
            <a:srgbClr val="00002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8D9539-96D6-49B5-829A-563F1CEB007D}"/>
              </a:ext>
            </a:extLst>
          </p:cNvPr>
          <p:cNvSpPr>
            <a:spLocks xmlns:a="http://schemas.openxmlformats.org/drawingml/2006/main" noGrp="1"/>
          </p:cNvSpPr>
          <p:nvPr/>
        </p:nvSpPr>
        <p:spPr>
          <a:xfrm xmlns:a="http://schemas.openxmlformats.org/drawingml/2006/main">
            <a:off x="1257300" y="4829175"/>
            <a:ext cx="66675" cy="9906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8ADA315-F966-465E-92AF-07AD6A780B2C}"/>
              </a:ext>
            </a:extLst>
          </p:cNvPr>
          <p:cNvSpPr>
            <a:spLocks xmlns:a="http://schemas.openxmlformats.org/drawingml/2006/main" noGrp="1"/>
          </p:cNvSpPr>
          <p:nvPr/>
        </p:nvSpPr>
        <p:spPr>
          <a:xfrm xmlns:a="http://schemas.openxmlformats.org/drawingml/2006/main">
            <a:off x="1466850" y="5000625"/>
            <a:ext cx="925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One workflow can span six control planes</a:t>
            </a:r>
          </a:p>
        </p:txBody>
      </p:sp>
      <p:sp>
        <p:nvSpPr>
          <p:cNvPr id="23" name="">
            <a:extLst xmlns:a="http://schemas.openxmlformats.org/drawingml/2006/main">
              <a:ext uri="{FF2B5EF4-FFF2-40B4-BE49-F238E27FC236}">
                <a16:creationId xmlns:a16="http://schemas.microsoft.com/office/drawing/2014/main" id="{ECE77F74-03D6-49A7-B81F-154D9F4B9564}"/>
              </a:ext>
            </a:extLst>
          </p:cNvPr>
          <p:cNvSpPr>
            <a:spLocks xmlns:a="http://schemas.openxmlformats.org/drawingml/2006/main" noGrp="1"/>
          </p:cNvSpPr>
          <p:nvPr/>
        </p:nvSpPr>
        <p:spPr>
          <a:xfrm xmlns:a="http://schemas.openxmlformats.org/drawingml/2006/main">
            <a:off x="1466850" y="5381625"/>
            <a:ext cx="925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78DCFF"/>
                </a:solidFill>
                <a:latin typeface="Arial"/>
                <a:ea typeface="Arial"/>
                <a:cs typeface="Arial"/>
              </a:defRPr>
            </a:pPr>
            <a:r>
              <a:rPr sz="1500" b="0">
                <a:solidFill>
                  <a:srgbClr val="78DCFF"/>
                </a:solidFill>
                <a:latin typeface="Arial"/>
                <a:ea typeface="Arial"/>
                <a:cs typeface="Arial"/>
              </a:rPr>
              <a:t>Containment fails when each team sees its component but nobody owns the end-to-end decision.</a:t>
            </a:r>
          </a:p>
        </p:txBody>
      </p:sp>
    </p:spTree>
    <p:extLst>
      <p:ext uri="{BB962C8B-B14F-4D97-AF65-F5344CB8AC3E}">
        <p14:creationId xmlns:p14="http://schemas.microsoft.com/office/powerpoint/2010/main" val="1783944616"/>
      </p:ext>
    </p:extLst>
  </p:cSld>
</p:sld>
</file>

<file path=ppt/slides/slide6.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80E817B-C41C-490F-BDCD-8DE0F1A12192}"/>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THREE</a:t>
            </a:r>
          </a:p>
        </p:txBody>
      </p:sp>
      <p:sp>
        <p:nvSpPr>
          <p:cNvPr id="2" name="">
            <a:extLst xmlns:a="http://schemas.openxmlformats.org/drawingml/2006/main">
              <a:ext uri="{FF2B5EF4-FFF2-40B4-BE49-F238E27FC236}">
                <a16:creationId xmlns:a16="http://schemas.microsoft.com/office/drawing/2014/main" id="{54ABA716-209A-4A57-AFBA-7D7DB341F244}"/>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 manageable incident needs three things</a:t>
            </a:r>
          </a:p>
        </p:txBody>
      </p:sp>
      <p:sp>
        <p:nvSpPr>
          <p:cNvPr id="3" name="">
            <a:extLst xmlns:a="http://schemas.openxmlformats.org/drawingml/2006/main">
              <a:ext uri="{FF2B5EF4-FFF2-40B4-BE49-F238E27FC236}">
                <a16:creationId xmlns:a16="http://schemas.microsoft.com/office/drawing/2014/main" id="{B3968895-8EF8-4CC8-8B09-3633E5F2832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D7D624DB-D773-4BDE-9564-DEC3A04D8611}"/>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58AEF42-B7DB-4DC9-8C46-6D5C08F96AE9}"/>
              </a:ext>
            </a:extLst>
          </p:cNvPr>
          <p:cNvSpPr>
            <a:spLocks xmlns:a="http://schemas.openxmlformats.org/drawingml/2006/main" noGrp="1"/>
          </p:cNvSpPr>
          <p:nvPr/>
        </p:nvSpPr>
        <p:spPr>
          <a:xfrm xmlns:a="http://schemas.openxmlformats.org/drawingml/2006/main">
            <a:off x="61912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DB36AEE-F2AF-4293-8262-EAF3941C362B}"/>
              </a:ext>
            </a:extLst>
          </p:cNvPr>
          <p:cNvSpPr>
            <a:spLocks xmlns:a="http://schemas.openxmlformats.org/drawingml/2006/main" noGrp="1"/>
          </p:cNvSpPr>
          <p:nvPr/>
        </p:nvSpPr>
        <p:spPr>
          <a:xfrm xmlns:a="http://schemas.openxmlformats.org/drawingml/2006/main">
            <a:off x="619125" y="1562100"/>
            <a:ext cx="3371850" cy="76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ECCF8E4-CD39-4D0E-B217-0D698DB7E472}"/>
              </a:ext>
            </a:extLst>
          </p:cNvPr>
          <p:cNvSpPr>
            <a:spLocks xmlns:a="http://schemas.openxmlformats.org/drawingml/2006/main" noGrp="1"/>
          </p:cNvSpPr>
          <p:nvPr/>
        </p:nvSpPr>
        <p:spPr>
          <a:xfrm xmlns:a="http://schemas.openxmlformats.org/drawingml/2006/main">
            <a:off x="84772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AEFF"/>
                </a:solidFill>
                <a:latin typeface="Arial"/>
                <a:ea typeface="Arial"/>
                <a:cs typeface="Arial"/>
              </a:defRPr>
            </a:pPr>
            <a:r>
              <a:rPr sz="1875" b="1">
                <a:solidFill>
                  <a:srgbClr val="00AEFF"/>
                </a:solidFill>
                <a:latin typeface="Arial"/>
                <a:ea typeface="Arial"/>
                <a:cs typeface="Arial"/>
              </a:rPr>
              <a:t>OBSERVE</a:t>
            </a:r>
          </a:p>
        </p:txBody>
      </p:sp>
      <p:sp>
        <p:nvSpPr>
          <p:cNvPr id="8" name="">
            <a:extLst xmlns:a="http://schemas.openxmlformats.org/drawingml/2006/main">
              <a:ext uri="{FF2B5EF4-FFF2-40B4-BE49-F238E27FC236}">
                <a16:creationId xmlns:a16="http://schemas.microsoft.com/office/drawing/2014/main" id="{677E008E-CF0E-4A45-B836-0058DFAE45C4}"/>
              </a:ext>
            </a:extLst>
          </p:cNvPr>
          <p:cNvSpPr>
            <a:spLocks xmlns:a="http://schemas.openxmlformats.org/drawingml/2006/main" noGrp="1"/>
          </p:cNvSpPr>
          <p:nvPr/>
        </p:nvSpPr>
        <p:spPr>
          <a:xfrm xmlns:a="http://schemas.openxmlformats.org/drawingml/2006/main">
            <a:off x="84772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Reconstruct the identity, context, tool calls and data path.</a:t>
            </a:r>
          </a:p>
        </p:txBody>
      </p:sp>
      <p:sp>
        <p:nvSpPr>
          <p:cNvPr id="9" name="">
            <a:extLst xmlns:a="http://schemas.openxmlformats.org/drawingml/2006/main">
              <a:ext uri="{FF2B5EF4-FFF2-40B4-BE49-F238E27FC236}">
                <a16:creationId xmlns:a16="http://schemas.microsoft.com/office/drawing/2014/main" id="{09C116E8-B77D-439E-9AC1-A420B32DD487}"/>
              </a:ext>
            </a:extLst>
          </p:cNvPr>
          <p:cNvSpPr>
            <a:spLocks xmlns:a="http://schemas.openxmlformats.org/drawingml/2006/main" noGrp="1"/>
          </p:cNvSpPr>
          <p:nvPr/>
        </p:nvSpPr>
        <p:spPr>
          <a:xfrm xmlns:a="http://schemas.openxmlformats.org/drawingml/2006/main">
            <a:off x="84772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0" name="">
            <a:extLst xmlns:a="http://schemas.openxmlformats.org/drawingml/2006/main">
              <a:ext uri="{FF2B5EF4-FFF2-40B4-BE49-F238E27FC236}">
                <a16:creationId xmlns:a16="http://schemas.microsoft.com/office/drawing/2014/main" id="{EC278CE5-6EED-438B-95B8-A613025B6D37}"/>
              </a:ext>
            </a:extLst>
          </p:cNvPr>
          <p:cNvSpPr>
            <a:spLocks xmlns:a="http://schemas.openxmlformats.org/drawingml/2006/main" noGrp="1"/>
          </p:cNvSpPr>
          <p:nvPr/>
        </p:nvSpPr>
        <p:spPr>
          <a:xfrm xmlns:a="http://schemas.openxmlformats.org/drawingml/2006/main">
            <a:off x="84772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Can we explain the decision, not just the API call?</a:t>
            </a:r>
          </a:p>
        </p:txBody>
      </p:sp>
      <p:sp>
        <p:nvSpPr>
          <p:cNvPr id="11" name="">
            <a:extLst xmlns:a="http://schemas.openxmlformats.org/drawingml/2006/main">
              <a:ext uri="{FF2B5EF4-FFF2-40B4-BE49-F238E27FC236}">
                <a16:creationId xmlns:a16="http://schemas.microsoft.com/office/drawing/2014/main" id="{3B85291F-9B02-401C-8536-47686B9966BD}"/>
              </a:ext>
            </a:extLst>
          </p:cNvPr>
          <p:cNvSpPr>
            <a:spLocks xmlns:a="http://schemas.openxmlformats.org/drawingml/2006/main" noGrp="1"/>
          </p:cNvSpPr>
          <p:nvPr/>
        </p:nvSpPr>
        <p:spPr>
          <a:xfrm xmlns:a="http://schemas.openxmlformats.org/drawingml/2006/main">
            <a:off x="4400550"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A47538-0A16-4287-873B-527F66CFF976}"/>
              </a:ext>
            </a:extLst>
          </p:cNvPr>
          <p:cNvSpPr>
            <a:spLocks xmlns:a="http://schemas.openxmlformats.org/drawingml/2006/main" noGrp="1"/>
          </p:cNvSpPr>
          <p:nvPr/>
        </p:nvSpPr>
        <p:spPr>
          <a:xfrm xmlns:a="http://schemas.openxmlformats.org/drawingml/2006/main">
            <a:off x="4400550" y="1562100"/>
            <a:ext cx="3371850" cy="76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74C9397-AC7B-48D2-B700-4BE9C11BFE3E}"/>
              </a:ext>
            </a:extLst>
          </p:cNvPr>
          <p:cNvSpPr>
            <a:spLocks xmlns:a="http://schemas.openxmlformats.org/drawingml/2006/main" noGrp="1"/>
          </p:cNvSpPr>
          <p:nvPr/>
        </p:nvSpPr>
        <p:spPr>
          <a:xfrm xmlns:a="http://schemas.openxmlformats.org/drawingml/2006/main">
            <a:off x="4629150"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7C3AED"/>
                </a:solidFill>
                <a:latin typeface="Arial"/>
                <a:ea typeface="Arial"/>
                <a:cs typeface="Arial"/>
              </a:defRPr>
            </a:pPr>
            <a:r>
              <a:rPr sz="1875" b="1">
                <a:solidFill>
                  <a:srgbClr val="7C3AED"/>
                </a:solidFill>
                <a:latin typeface="Arial"/>
                <a:ea typeface="Arial"/>
                <a:cs typeface="Arial"/>
              </a:rPr>
              <a:t>GOVERN</a:t>
            </a:r>
          </a:p>
        </p:txBody>
      </p:sp>
      <p:sp>
        <p:nvSpPr>
          <p:cNvPr id="14" name="">
            <a:extLst xmlns:a="http://schemas.openxmlformats.org/drawingml/2006/main">
              <a:ext uri="{FF2B5EF4-FFF2-40B4-BE49-F238E27FC236}">
                <a16:creationId xmlns:a16="http://schemas.microsoft.com/office/drawing/2014/main" id="{9F18D64C-8FDB-4CAB-857A-B46575F19E57}"/>
              </a:ext>
            </a:extLst>
          </p:cNvPr>
          <p:cNvSpPr>
            <a:spLocks xmlns:a="http://schemas.openxmlformats.org/drawingml/2006/main" noGrp="1"/>
          </p:cNvSpPr>
          <p:nvPr/>
        </p:nvSpPr>
        <p:spPr>
          <a:xfrm xmlns:a="http://schemas.openxmlformats.org/drawingml/2006/main">
            <a:off x="4629150"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Give a named owner authority to stop, communicate and restart.</a:t>
            </a:r>
          </a:p>
        </p:txBody>
      </p:sp>
      <p:sp>
        <p:nvSpPr>
          <p:cNvPr id="15" name="">
            <a:extLst xmlns:a="http://schemas.openxmlformats.org/drawingml/2006/main">
              <a:ext uri="{FF2B5EF4-FFF2-40B4-BE49-F238E27FC236}">
                <a16:creationId xmlns:a16="http://schemas.microsoft.com/office/drawing/2014/main" id="{E15A341C-8DCF-4993-949E-09D2A093A62F}"/>
              </a:ext>
            </a:extLst>
          </p:cNvPr>
          <p:cNvSpPr>
            <a:spLocks xmlns:a="http://schemas.openxmlformats.org/drawingml/2006/main" noGrp="1"/>
          </p:cNvSpPr>
          <p:nvPr/>
        </p:nvSpPr>
        <p:spPr>
          <a:xfrm xmlns:a="http://schemas.openxmlformats.org/drawingml/2006/main">
            <a:off x="4629150"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C3F3B551-164E-4625-B2CE-4FC897447A81}"/>
              </a:ext>
            </a:extLst>
          </p:cNvPr>
          <p:cNvSpPr>
            <a:spLocks xmlns:a="http://schemas.openxmlformats.org/drawingml/2006/main" noGrp="1"/>
          </p:cNvSpPr>
          <p:nvPr/>
        </p:nvSpPr>
        <p:spPr>
          <a:xfrm xmlns:a="http://schemas.openxmlformats.org/drawingml/2006/main">
            <a:off x="4629150"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Who decides when business and security trade-offs collide?</a:t>
            </a:r>
          </a:p>
        </p:txBody>
      </p:sp>
      <p:sp>
        <p:nvSpPr>
          <p:cNvPr id="17" name="">
            <a:extLst xmlns:a="http://schemas.openxmlformats.org/drawingml/2006/main">
              <a:ext uri="{FF2B5EF4-FFF2-40B4-BE49-F238E27FC236}">
                <a16:creationId xmlns:a16="http://schemas.microsoft.com/office/drawing/2014/main" id="{C977E272-29CA-4EC9-9322-576A4C3E17F3}"/>
              </a:ext>
            </a:extLst>
          </p:cNvPr>
          <p:cNvSpPr>
            <a:spLocks xmlns:a="http://schemas.openxmlformats.org/drawingml/2006/main" noGrp="1"/>
          </p:cNvSpPr>
          <p:nvPr/>
        </p:nvSpPr>
        <p:spPr>
          <a:xfrm xmlns:a="http://schemas.openxmlformats.org/drawingml/2006/main">
            <a:off x="818197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D971CC0-F074-4C62-9E0C-87C50658A530}"/>
              </a:ext>
            </a:extLst>
          </p:cNvPr>
          <p:cNvSpPr>
            <a:spLocks xmlns:a="http://schemas.openxmlformats.org/drawingml/2006/main" noGrp="1"/>
          </p:cNvSpPr>
          <p:nvPr/>
        </p:nvSpPr>
        <p:spPr>
          <a:xfrm xmlns:a="http://schemas.openxmlformats.org/drawingml/2006/main">
            <a:off x="8181975" y="1562100"/>
            <a:ext cx="3371850" cy="762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8385544-877F-4F75-92FD-87F5690086BD}"/>
              </a:ext>
            </a:extLst>
          </p:cNvPr>
          <p:cNvSpPr>
            <a:spLocks xmlns:a="http://schemas.openxmlformats.org/drawingml/2006/main" noGrp="1"/>
          </p:cNvSpPr>
          <p:nvPr/>
        </p:nvSpPr>
        <p:spPr>
          <a:xfrm xmlns:a="http://schemas.openxmlformats.org/drawingml/2006/main">
            <a:off x="841057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FFFF"/>
                </a:solidFill>
                <a:latin typeface="Arial"/>
                <a:ea typeface="Arial"/>
                <a:cs typeface="Arial"/>
              </a:defRPr>
            </a:pPr>
            <a:r>
              <a:rPr sz="1875" b="1">
                <a:solidFill>
                  <a:srgbClr val="00FFFF"/>
                </a:solidFill>
                <a:latin typeface="Arial"/>
                <a:ea typeface="Arial"/>
                <a:cs typeface="Arial"/>
              </a:rPr>
              <a:t>SECURE</a:t>
            </a:r>
          </a:p>
        </p:txBody>
      </p:sp>
      <p:sp>
        <p:nvSpPr>
          <p:cNvPr id="20" name="">
            <a:extLst xmlns:a="http://schemas.openxmlformats.org/drawingml/2006/main">
              <a:ext uri="{FF2B5EF4-FFF2-40B4-BE49-F238E27FC236}">
                <a16:creationId xmlns:a16="http://schemas.microsoft.com/office/drawing/2014/main" id="{91CDC154-2540-41DE-A424-8D9E3FBAB218}"/>
              </a:ext>
            </a:extLst>
          </p:cNvPr>
          <p:cNvSpPr>
            <a:spLocks xmlns:a="http://schemas.openxmlformats.org/drawingml/2006/main" noGrp="1"/>
          </p:cNvSpPr>
          <p:nvPr/>
        </p:nvSpPr>
        <p:spPr>
          <a:xfrm xmlns:a="http://schemas.openxmlformats.org/drawingml/2006/main">
            <a:off x="841057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Bound privilege, propagation and irreversible actions.</a:t>
            </a:r>
          </a:p>
        </p:txBody>
      </p:sp>
      <p:sp>
        <p:nvSpPr>
          <p:cNvPr id="21" name="">
            <a:extLst xmlns:a="http://schemas.openxmlformats.org/drawingml/2006/main">
              <a:ext uri="{FF2B5EF4-FFF2-40B4-BE49-F238E27FC236}">
                <a16:creationId xmlns:a16="http://schemas.microsoft.com/office/drawing/2014/main" id="{7913C6F2-F145-42CA-9D10-9E8ABDA08EFB}"/>
              </a:ext>
            </a:extLst>
          </p:cNvPr>
          <p:cNvSpPr>
            <a:spLocks xmlns:a="http://schemas.openxmlformats.org/drawingml/2006/main" noGrp="1"/>
          </p:cNvSpPr>
          <p:nvPr/>
        </p:nvSpPr>
        <p:spPr>
          <a:xfrm xmlns:a="http://schemas.openxmlformats.org/drawingml/2006/main">
            <a:off x="841057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6BB78AEA-6E68-48BD-9279-E5B1D6B6AA99}"/>
              </a:ext>
            </a:extLst>
          </p:cNvPr>
          <p:cNvSpPr>
            <a:spLocks xmlns:a="http://schemas.openxmlformats.org/drawingml/2006/main" noGrp="1"/>
          </p:cNvSpPr>
          <p:nvPr/>
        </p:nvSpPr>
        <p:spPr>
          <a:xfrm xmlns:a="http://schemas.openxmlformats.org/drawingml/2006/main">
            <a:off x="841057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What remains safe when the instruction is wrong?</a:t>
            </a:r>
          </a:p>
        </p:txBody>
      </p:sp>
      <p:sp>
        <p:nvSpPr>
          <p:cNvPr id="23" name="">
            <a:extLst xmlns:a="http://schemas.openxmlformats.org/drawingml/2006/main">
              <a:ext uri="{FF2B5EF4-FFF2-40B4-BE49-F238E27FC236}">
                <a16:creationId xmlns:a16="http://schemas.microsoft.com/office/drawing/2014/main" id="{F3073EF6-A30C-4A91-AA26-D67128DCDF5E}"/>
              </a:ext>
            </a:extLst>
          </p:cNvPr>
          <p:cNvSpPr>
            <a:spLocks xmlns:a="http://schemas.openxmlformats.org/drawingml/2006/main" noGrp="1"/>
          </p:cNvSpPr>
          <p:nvPr/>
        </p:nvSpPr>
        <p:spPr>
          <a:xfrm xmlns:a="http://schemas.openxmlformats.org/drawingml/2006/main">
            <a:off x="1428750" y="538162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The exercise tests the decision system around the technology.</a:t>
            </a:r>
          </a:p>
        </p:txBody>
      </p:sp>
    </p:spTree>
    <p:extLst>
      <p:ext uri="{BB962C8B-B14F-4D97-AF65-F5344CB8AC3E}">
        <p14:creationId xmlns:p14="http://schemas.microsoft.com/office/powerpoint/2010/main" val="15895417"/>
      </p:ext>
    </p:extLst>
  </p:cSld>
</p:sld>
</file>

<file path=ppt/slides/slide7.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7FAF083-8027-4BA3-B336-B285FF4968C0}"/>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EXERCISE</a:t>
            </a:r>
          </a:p>
        </p:txBody>
      </p:sp>
      <p:sp>
        <p:nvSpPr>
          <p:cNvPr id="2" name="">
            <a:extLst xmlns:a="http://schemas.openxmlformats.org/drawingml/2006/main">
              <a:ext uri="{FF2B5EF4-FFF2-40B4-BE49-F238E27FC236}">
                <a16:creationId xmlns:a16="http://schemas.microsoft.com/office/drawing/2014/main" id="{7B663399-5A7B-4A77-AD02-56EC19B196FF}"/>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Make one defensible decision before the next reveal</a:t>
            </a:r>
          </a:p>
        </p:txBody>
      </p:sp>
      <p:sp>
        <p:nvSpPr>
          <p:cNvPr id="3" name="">
            <a:extLst xmlns:a="http://schemas.openxmlformats.org/drawingml/2006/main">
              <a:ext uri="{FF2B5EF4-FFF2-40B4-BE49-F238E27FC236}">
                <a16:creationId xmlns:a16="http://schemas.microsoft.com/office/drawing/2014/main" id="{91F0764B-58B5-4E8F-915B-B93A55CC56C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306E78F-D1BF-4327-B445-1F8D8E2D663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592AD98-B6EA-4413-9978-AA6B481A5941}"/>
              </a:ext>
            </a:extLst>
          </p:cNvPr>
          <p:cNvSpPr>
            <a:spLocks xmlns:a="http://schemas.openxmlformats.org/drawingml/2006/main" noGrp="1"/>
          </p:cNvSpPr>
          <p:nvPr/>
        </p:nvSpPr>
        <p:spPr>
          <a:xfrm xmlns:a="http://schemas.openxmlformats.org/drawingml/2006/main">
            <a:off x="628650" y="12573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No answer key. Adam facilitates; Richard, Security Counsel, listens for strong reasoning and recurring blind spots.</a:t>
            </a:r>
          </a:p>
        </p:txBody>
      </p:sp>
      <p:sp>
        <p:nvSpPr>
          <p:cNvPr id="6" name="">
            <a:extLst xmlns:a="http://schemas.openxmlformats.org/drawingml/2006/main">
              <a:ext uri="{FF2B5EF4-FFF2-40B4-BE49-F238E27FC236}">
                <a16:creationId xmlns:a16="http://schemas.microsoft.com/office/drawing/2014/main" id="{A1695C59-551C-4ADD-A71D-8E256B7362AA}"/>
              </a:ext>
            </a:extLst>
          </p:cNvPr>
          <p:cNvSpPr>
            <a:spLocks xmlns:a="http://schemas.openxmlformats.org/drawingml/2006/main" noGrp="1"/>
          </p:cNvSpPr>
          <p:nvPr/>
        </p:nvSpPr>
        <p:spPr>
          <a:xfrm xmlns:a="http://schemas.openxmlformats.org/drawingml/2006/main">
            <a:off x="7429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59A137-3778-460A-AE49-C5C780CCE8AC}"/>
              </a:ext>
            </a:extLst>
          </p:cNvPr>
          <p:cNvSpPr>
            <a:spLocks xmlns:a="http://schemas.openxmlformats.org/drawingml/2006/main" noGrp="1"/>
          </p:cNvSpPr>
          <p:nvPr/>
        </p:nvSpPr>
        <p:spPr>
          <a:xfrm xmlns:a="http://schemas.openxmlformats.org/drawingml/2006/main">
            <a:off x="7429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713E67C0-8EE6-421C-9135-96FA63CC2C6D}"/>
              </a:ext>
            </a:extLst>
          </p:cNvPr>
          <p:cNvSpPr>
            <a:spLocks xmlns:a="http://schemas.openxmlformats.org/drawingml/2006/main" noGrp="1"/>
          </p:cNvSpPr>
          <p:nvPr/>
        </p:nvSpPr>
        <p:spPr>
          <a:xfrm xmlns:a="http://schemas.openxmlformats.org/drawingml/2006/main">
            <a:off x="11430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Business or service owner</a:t>
            </a:r>
          </a:p>
        </p:txBody>
      </p:sp>
      <p:sp>
        <p:nvSpPr>
          <p:cNvPr id="9" name="">
            <a:extLst xmlns:a="http://schemas.openxmlformats.org/drawingml/2006/main">
              <a:ext uri="{FF2B5EF4-FFF2-40B4-BE49-F238E27FC236}">
                <a16:creationId xmlns:a16="http://schemas.microsoft.com/office/drawing/2014/main" id="{40936FF4-277F-4CDD-B488-845B0AA3B6BB}"/>
              </a:ext>
            </a:extLst>
          </p:cNvPr>
          <p:cNvSpPr>
            <a:spLocks xmlns:a="http://schemas.openxmlformats.org/drawingml/2006/main" noGrp="1"/>
          </p:cNvSpPr>
          <p:nvPr/>
        </p:nvSpPr>
        <p:spPr>
          <a:xfrm xmlns:a="http://schemas.openxmlformats.org/drawingml/2006/main">
            <a:off x="7429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3FDEEB-3666-4E2F-9926-F7210A353780}"/>
              </a:ext>
            </a:extLst>
          </p:cNvPr>
          <p:cNvSpPr>
            <a:spLocks xmlns:a="http://schemas.openxmlformats.org/drawingml/2006/main" noGrp="1"/>
          </p:cNvSpPr>
          <p:nvPr/>
        </p:nvSpPr>
        <p:spPr>
          <a:xfrm xmlns:a="http://schemas.openxmlformats.org/drawingml/2006/main">
            <a:off x="7429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105E5043-5236-4AFD-9F49-4E146C5CA974}"/>
              </a:ext>
            </a:extLst>
          </p:cNvPr>
          <p:cNvSpPr>
            <a:spLocks xmlns:a="http://schemas.openxmlformats.org/drawingml/2006/main" noGrp="1"/>
          </p:cNvSpPr>
          <p:nvPr/>
        </p:nvSpPr>
        <p:spPr>
          <a:xfrm xmlns:a="http://schemas.openxmlformats.org/drawingml/2006/main">
            <a:off x="11430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Security incident commander</a:t>
            </a:r>
          </a:p>
        </p:txBody>
      </p:sp>
      <p:sp>
        <p:nvSpPr>
          <p:cNvPr id="12" name="">
            <a:extLst xmlns:a="http://schemas.openxmlformats.org/drawingml/2006/main">
              <a:ext uri="{FF2B5EF4-FFF2-40B4-BE49-F238E27FC236}">
                <a16:creationId xmlns:a16="http://schemas.microsoft.com/office/drawing/2014/main" id="{F5D50249-F25D-4B5E-ACC4-5D34D83B6031}"/>
              </a:ext>
            </a:extLst>
          </p:cNvPr>
          <p:cNvSpPr>
            <a:spLocks xmlns:a="http://schemas.openxmlformats.org/drawingml/2006/main" noGrp="1"/>
          </p:cNvSpPr>
          <p:nvPr/>
        </p:nvSpPr>
        <p:spPr>
          <a:xfrm xmlns:a="http://schemas.openxmlformats.org/drawingml/2006/main">
            <a:off x="742950" y="33528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C713C6-73E7-4115-A292-49C65BCAB950}"/>
              </a:ext>
            </a:extLst>
          </p:cNvPr>
          <p:cNvSpPr>
            <a:spLocks xmlns:a="http://schemas.openxmlformats.org/drawingml/2006/main" noGrp="1"/>
          </p:cNvSpPr>
          <p:nvPr/>
        </p:nvSpPr>
        <p:spPr>
          <a:xfrm xmlns:a="http://schemas.openxmlformats.org/drawingml/2006/main">
            <a:off x="7429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54B77A0A-0FB9-4804-9B05-09B5624344EA}"/>
              </a:ext>
            </a:extLst>
          </p:cNvPr>
          <p:cNvSpPr>
            <a:spLocks xmlns:a="http://schemas.openxmlformats.org/drawingml/2006/main" noGrp="1"/>
          </p:cNvSpPr>
          <p:nvPr/>
        </p:nvSpPr>
        <p:spPr>
          <a:xfrm xmlns:a="http://schemas.openxmlformats.org/drawingml/2006/main">
            <a:off x="11430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Identity and platform lead</a:t>
            </a:r>
          </a:p>
        </p:txBody>
      </p:sp>
      <p:sp>
        <p:nvSpPr>
          <p:cNvPr id="15" name="">
            <a:extLst xmlns:a="http://schemas.openxmlformats.org/drawingml/2006/main">
              <a:ext uri="{FF2B5EF4-FFF2-40B4-BE49-F238E27FC236}">
                <a16:creationId xmlns:a16="http://schemas.microsoft.com/office/drawing/2014/main" id="{660A86E7-2704-4F76-B477-E44F52D7C72F}"/>
              </a:ext>
            </a:extLst>
          </p:cNvPr>
          <p:cNvSpPr>
            <a:spLocks xmlns:a="http://schemas.openxmlformats.org/drawingml/2006/main" noGrp="1"/>
          </p:cNvSpPr>
          <p:nvPr/>
        </p:nvSpPr>
        <p:spPr>
          <a:xfrm xmlns:a="http://schemas.openxmlformats.org/drawingml/2006/main">
            <a:off x="61912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32B0B03-6F1B-4821-ACF1-5ACFF38DD7BE}"/>
              </a:ext>
            </a:extLst>
          </p:cNvPr>
          <p:cNvSpPr>
            <a:spLocks xmlns:a="http://schemas.openxmlformats.org/drawingml/2006/main" noGrp="1"/>
          </p:cNvSpPr>
          <p:nvPr/>
        </p:nvSpPr>
        <p:spPr>
          <a:xfrm xmlns:a="http://schemas.openxmlformats.org/drawingml/2006/main">
            <a:off x="61912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91A48779-6F51-4FFD-A5B2-BB82C2BAA606}"/>
              </a:ext>
            </a:extLst>
          </p:cNvPr>
          <p:cNvSpPr>
            <a:spLocks xmlns:a="http://schemas.openxmlformats.org/drawingml/2006/main" noGrp="1"/>
          </p:cNvSpPr>
          <p:nvPr/>
        </p:nvSpPr>
        <p:spPr>
          <a:xfrm xmlns:a="http://schemas.openxmlformats.org/drawingml/2006/main">
            <a:off x="65913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Data, privacy or legal lead</a:t>
            </a:r>
          </a:p>
        </p:txBody>
      </p:sp>
      <p:sp>
        <p:nvSpPr>
          <p:cNvPr id="18" name="">
            <a:extLst xmlns:a="http://schemas.openxmlformats.org/drawingml/2006/main">
              <a:ext uri="{FF2B5EF4-FFF2-40B4-BE49-F238E27FC236}">
                <a16:creationId xmlns:a16="http://schemas.microsoft.com/office/drawing/2014/main" id="{591C2C8C-D450-42F6-A351-0C9633ADFC61}"/>
              </a:ext>
            </a:extLst>
          </p:cNvPr>
          <p:cNvSpPr>
            <a:spLocks xmlns:a="http://schemas.openxmlformats.org/drawingml/2006/main" noGrp="1"/>
          </p:cNvSpPr>
          <p:nvPr/>
        </p:nvSpPr>
        <p:spPr>
          <a:xfrm xmlns:a="http://schemas.openxmlformats.org/drawingml/2006/main">
            <a:off x="61912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ED462-688A-4796-B8F0-64609045B5F8}"/>
              </a:ext>
            </a:extLst>
          </p:cNvPr>
          <p:cNvSpPr>
            <a:spLocks xmlns:a="http://schemas.openxmlformats.org/drawingml/2006/main" noGrp="1"/>
          </p:cNvSpPr>
          <p:nvPr/>
        </p:nvSpPr>
        <p:spPr>
          <a:xfrm xmlns:a="http://schemas.openxmlformats.org/drawingml/2006/main">
            <a:off x="61912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5</a:t>
            </a:r>
          </a:p>
        </p:txBody>
      </p:sp>
      <p:sp>
        <p:nvSpPr>
          <p:cNvPr id="20" name="">
            <a:extLst xmlns:a="http://schemas.openxmlformats.org/drawingml/2006/main">
              <a:ext uri="{FF2B5EF4-FFF2-40B4-BE49-F238E27FC236}">
                <a16:creationId xmlns:a16="http://schemas.microsoft.com/office/drawing/2014/main" id="{1FAF67F4-2AEF-41DC-9CBE-80FFDAFB8B17}"/>
              </a:ext>
            </a:extLst>
          </p:cNvPr>
          <p:cNvSpPr>
            <a:spLocks xmlns:a="http://schemas.openxmlformats.org/drawingml/2006/main" noGrp="1"/>
          </p:cNvSpPr>
          <p:nvPr/>
        </p:nvSpPr>
        <p:spPr>
          <a:xfrm xmlns:a="http://schemas.openxmlformats.org/drawingml/2006/main">
            <a:off x="65913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Communications or executive liaison</a:t>
            </a:r>
          </a:p>
        </p:txBody>
      </p:sp>
      <p:sp>
        <p:nvSpPr>
          <p:cNvPr id="21" name="">
            <a:extLst xmlns:a="http://schemas.openxmlformats.org/drawingml/2006/main">
              <a:ext uri="{FF2B5EF4-FFF2-40B4-BE49-F238E27FC236}">
                <a16:creationId xmlns:a16="http://schemas.microsoft.com/office/drawing/2014/main" id="{465447C2-178E-43E6-8D0E-CFC8CAA01FC7}"/>
              </a:ext>
            </a:extLst>
          </p:cNvPr>
          <p:cNvSpPr>
            <a:spLocks xmlns:a="http://schemas.openxmlformats.org/drawingml/2006/main" noGrp="1"/>
          </p:cNvSpPr>
          <p:nvPr/>
        </p:nvSpPr>
        <p:spPr>
          <a:xfrm xmlns:a="http://schemas.openxmlformats.org/drawingml/2006/main">
            <a:off x="6191250" y="3352800"/>
            <a:ext cx="228600" cy="228600"/>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9DA80BD-0EF2-4FCF-A697-57F3CF67CE9F}"/>
              </a:ext>
            </a:extLst>
          </p:cNvPr>
          <p:cNvSpPr>
            <a:spLocks xmlns:a="http://schemas.openxmlformats.org/drawingml/2006/main" noGrp="1"/>
          </p:cNvSpPr>
          <p:nvPr/>
        </p:nvSpPr>
        <p:spPr>
          <a:xfrm xmlns:a="http://schemas.openxmlformats.org/drawingml/2006/main">
            <a:off x="61912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6</a:t>
            </a:r>
          </a:p>
        </p:txBody>
      </p:sp>
      <p:sp>
        <p:nvSpPr>
          <p:cNvPr id="23" name="">
            <a:extLst xmlns:a="http://schemas.openxmlformats.org/drawingml/2006/main">
              <a:ext uri="{FF2B5EF4-FFF2-40B4-BE49-F238E27FC236}">
                <a16:creationId xmlns:a16="http://schemas.microsoft.com/office/drawing/2014/main" id="{AF037B28-DAA7-4A28-895F-5015366F191D}"/>
              </a:ext>
            </a:extLst>
          </p:cNvPr>
          <p:cNvSpPr>
            <a:spLocks xmlns:a="http://schemas.openxmlformats.org/drawingml/2006/main" noGrp="1"/>
          </p:cNvSpPr>
          <p:nvPr/>
        </p:nvSpPr>
        <p:spPr>
          <a:xfrm xmlns:a="http://schemas.openxmlformats.org/drawingml/2006/main">
            <a:off x="65913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Scribe / constructive challenger</a:t>
            </a:r>
          </a:p>
        </p:txBody>
      </p:sp>
      <p:sp>
        <p:nvSpPr>
          <p:cNvPr id="24" name="">
            <a:extLst xmlns:a="http://schemas.openxmlformats.org/drawingml/2006/main">
              <a:ext uri="{FF2B5EF4-FFF2-40B4-BE49-F238E27FC236}">
                <a16:creationId xmlns:a16="http://schemas.microsoft.com/office/drawing/2014/main" id="{99411F4A-3C40-45E2-93C1-CD5104623DC3}"/>
              </a:ext>
            </a:extLst>
          </p:cNvPr>
          <p:cNvSpPr>
            <a:spLocks xmlns:a="http://schemas.openxmlformats.org/drawingml/2006/main" noGrp="1"/>
          </p:cNvSpPr>
          <p:nvPr/>
        </p:nvSpPr>
        <p:spPr>
          <a:xfrm xmlns:a="http://schemas.openxmlformats.org/drawingml/2006/main">
            <a:off x="7620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8DCFF"/>
                </a:solidFill>
                <a:latin typeface="Arial"/>
                <a:ea typeface="Arial"/>
                <a:cs typeface="Arial"/>
              </a:defRPr>
            </a:pPr>
            <a:r>
              <a:rPr sz="3600" b="1">
                <a:solidFill>
                  <a:srgbClr val="78DCFF"/>
                </a:solidFill>
                <a:latin typeface="Arial"/>
                <a:ea typeface="Arial"/>
                <a:cs typeface="Arial"/>
              </a:rPr>
              <a:t>15</a:t>
            </a:r>
          </a:p>
        </p:txBody>
      </p:sp>
      <p:sp>
        <p:nvSpPr>
          <p:cNvPr id="25" name="">
            <a:extLst xmlns:a="http://schemas.openxmlformats.org/drawingml/2006/main">
              <a:ext uri="{FF2B5EF4-FFF2-40B4-BE49-F238E27FC236}">
                <a16:creationId xmlns:a16="http://schemas.microsoft.com/office/drawing/2014/main" id="{5BD36187-0B48-4466-BA49-80781B54DE50}"/>
              </a:ext>
            </a:extLst>
          </p:cNvPr>
          <p:cNvSpPr>
            <a:spLocks xmlns:a="http://schemas.openxmlformats.org/drawingml/2006/main" noGrp="1"/>
          </p:cNvSpPr>
          <p:nvPr/>
        </p:nvSpPr>
        <p:spPr>
          <a:xfrm xmlns:a="http://schemas.openxmlformats.org/drawingml/2006/main">
            <a:off x="76200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INTRO</a:t>
            </a:r>
          </a:p>
        </p:txBody>
      </p:sp>
      <p:sp>
        <p:nvSpPr>
          <p:cNvPr id="26" name="">
            <a:extLst xmlns:a="http://schemas.openxmlformats.org/drawingml/2006/main">
              <a:ext uri="{FF2B5EF4-FFF2-40B4-BE49-F238E27FC236}">
                <a16:creationId xmlns:a16="http://schemas.microsoft.com/office/drawing/2014/main" id="{9A1F65CD-9391-4E44-8BED-8D2F15F82CC3}"/>
              </a:ext>
            </a:extLst>
          </p:cNvPr>
          <p:cNvSpPr>
            <a:spLocks xmlns:a="http://schemas.openxmlformats.org/drawingml/2006/main" noGrp="1"/>
          </p:cNvSpPr>
          <p:nvPr/>
        </p:nvSpPr>
        <p:spPr>
          <a:xfrm xmlns:a="http://schemas.openxmlformats.org/drawingml/2006/main">
            <a:off x="309562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C3AED"/>
                </a:solidFill>
                <a:latin typeface="Arial"/>
                <a:ea typeface="Arial"/>
                <a:cs typeface="Arial"/>
              </a:defRPr>
            </a:pPr>
            <a:r>
              <a:rPr sz="3600" b="1">
                <a:solidFill>
                  <a:srgbClr val="7C3AED"/>
                </a:solidFill>
                <a:latin typeface="Arial"/>
                <a:ea typeface="Arial"/>
                <a:cs typeface="Arial"/>
              </a:rPr>
              <a:t>40</a:t>
            </a:r>
          </a:p>
        </p:txBody>
      </p:sp>
      <p:sp>
        <p:nvSpPr>
          <p:cNvPr id="27" name="">
            <a:extLst xmlns:a="http://schemas.openxmlformats.org/drawingml/2006/main">
              <a:ext uri="{FF2B5EF4-FFF2-40B4-BE49-F238E27FC236}">
                <a16:creationId xmlns:a16="http://schemas.microsoft.com/office/drawing/2014/main" id="{1C2F4423-3BB8-497F-96AA-C941575876F9}"/>
              </a:ext>
            </a:extLst>
          </p:cNvPr>
          <p:cNvSpPr>
            <a:spLocks xmlns:a="http://schemas.openxmlformats.org/drawingml/2006/main" noGrp="1"/>
          </p:cNvSpPr>
          <p:nvPr/>
        </p:nvSpPr>
        <p:spPr>
          <a:xfrm xmlns:a="http://schemas.openxmlformats.org/drawingml/2006/main">
            <a:off x="309562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DECIDE</a:t>
            </a:r>
          </a:p>
        </p:txBody>
      </p:sp>
      <p:sp>
        <p:nvSpPr>
          <p:cNvPr id="28" name="">
            <a:extLst xmlns:a="http://schemas.openxmlformats.org/drawingml/2006/main">
              <a:ext uri="{FF2B5EF4-FFF2-40B4-BE49-F238E27FC236}">
                <a16:creationId xmlns:a16="http://schemas.microsoft.com/office/drawing/2014/main" id="{F37D5459-68C0-4C3D-8DAE-4B3EBE6F25B4}"/>
              </a:ext>
            </a:extLst>
          </p:cNvPr>
          <p:cNvSpPr>
            <a:spLocks xmlns:a="http://schemas.openxmlformats.org/drawingml/2006/main" noGrp="1"/>
          </p:cNvSpPr>
          <p:nvPr/>
        </p:nvSpPr>
        <p:spPr>
          <a:xfrm xmlns:a="http://schemas.openxmlformats.org/drawingml/2006/main">
            <a:off x="542925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AEFF"/>
                </a:solidFill>
                <a:latin typeface="Arial"/>
                <a:ea typeface="Arial"/>
                <a:cs typeface="Arial"/>
              </a:defRPr>
            </a:pPr>
            <a:r>
              <a:rPr sz="3600" b="1">
                <a:solidFill>
                  <a:srgbClr val="00AEFF"/>
                </a:solidFill>
                <a:latin typeface="Arial"/>
                <a:ea typeface="Arial"/>
                <a:cs typeface="Arial"/>
              </a:rPr>
              <a:t>6</a:t>
            </a:r>
          </a:p>
        </p:txBody>
      </p:sp>
      <p:sp>
        <p:nvSpPr>
          <p:cNvPr id="29" name="">
            <a:extLst xmlns:a="http://schemas.openxmlformats.org/drawingml/2006/main">
              <a:ext uri="{FF2B5EF4-FFF2-40B4-BE49-F238E27FC236}">
                <a16:creationId xmlns:a16="http://schemas.microsoft.com/office/drawing/2014/main" id="{A780FE82-7554-47E4-AA2F-EEA7B3E1965D}"/>
              </a:ext>
            </a:extLst>
          </p:cNvPr>
          <p:cNvSpPr>
            <a:spLocks xmlns:a="http://schemas.openxmlformats.org/drawingml/2006/main" noGrp="1"/>
          </p:cNvSpPr>
          <p:nvPr/>
        </p:nvSpPr>
        <p:spPr>
          <a:xfrm xmlns:a="http://schemas.openxmlformats.org/drawingml/2006/main">
            <a:off x="542925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LOCK</a:t>
            </a:r>
          </a:p>
        </p:txBody>
      </p:sp>
      <p:sp>
        <p:nvSpPr>
          <p:cNvPr id="30" name="">
            <a:extLst xmlns:a="http://schemas.openxmlformats.org/drawingml/2006/main">
              <a:ext uri="{FF2B5EF4-FFF2-40B4-BE49-F238E27FC236}">
                <a16:creationId xmlns:a16="http://schemas.microsoft.com/office/drawing/2014/main" id="{52E186D4-0F37-4ED2-A1F8-5B62D167D939}"/>
              </a:ext>
            </a:extLst>
          </p:cNvPr>
          <p:cNvSpPr>
            <a:spLocks xmlns:a="http://schemas.openxmlformats.org/drawingml/2006/main" noGrp="1"/>
          </p:cNvSpPr>
          <p:nvPr/>
        </p:nvSpPr>
        <p:spPr>
          <a:xfrm xmlns:a="http://schemas.openxmlformats.org/drawingml/2006/main">
            <a:off x="776287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E5484D"/>
                </a:solidFill>
                <a:latin typeface="Arial"/>
                <a:ea typeface="Arial"/>
                <a:cs typeface="Arial"/>
              </a:defRPr>
            </a:pPr>
            <a:r>
              <a:rPr sz="3600" b="1">
                <a:solidFill>
                  <a:srgbClr val="E5484D"/>
                </a:solidFill>
                <a:latin typeface="Arial"/>
                <a:ea typeface="Arial"/>
                <a:cs typeface="Arial"/>
              </a:rPr>
              <a:t>22</a:t>
            </a:r>
          </a:p>
        </p:txBody>
      </p:sp>
      <p:sp>
        <p:nvSpPr>
          <p:cNvPr id="31" name="">
            <a:extLst xmlns:a="http://schemas.openxmlformats.org/drawingml/2006/main">
              <a:ext uri="{FF2B5EF4-FFF2-40B4-BE49-F238E27FC236}">
                <a16:creationId xmlns:a16="http://schemas.microsoft.com/office/drawing/2014/main" id="{E790490E-9EA7-43A6-8F89-CC83E6502B32}"/>
              </a:ext>
            </a:extLst>
          </p:cNvPr>
          <p:cNvSpPr>
            <a:spLocks xmlns:a="http://schemas.openxmlformats.org/drawingml/2006/main" noGrp="1"/>
          </p:cNvSpPr>
          <p:nvPr/>
        </p:nvSpPr>
        <p:spPr>
          <a:xfrm xmlns:a="http://schemas.openxmlformats.org/drawingml/2006/main">
            <a:off x="776287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REPORT</a:t>
            </a:r>
          </a:p>
        </p:txBody>
      </p:sp>
      <p:sp>
        <p:nvSpPr>
          <p:cNvPr id="32" name="">
            <a:extLst xmlns:a="http://schemas.openxmlformats.org/drawingml/2006/main">
              <a:ext uri="{FF2B5EF4-FFF2-40B4-BE49-F238E27FC236}">
                <a16:creationId xmlns:a16="http://schemas.microsoft.com/office/drawing/2014/main" id="{5C40AC22-BED1-4309-8424-D8706E1CCB0A}"/>
              </a:ext>
            </a:extLst>
          </p:cNvPr>
          <p:cNvSpPr>
            <a:spLocks xmlns:a="http://schemas.openxmlformats.org/drawingml/2006/main" noGrp="1"/>
          </p:cNvSpPr>
          <p:nvPr/>
        </p:nvSpPr>
        <p:spPr>
          <a:xfrm xmlns:a="http://schemas.openxmlformats.org/drawingml/2006/main">
            <a:off x="100965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FFFF"/>
                </a:solidFill>
                <a:latin typeface="Arial"/>
                <a:ea typeface="Arial"/>
                <a:cs typeface="Arial"/>
              </a:defRPr>
            </a:pPr>
            <a:r>
              <a:rPr sz="3600" b="1">
                <a:solidFill>
                  <a:srgbClr val="00FFFF"/>
                </a:solidFill>
                <a:latin typeface="Arial"/>
                <a:ea typeface="Arial"/>
                <a:cs typeface="Arial"/>
              </a:rPr>
              <a:t>7</a:t>
            </a:r>
          </a:p>
        </p:txBody>
      </p:sp>
      <p:sp>
        <p:nvSpPr>
          <p:cNvPr id="33" name="">
            <a:extLst xmlns:a="http://schemas.openxmlformats.org/drawingml/2006/main">
              <a:ext uri="{FF2B5EF4-FFF2-40B4-BE49-F238E27FC236}">
                <a16:creationId xmlns:a16="http://schemas.microsoft.com/office/drawing/2014/main" id="{E884F173-AF10-4216-BF7F-44A9ACF5028D}"/>
              </a:ext>
            </a:extLst>
          </p:cNvPr>
          <p:cNvSpPr>
            <a:spLocks xmlns:a="http://schemas.openxmlformats.org/drawingml/2006/main" noGrp="1"/>
          </p:cNvSpPr>
          <p:nvPr/>
        </p:nvSpPr>
        <p:spPr>
          <a:xfrm xmlns:a="http://schemas.openxmlformats.org/drawingml/2006/main">
            <a:off x="9982200" y="528637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SYNTHESISE</a:t>
            </a:r>
          </a:p>
        </p:txBody>
      </p:sp>
      <p:sp>
        <p:nvSpPr>
          <p:cNvPr id="34" name="">
            <a:extLst xmlns:a="http://schemas.openxmlformats.org/drawingml/2006/main">
              <a:ext uri="{FF2B5EF4-FFF2-40B4-BE49-F238E27FC236}">
                <a16:creationId xmlns:a16="http://schemas.microsoft.com/office/drawing/2014/main" id="{E5B6712D-7F98-45E5-8C99-98DC1CC4E50A}"/>
              </a:ext>
            </a:extLst>
          </p:cNvPr>
          <p:cNvSpPr>
            <a:spLocks xmlns:a="http://schemas.openxmlformats.org/drawingml/2006/main" noGrp="1"/>
          </p:cNvSpPr>
          <p:nvPr/>
        </p:nvSpPr>
        <p:spPr>
          <a:xfrm xmlns:a="http://schemas.openxmlformats.org/drawingml/2006/main">
            <a:off x="1381125" y="5010150"/>
            <a:ext cx="8905875" cy="9525"/>
          </a:xfrm>
          <a:prstGeom xmlns:a="http://schemas.openxmlformats.org/drawingml/2006/main" prst="line">
            <a:avLst/>
          </a:prstGeom>
          <a:noFill xmlns:a="http://schemas.openxmlformats.org/drawingml/2006/main"/>
          <a:ln xmlns:a="http://schemas.openxmlformats.org/drawingml/2006/main" w="38100">
            <a:solidFill>
              <a:srgbClr val="25466E"/>
            </a:solidFill>
            <a:prstDash val="solid"/>
          </a:ln>
        </p:spPr>
      </p:sp>
    </p:spTree>
    <p:extLst>
      <p:ext uri="{BB962C8B-B14F-4D97-AF65-F5344CB8AC3E}">
        <p14:creationId xmlns:p14="http://schemas.microsoft.com/office/powerpoint/2010/main" val="189009347"/>
      </p:ext>
    </p:extLst>
  </p:cSld>
</p:sld>
</file>

<file path=ppt/slides/slide8.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454748B-626E-47FF-8A7D-D93868CC6222}"/>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FICTIONAL SYSTEM · REAL CONTROL PATTERNS</a:t>
            </a:r>
          </a:p>
        </p:txBody>
      </p:sp>
      <p:sp>
        <p:nvSpPr>
          <p:cNvPr id="2" name="">
            <a:extLst xmlns:a="http://schemas.openxmlformats.org/drawingml/2006/main">
              <a:ext uri="{FF2B5EF4-FFF2-40B4-BE49-F238E27FC236}">
                <a16:creationId xmlns:a16="http://schemas.microsoft.com/office/drawing/2014/main" id="{608C23B8-25EE-4198-8ACA-5665BCFC1AA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Your scenario</a:t>
            </a:r>
          </a:p>
        </p:txBody>
      </p:sp>
      <p:sp>
        <p:nvSpPr>
          <p:cNvPr id="3" name="">
            <a:extLst xmlns:a="http://schemas.openxmlformats.org/drawingml/2006/main">
              <a:ext uri="{FF2B5EF4-FFF2-40B4-BE49-F238E27FC236}">
                <a16:creationId xmlns:a16="http://schemas.microsoft.com/office/drawing/2014/main" id="{A0E28196-7DAE-472D-9693-6F35876DAD9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7B03B530-94AB-445F-8435-0445A69F79F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C8BB027-0784-4A73-B424-0297D3D09C66}"/>
              </a:ext>
            </a:extLst>
          </p:cNvPr>
          <p:cNvSpPr>
            <a:spLocks xmlns:a="http://schemas.openxmlformats.org/drawingml/2006/main" noGrp="1"/>
          </p:cNvSpPr>
          <p:nvPr/>
        </p:nvSpPr>
        <p:spPr>
          <a:xfrm xmlns:a="http://schemas.openxmlformats.org/drawingml/2006/main">
            <a:off x="666750" y="1438275"/>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300" b="1">
                <a:solidFill>
                  <a:srgbClr val="00FFFF"/>
                </a:solidFill>
                <a:latin typeface="Arial"/>
                <a:ea typeface="Arial"/>
                <a:cs typeface="Arial"/>
              </a:defRPr>
            </a:pPr>
            <a:r>
              <a:rPr sz="3300" b="1">
                <a:solidFill>
                  <a:srgbClr val="00FFFF"/>
                </a:solidFill>
                <a:latin typeface="Arial"/>
                <a:ea typeface="Arial"/>
                <a:cs typeface="Arial"/>
              </a:rPr>
              <a:t>PROJECT ATLAS</a:t>
            </a:r>
          </a:p>
        </p:txBody>
      </p:sp>
      <p:sp>
        <p:nvSpPr>
          <p:cNvPr id="6" name="">
            <a:extLst xmlns:a="http://schemas.openxmlformats.org/drawingml/2006/main">
              <a:ext uri="{FF2B5EF4-FFF2-40B4-BE49-F238E27FC236}">
                <a16:creationId xmlns:a16="http://schemas.microsoft.com/office/drawing/2014/main" id="{7973CE39-4991-4C0C-979B-91F6F052FE4E}"/>
              </a:ext>
            </a:extLst>
          </p:cNvPr>
          <p:cNvSpPr>
            <a:spLocks xmlns:a="http://schemas.openxmlformats.org/drawingml/2006/main" noGrp="1"/>
          </p:cNvSpPr>
          <p:nvPr/>
        </p:nvSpPr>
        <p:spPr>
          <a:xfrm xmlns:a="http://schemas.openxmlformats.org/drawingml/2006/main">
            <a:off x="685800" y="20574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0">
                <a:solidFill>
                  <a:srgbClr val="FFFFFF"/>
                </a:solidFill>
                <a:latin typeface="Arial"/>
                <a:ea typeface="Arial"/>
                <a:cs typeface="Arial"/>
              </a:defRPr>
            </a:pPr>
            <a:r>
              <a:rPr sz="1800" b="0">
                <a:solidFill>
                  <a:srgbClr val="FFFFFF"/>
                </a:solidFill>
                <a:latin typeface="Arial"/>
                <a:ea typeface="Arial"/>
                <a:cs typeface="Arial"/>
              </a:rPr>
              <a:t>Supplier onboarding agent · three weeks live</a:t>
            </a:r>
          </a:p>
        </p:txBody>
      </p:sp>
      <p:sp>
        <p:nvSpPr>
          <p:cNvPr id="7" name="">
            <a:extLst xmlns:a="http://schemas.openxmlformats.org/drawingml/2006/main">
              <a:ext uri="{FF2B5EF4-FFF2-40B4-BE49-F238E27FC236}">
                <a16:creationId xmlns:a16="http://schemas.microsoft.com/office/drawing/2014/main" id="{5A17D666-7EB6-4D51-AE45-EBC35E67D57F}"/>
              </a:ext>
            </a:extLst>
          </p:cNvPr>
          <p:cNvSpPr>
            <a:spLocks xmlns:a="http://schemas.openxmlformats.org/drawingml/2006/main" noGrp="1"/>
          </p:cNvSpPr>
          <p:nvPr/>
        </p:nvSpPr>
        <p:spPr>
          <a:xfrm xmlns:a="http://schemas.openxmlformats.org/drawingml/2006/main">
            <a:off x="704850" y="28003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PURPOSE</a:t>
            </a:r>
          </a:p>
        </p:txBody>
      </p:sp>
      <p:sp>
        <p:nvSpPr>
          <p:cNvPr id="8" name="">
            <a:extLst xmlns:a="http://schemas.openxmlformats.org/drawingml/2006/main">
              <a:ext uri="{FF2B5EF4-FFF2-40B4-BE49-F238E27FC236}">
                <a16:creationId xmlns:a16="http://schemas.microsoft.com/office/drawing/2014/main" id="{4A78D7E8-C22E-4AEA-8B2D-F0DEDCA7712E}"/>
              </a:ext>
            </a:extLst>
          </p:cNvPr>
          <p:cNvSpPr>
            <a:spLocks xmlns:a="http://schemas.openxmlformats.org/drawingml/2006/main" noGrp="1"/>
          </p:cNvSpPr>
          <p:nvPr/>
        </p:nvSpPr>
        <p:spPr>
          <a:xfrm xmlns:a="http://schemas.openxmlformats.org/drawingml/2006/main">
            <a:off x="2476500" y="27813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Reads supplier documents, checks terms and creates vendor records.</a:t>
            </a:r>
          </a:p>
        </p:txBody>
      </p:sp>
      <p:sp>
        <p:nvSpPr>
          <p:cNvPr id="9" name="">
            <a:extLst xmlns:a="http://schemas.openxmlformats.org/drawingml/2006/main">
              <a:ext uri="{FF2B5EF4-FFF2-40B4-BE49-F238E27FC236}">
                <a16:creationId xmlns:a16="http://schemas.microsoft.com/office/drawing/2014/main" id="{10605F84-4D33-4E93-8D82-678F93F040B9}"/>
              </a:ext>
            </a:extLst>
          </p:cNvPr>
          <p:cNvSpPr>
            <a:spLocks xmlns:a="http://schemas.openxmlformats.org/drawingml/2006/main" noGrp="1"/>
          </p:cNvSpPr>
          <p:nvPr/>
        </p:nvSpPr>
        <p:spPr>
          <a:xfrm xmlns:a="http://schemas.openxmlformats.org/drawingml/2006/main">
            <a:off x="704850" y="35433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CONNECTIONS</a:t>
            </a:r>
          </a:p>
        </p:txBody>
      </p:sp>
      <p:sp>
        <p:nvSpPr>
          <p:cNvPr id="10" name="">
            <a:extLst xmlns:a="http://schemas.openxmlformats.org/drawingml/2006/main">
              <a:ext uri="{FF2B5EF4-FFF2-40B4-BE49-F238E27FC236}">
                <a16:creationId xmlns:a16="http://schemas.microsoft.com/office/drawing/2014/main" id="{CC25CCF4-52EA-4649-AE28-5EF18DD66528}"/>
              </a:ext>
            </a:extLst>
          </p:cNvPr>
          <p:cNvSpPr>
            <a:spLocks xmlns:a="http://schemas.openxmlformats.org/drawingml/2006/main" noGrp="1"/>
          </p:cNvSpPr>
          <p:nvPr/>
        </p:nvSpPr>
        <p:spPr>
          <a:xfrm xmlns:a="http://schemas.openxmlformats.org/drawingml/2006/main">
            <a:off x="2476500" y="35242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SharePoint, Teams, finance workflow and external sharing.</a:t>
            </a:r>
          </a:p>
        </p:txBody>
      </p:sp>
      <p:sp>
        <p:nvSpPr>
          <p:cNvPr id="11" name="">
            <a:extLst xmlns:a="http://schemas.openxmlformats.org/drawingml/2006/main">
              <a:ext uri="{FF2B5EF4-FFF2-40B4-BE49-F238E27FC236}">
                <a16:creationId xmlns:a16="http://schemas.microsoft.com/office/drawing/2014/main" id="{E5FD1B3B-4891-45BD-B1C9-55A912B50A3E}"/>
              </a:ext>
            </a:extLst>
          </p:cNvPr>
          <p:cNvSpPr>
            <a:spLocks xmlns:a="http://schemas.openxmlformats.org/drawingml/2006/main" noGrp="1"/>
          </p:cNvSpPr>
          <p:nvPr/>
        </p:nvSpPr>
        <p:spPr>
          <a:xfrm xmlns:a="http://schemas.openxmlformats.org/drawingml/2006/main">
            <a:off x="704850" y="42862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AUTHORITY</a:t>
            </a:r>
          </a:p>
        </p:txBody>
      </p:sp>
      <p:sp>
        <p:nvSpPr>
          <p:cNvPr id="12" name="">
            <a:extLst xmlns:a="http://schemas.openxmlformats.org/drawingml/2006/main">
              <a:ext uri="{FF2B5EF4-FFF2-40B4-BE49-F238E27FC236}">
                <a16:creationId xmlns:a16="http://schemas.microsoft.com/office/drawing/2014/main" id="{1619FFE3-88C7-4D4C-A2D6-73D9845AC372}"/>
              </a:ext>
            </a:extLst>
          </p:cNvPr>
          <p:cNvSpPr>
            <a:spLocks xmlns:a="http://schemas.openxmlformats.org/drawingml/2006/main" noGrp="1"/>
          </p:cNvSpPr>
          <p:nvPr/>
        </p:nvSpPr>
        <p:spPr>
          <a:xfrm xmlns:a="http://schemas.openxmlformats.org/drawingml/2006/main">
            <a:off x="2476500" y="42672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May draft payment setup and issue supplier collaboration links.</a:t>
            </a:r>
          </a:p>
        </p:txBody>
      </p:sp>
      <p:sp>
        <p:nvSpPr>
          <p:cNvPr id="13" name="">
            <a:extLst xmlns:a="http://schemas.openxmlformats.org/drawingml/2006/main">
              <a:ext uri="{FF2B5EF4-FFF2-40B4-BE49-F238E27FC236}">
                <a16:creationId xmlns:a16="http://schemas.microsoft.com/office/drawing/2014/main" id="{A2948883-CE56-43D2-9876-682A5078734D}"/>
              </a:ext>
            </a:extLst>
          </p:cNvPr>
          <p:cNvSpPr>
            <a:spLocks xmlns:a="http://schemas.openxmlformats.org/drawingml/2006/main" noGrp="1"/>
          </p:cNvSpPr>
          <p:nvPr/>
        </p:nvSpPr>
        <p:spPr>
          <a:xfrm xmlns:a="http://schemas.openxmlformats.org/drawingml/2006/main">
            <a:off x="704850" y="50292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00FFFF"/>
                </a:solidFill>
                <a:latin typeface="Arial"/>
                <a:ea typeface="Arial"/>
                <a:cs typeface="Arial"/>
              </a:defRPr>
            </a:pPr>
            <a:r>
              <a:rPr sz="975" b="1">
                <a:solidFill>
                  <a:srgbClr val="00FFFF"/>
                </a:solidFill>
                <a:latin typeface="Arial"/>
                <a:ea typeface="Arial"/>
                <a:cs typeface="Arial"/>
              </a:rPr>
              <a:t>YOUR OBJECTIVE</a:t>
            </a:r>
          </a:p>
        </p:txBody>
      </p:sp>
      <p:sp>
        <p:nvSpPr>
          <p:cNvPr id="14" name="">
            <a:extLst xmlns:a="http://schemas.openxmlformats.org/drawingml/2006/main">
              <a:ext uri="{FF2B5EF4-FFF2-40B4-BE49-F238E27FC236}">
                <a16:creationId xmlns:a16="http://schemas.microsoft.com/office/drawing/2014/main" id="{202AE97C-C85F-4056-BAA2-F8303245E268}"/>
              </a:ext>
            </a:extLst>
          </p:cNvPr>
          <p:cNvSpPr>
            <a:spLocks xmlns:a="http://schemas.openxmlformats.org/drawingml/2006/main" noGrp="1"/>
          </p:cNvSpPr>
          <p:nvPr/>
        </p:nvSpPr>
        <p:spPr>
          <a:xfrm xmlns:a="http://schemas.openxmlformats.org/drawingml/2006/main">
            <a:off x="2476500" y="50101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Protect sensitive data and service continuity while preserving evidence.</a:t>
            </a:r>
          </a:p>
        </p:txBody>
      </p:sp>
    </p:spTree>
    <p:extLst>
      <p:ext uri="{BB962C8B-B14F-4D97-AF65-F5344CB8AC3E}">
        <p14:creationId xmlns:p14="http://schemas.microsoft.com/office/powerpoint/2010/main" val="1818502862"/>
      </p:ext>
    </p:extLst>
  </p:cSld>
</p:sld>
</file>

<file path=ppt/slides/slide9.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0825753-1BAE-421D-AFA4-D529DE727AE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ROUND ONE · 12 MINUTES</a:t>
            </a:r>
          </a:p>
        </p:txBody>
      </p:sp>
      <p:sp>
        <p:nvSpPr>
          <p:cNvPr id="2" name="">
            <a:extLst xmlns:a="http://schemas.openxmlformats.org/drawingml/2006/main">
              <a:ext uri="{FF2B5EF4-FFF2-40B4-BE49-F238E27FC236}">
                <a16:creationId xmlns:a16="http://schemas.microsoft.com/office/drawing/2014/main" id="{DFD6C053-6A58-4F4C-B650-188C03B1D61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09:17 · Legitimate identity, unexpected reach</a:t>
            </a:r>
          </a:p>
        </p:txBody>
      </p:sp>
      <p:sp>
        <p:nvSpPr>
          <p:cNvPr id="3" name="">
            <a:extLst xmlns:a="http://schemas.openxmlformats.org/drawingml/2006/main">
              <a:ext uri="{FF2B5EF4-FFF2-40B4-BE49-F238E27FC236}">
                <a16:creationId xmlns:a16="http://schemas.microsoft.com/office/drawing/2014/main" id="{553EE294-01C1-4EA9-A67C-D8F1D4BCF9A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640BB447-C2A7-4556-8770-CFA55D4D4930}"/>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217A4A3-16C2-40AC-8F8E-4BAD74B063AA}"/>
              </a:ext>
            </a:extLst>
          </p:cNvPr>
          <p:cNvSpPr>
            <a:spLocks xmlns:a="http://schemas.openxmlformats.org/drawingml/2006/main" noGrp="1"/>
          </p:cNvSpPr>
          <p:nvPr/>
        </p:nvSpPr>
        <p:spPr>
          <a:xfrm xmlns:a="http://schemas.openxmlformats.org/drawingml/2006/main">
            <a:off x="638175" y="1257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1">
                <a:solidFill>
                  <a:srgbClr val="00FFFF"/>
                </a:solidFill>
                <a:latin typeface="Arial"/>
                <a:ea typeface="Arial"/>
                <a:cs typeface="Arial"/>
              </a:defRPr>
            </a:pPr>
            <a:r>
              <a:rPr sz="2400" b="1">
                <a:solidFill>
                  <a:srgbClr val="00FFFF"/>
                </a:solidFill>
                <a:latin typeface="Arial"/>
                <a:ea typeface="Arial"/>
                <a:cs typeface="Arial"/>
              </a:rPr>
              <a:t>What do you stop first?</a:t>
            </a:r>
          </a:p>
        </p:txBody>
      </p:sp>
      <p:sp>
        <p:nvSpPr>
          <p:cNvPr id="6" name="">
            <a:extLst xmlns:a="http://schemas.openxmlformats.org/drawingml/2006/main">
              <a:ext uri="{FF2B5EF4-FFF2-40B4-BE49-F238E27FC236}">
                <a16:creationId xmlns:a16="http://schemas.microsoft.com/office/drawing/2014/main" id="{98D89E4E-33DA-4CAC-8826-CD1BC9F90640}"/>
              </a:ext>
            </a:extLst>
          </p:cNvPr>
          <p:cNvSpPr>
            <a:spLocks xmlns:a="http://schemas.openxmlformats.org/drawingml/2006/main" noGrp="1"/>
          </p:cNvSpPr>
          <p:nvPr/>
        </p:nvSpPr>
        <p:spPr>
          <a:xfrm xmlns:a="http://schemas.openxmlformats.org/drawingml/2006/main">
            <a:off x="723900" y="1971675"/>
            <a:ext cx="190500" cy="190500"/>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C191E9-5FE1-4413-9F20-90777607CC82}"/>
              </a:ext>
            </a:extLst>
          </p:cNvPr>
          <p:cNvSpPr>
            <a:spLocks xmlns:a="http://schemas.openxmlformats.org/drawingml/2006/main" noGrp="1"/>
          </p:cNvSpPr>
          <p:nvPr/>
        </p:nvSpPr>
        <p:spPr>
          <a:xfrm xmlns:a="http://schemas.openxmlformats.org/drawingml/2006/main">
            <a:off x="1104900" y="18859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2,400 documents read outside procurement in 11 minutes</a:t>
            </a:r>
          </a:p>
        </p:txBody>
      </p:sp>
      <p:sp>
        <p:nvSpPr>
          <p:cNvPr id="8" name="">
            <a:extLst xmlns:a="http://schemas.openxmlformats.org/drawingml/2006/main">
              <a:ext uri="{FF2B5EF4-FFF2-40B4-BE49-F238E27FC236}">
                <a16:creationId xmlns:a16="http://schemas.microsoft.com/office/drawing/2014/main" id="{3EBFAF19-DA3D-4B2E-9E86-D58502D58288}"/>
              </a:ext>
            </a:extLst>
          </p:cNvPr>
          <p:cNvSpPr>
            <a:spLocks xmlns:a="http://schemas.openxmlformats.org/drawingml/2006/main" noGrp="1"/>
          </p:cNvSpPr>
          <p:nvPr/>
        </p:nvSpPr>
        <p:spPr>
          <a:xfrm xmlns:a="http://schemas.openxmlformats.org/drawingml/2006/main">
            <a:off x="723900" y="2514600"/>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EABC30-0C6B-4A50-87B8-3B1860A0E45C}"/>
              </a:ext>
            </a:extLst>
          </p:cNvPr>
          <p:cNvSpPr>
            <a:spLocks xmlns:a="http://schemas.openxmlformats.org/drawingml/2006/main" noGrp="1"/>
          </p:cNvSpPr>
          <p:nvPr/>
        </p:nvSpPr>
        <p:spPr>
          <a:xfrm xmlns:a="http://schemas.openxmlformats.org/drawingml/2006/main">
            <a:off x="1104900" y="24288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No error or warning from the agent</a:t>
            </a:r>
          </a:p>
        </p:txBody>
      </p:sp>
      <p:sp>
        <p:nvSpPr>
          <p:cNvPr id="10" name="">
            <a:extLst xmlns:a="http://schemas.openxmlformats.org/drawingml/2006/main">
              <a:ext uri="{FF2B5EF4-FFF2-40B4-BE49-F238E27FC236}">
                <a16:creationId xmlns:a16="http://schemas.microsoft.com/office/drawing/2014/main" id="{6629E30D-E2F1-435C-B57B-7EFCBBE81D4D}"/>
              </a:ext>
            </a:extLst>
          </p:cNvPr>
          <p:cNvSpPr>
            <a:spLocks xmlns:a="http://schemas.openxmlformats.org/drawingml/2006/main" noGrp="1"/>
          </p:cNvSpPr>
          <p:nvPr/>
        </p:nvSpPr>
        <p:spPr>
          <a:xfrm xmlns:a="http://schemas.openxmlformats.org/drawingml/2006/main">
            <a:off x="723900" y="3057525"/>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BFD301C-0DD9-4847-9620-07D8DDA89A3E}"/>
              </a:ext>
            </a:extLst>
          </p:cNvPr>
          <p:cNvSpPr>
            <a:spLocks xmlns:a="http://schemas.openxmlformats.org/drawingml/2006/main" noGrp="1"/>
          </p:cNvSpPr>
          <p:nvPr/>
        </p:nvSpPr>
        <p:spPr>
          <a:xfrm xmlns:a="http://schemas.openxmlformats.org/drawingml/2006/main">
            <a:off x="1104900" y="29718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A new supplier PDF is the only known change</a:t>
            </a:r>
          </a:p>
        </p:txBody>
      </p:sp>
      <p:sp>
        <p:nvSpPr>
          <p:cNvPr id="12" name="">
            <a:extLst xmlns:a="http://schemas.openxmlformats.org/drawingml/2006/main">
              <a:ext uri="{FF2B5EF4-FFF2-40B4-BE49-F238E27FC236}">
                <a16:creationId xmlns:a16="http://schemas.microsoft.com/office/drawing/2014/main" id="{A1C7C923-B9A1-4EC6-970F-51EB4F13681B}"/>
              </a:ext>
            </a:extLst>
          </p:cNvPr>
          <p:cNvSpPr>
            <a:spLocks xmlns:a="http://schemas.openxmlformats.org/drawingml/2006/main" noGrp="1"/>
          </p:cNvSpPr>
          <p:nvPr/>
        </p:nvSpPr>
        <p:spPr>
          <a:xfrm xmlns:a="http://schemas.openxmlformats.org/drawingml/2006/main">
            <a:off x="6286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6F186209-620E-45B1-978C-C81256957291}"/>
              </a:ext>
            </a:extLst>
          </p:cNvPr>
          <p:cNvSpPr>
            <a:spLocks xmlns:a="http://schemas.openxmlformats.org/drawingml/2006/main" noGrp="1"/>
          </p:cNvSpPr>
          <p:nvPr/>
        </p:nvSpPr>
        <p:spPr>
          <a:xfrm xmlns:a="http://schemas.openxmlformats.org/drawingml/2006/main">
            <a:off x="8001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A</a:t>
            </a:r>
          </a:p>
        </p:txBody>
      </p:sp>
      <p:sp>
        <p:nvSpPr>
          <p:cNvPr id="14" name="">
            <a:extLst xmlns:a="http://schemas.openxmlformats.org/drawingml/2006/main">
              <a:ext uri="{FF2B5EF4-FFF2-40B4-BE49-F238E27FC236}">
                <a16:creationId xmlns:a16="http://schemas.microsoft.com/office/drawing/2014/main" id="{69E25FFE-79F6-4425-A789-58AC5A9B2B83}"/>
              </a:ext>
            </a:extLst>
          </p:cNvPr>
          <p:cNvSpPr>
            <a:spLocks xmlns:a="http://schemas.openxmlformats.org/drawingml/2006/main" noGrp="1"/>
          </p:cNvSpPr>
          <p:nvPr/>
        </p:nvSpPr>
        <p:spPr>
          <a:xfrm xmlns:a="http://schemas.openxmlformats.org/drawingml/2006/main">
            <a:off x="12668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Pause the entire agent</a:t>
            </a:r>
          </a:p>
        </p:txBody>
      </p:sp>
      <p:sp>
        <p:nvSpPr>
          <p:cNvPr id="15" name="">
            <a:extLst xmlns:a="http://schemas.openxmlformats.org/drawingml/2006/main">
              <a:ext uri="{FF2B5EF4-FFF2-40B4-BE49-F238E27FC236}">
                <a16:creationId xmlns:a16="http://schemas.microsoft.com/office/drawing/2014/main" id="{91A4C323-00ED-474E-AF36-A1348E30F38F}"/>
              </a:ext>
            </a:extLst>
          </p:cNvPr>
          <p:cNvSpPr>
            <a:spLocks xmlns:a="http://schemas.openxmlformats.org/drawingml/2006/main" noGrp="1"/>
          </p:cNvSpPr>
          <p:nvPr/>
        </p:nvSpPr>
        <p:spPr>
          <a:xfrm xmlns:a="http://schemas.openxmlformats.org/drawingml/2006/main">
            <a:off x="34290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5874DF87-284D-4792-89D9-C26934868E28}"/>
              </a:ext>
            </a:extLst>
          </p:cNvPr>
          <p:cNvSpPr>
            <a:spLocks xmlns:a="http://schemas.openxmlformats.org/drawingml/2006/main" noGrp="1"/>
          </p:cNvSpPr>
          <p:nvPr/>
        </p:nvSpPr>
        <p:spPr>
          <a:xfrm xmlns:a="http://schemas.openxmlformats.org/drawingml/2006/main">
            <a:off x="36004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B</a:t>
            </a:r>
          </a:p>
        </p:txBody>
      </p:sp>
      <p:sp>
        <p:nvSpPr>
          <p:cNvPr id="17" name="">
            <a:extLst xmlns:a="http://schemas.openxmlformats.org/drawingml/2006/main">
              <a:ext uri="{FF2B5EF4-FFF2-40B4-BE49-F238E27FC236}">
                <a16:creationId xmlns:a16="http://schemas.microsoft.com/office/drawing/2014/main" id="{A8394F86-D84C-47C2-988C-0D4555DA5FC7}"/>
              </a:ext>
            </a:extLst>
          </p:cNvPr>
          <p:cNvSpPr>
            <a:spLocks xmlns:a="http://schemas.openxmlformats.org/drawingml/2006/main" noGrp="1"/>
          </p:cNvSpPr>
          <p:nvPr/>
        </p:nvSpPr>
        <p:spPr>
          <a:xfrm xmlns:a="http://schemas.openxmlformats.org/drawingml/2006/main">
            <a:off x="40671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Disable sharing and write actions; retain read-only evidence access</a:t>
            </a:r>
          </a:p>
        </p:txBody>
      </p:sp>
      <p:sp>
        <p:nvSpPr>
          <p:cNvPr id="18" name="">
            <a:extLst xmlns:a="http://schemas.openxmlformats.org/drawingml/2006/main">
              <a:ext uri="{FF2B5EF4-FFF2-40B4-BE49-F238E27FC236}">
                <a16:creationId xmlns:a16="http://schemas.microsoft.com/office/drawing/2014/main" id="{3936C6A3-ECCA-4557-8189-EB4F7E0B6D94}"/>
              </a:ext>
            </a:extLst>
          </p:cNvPr>
          <p:cNvSpPr>
            <a:spLocks xmlns:a="http://schemas.openxmlformats.org/drawingml/2006/main" noGrp="1"/>
          </p:cNvSpPr>
          <p:nvPr/>
        </p:nvSpPr>
        <p:spPr>
          <a:xfrm xmlns:a="http://schemas.openxmlformats.org/drawingml/2006/main">
            <a:off x="62293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64E7D96B-073C-4258-B2E0-A48CD5F7BCAF}"/>
              </a:ext>
            </a:extLst>
          </p:cNvPr>
          <p:cNvSpPr>
            <a:spLocks xmlns:a="http://schemas.openxmlformats.org/drawingml/2006/main" noGrp="1"/>
          </p:cNvSpPr>
          <p:nvPr/>
        </p:nvSpPr>
        <p:spPr>
          <a:xfrm xmlns:a="http://schemas.openxmlformats.org/drawingml/2006/main">
            <a:off x="64008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C</a:t>
            </a:r>
          </a:p>
        </p:txBody>
      </p:sp>
      <p:sp>
        <p:nvSpPr>
          <p:cNvPr id="20" name="">
            <a:extLst xmlns:a="http://schemas.openxmlformats.org/drawingml/2006/main">
              <a:ext uri="{FF2B5EF4-FFF2-40B4-BE49-F238E27FC236}">
                <a16:creationId xmlns:a16="http://schemas.microsoft.com/office/drawing/2014/main" id="{F445883E-A15B-413A-8884-EAD39EA2C594}"/>
              </a:ext>
            </a:extLst>
          </p:cNvPr>
          <p:cNvSpPr>
            <a:spLocks xmlns:a="http://schemas.openxmlformats.org/drawingml/2006/main" noGrp="1"/>
          </p:cNvSpPr>
          <p:nvPr/>
        </p:nvSpPr>
        <p:spPr>
          <a:xfrm xmlns:a="http://schemas.openxmlformats.org/drawingml/2006/main">
            <a:off x="68675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Observe for ten more minutes and capture the full chain</a:t>
            </a:r>
          </a:p>
        </p:txBody>
      </p:sp>
      <p:sp>
        <p:nvSpPr>
          <p:cNvPr id="21" name="">
            <a:extLst xmlns:a="http://schemas.openxmlformats.org/drawingml/2006/main">
              <a:ext uri="{FF2B5EF4-FFF2-40B4-BE49-F238E27FC236}">
                <a16:creationId xmlns:a16="http://schemas.microsoft.com/office/drawing/2014/main" id="{84EBE85D-3A7C-4A18-88AC-D3217BBBC226}"/>
              </a:ext>
            </a:extLst>
          </p:cNvPr>
          <p:cNvSpPr>
            <a:spLocks xmlns:a="http://schemas.openxmlformats.org/drawingml/2006/main" noGrp="1"/>
          </p:cNvSpPr>
          <p:nvPr/>
        </p:nvSpPr>
        <p:spPr>
          <a:xfrm xmlns:a="http://schemas.openxmlformats.org/drawingml/2006/main">
            <a:off x="90297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0572026F-6B97-4744-90D4-7A685F2C27D2}"/>
              </a:ext>
            </a:extLst>
          </p:cNvPr>
          <p:cNvSpPr>
            <a:spLocks xmlns:a="http://schemas.openxmlformats.org/drawingml/2006/main" noGrp="1"/>
          </p:cNvSpPr>
          <p:nvPr/>
        </p:nvSpPr>
        <p:spPr>
          <a:xfrm xmlns:a="http://schemas.openxmlformats.org/drawingml/2006/main">
            <a:off x="92011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08FF494A-EF83-4EB6-AE61-6E721CAD329A}"/>
              </a:ext>
            </a:extLst>
          </p:cNvPr>
          <p:cNvSpPr>
            <a:spLocks xmlns:a="http://schemas.openxmlformats.org/drawingml/2006/main" noGrp="1"/>
          </p:cNvSpPr>
          <p:nvPr/>
        </p:nvSpPr>
        <p:spPr>
          <a:xfrm xmlns:a="http://schemas.openxmlformats.org/drawingml/2006/main">
            <a:off x="96678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Take another action and state it precisely</a:t>
            </a:r>
          </a:p>
        </p:txBody>
      </p:sp>
      <p:sp>
        <p:nvSpPr>
          <p:cNvPr id="24" name="">
            <a:extLst xmlns:a="http://schemas.openxmlformats.org/drawingml/2006/main">
              <a:ext uri="{FF2B5EF4-FFF2-40B4-BE49-F238E27FC236}">
                <a16:creationId xmlns:a16="http://schemas.microsoft.com/office/drawing/2014/main" id="{99003EB8-1A10-4DE8-A039-7694A2C1EA5E}"/>
              </a:ext>
            </a:extLst>
          </p:cNvPr>
          <p:cNvSpPr>
            <a:spLocks xmlns:a="http://schemas.openxmlformats.org/drawingml/2006/main" noGrp="1"/>
          </p:cNvSpPr>
          <p:nvPr/>
        </p:nvSpPr>
        <p:spPr>
          <a:xfrm xmlns:a="http://schemas.openxmlformats.org/drawingml/2006/main">
            <a:off x="638175" y="58388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78DCFF"/>
                </a:solidFill>
                <a:latin typeface="Arial"/>
                <a:ea typeface="Arial"/>
                <a:cs typeface="Arial"/>
              </a:defRPr>
            </a:pPr>
            <a:r>
              <a:rPr sz="1575" b="1">
                <a:solidFill>
                  <a:srgbClr val="78DCFF"/>
                </a:solidFill>
                <a:latin typeface="Arial"/>
                <a:ea typeface="Arial"/>
                <a:cs typeface="Arial"/>
              </a:rPr>
              <a:t>Lock: option · confidence 1–5 · one-sentence rationale</a:t>
            </a:r>
          </a:p>
        </p:txBody>
      </p:sp>
    </p:spTree>
    <p:extLst>
      <p:ext uri="{BB962C8B-B14F-4D97-AF65-F5344CB8AC3E}">
        <p14:creationId xmlns:p14="http://schemas.microsoft.com/office/powerpoint/2010/main" val="1355472495"/>
      </p:ext>
    </p:extLst>
  </p:cSld>
</p:sld>
</file>

<file path=ppt/slides/slide10.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A1140AD-7738-4243-99B5-3115E6519D2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ONE · ROUND TWO · 12 MINUTES</a:t>
            </a:r>
          </a:p>
        </p:txBody>
      </p:sp>
      <p:sp>
        <p:nvSpPr>
          <p:cNvPr id="2" name="">
            <a:extLst xmlns:a="http://schemas.openxmlformats.org/drawingml/2006/main">
              <a:ext uri="{FF2B5EF4-FFF2-40B4-BE49-F238E27FC236}">
                <a16:creationId xmlns:a16="http://schemas.microsoft.com/office/drawing/2014/main" id="{2CFC6FAF-E9AD-4D8A-A302-98FA00C78B36}"/>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instruction was inside the data</a:t>
            </a:r>
          </a:p>
        </p:txBody>
      </p:sp>
      <p:sp>
        <p:nvSpPr>
          <p:cNvPr id="3" name="">
            <a:extLst xmlns:a="http://schemas.openxmlformats.org/drawingml/2006/main">
              <a:ext uri="{FF2B5EF4-FFF2-40B4-BE49-F238E27FC236}">
                <a16:creationId xmlns:a16="http://schemas.microsoft.com/office/drawing/2014/main" id="{59C6A3D5-FF14-45A3-ABF5-6436B9029B19}"/>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192B30A-13C4-452F-91B8-F226D3C3F8EE}"/>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82E73E35-CAF4-4B68-890F-6868673FB1B4}"/>
              </a:ext>
            </a:extLst>
          </p:cNvPr>
          <p:cNvSpPr>
            <a:spLocks xmlns:a="http://schemas.openxmlformats.org/drawingml/2006/main" noGrp="1"/>
          </p:cNvSpPr>
          <p:nvPr/>
        </p:nvSpPr>
        <p:spPr>
          <a:xfrm xmlns:a="http://schemas.openxmlformats.org/drawingml/2006/main">
            <a:off x="647700" y="13716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REVEAL</a:t>
            </a:r>
          </a:p>
        </p:txBody>
      </p:sp>
      <p:sp>
        <p:nvSpPr>
          <p:cNvPr id="6" name="">
            <a:extLst xmlns:a="http://schemas.openxmlformats.org/drawingml/2006/main">
              <a:ext uri="{FF2B5EF4-FFF2-40B4-BE49-F238E27FC236}">
                <a16:creationId xmlns:a16="http://schemas.microsoft.com/office/drawing/2014/main" id="{C31A720A-3D49-4F2E-96DD-0956F07DCC93}"/>
              </a:ext>
            </a:extLst>
          </p:cNvPr>
          <p:cNvSpPr>
            <a:spLocks xmlns:a="http://schemas.openxmlformats.org/drawingml/2006/main" noGrp="1"/>
          </p:cNvSpPr>
          <p:nvPr/>
        </p:nvSpPr>
        <p:spPr>
          <a:xfrm xmlns:a="http://schemas.openxmlformats.org/drawingml/2006/main">
            <a:off x="685800" y="18669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095F9D3-DB99-4B79-8014-1128CF3D34A3}"/>
              </a:ext>
            </a:extLst>
          </p:cNvPr>
          <p:cNvSpPr>
            <a:spLocks xmlns:a="http://schemas.openxmlformats.org/drawingml/2006/main" noGrp="1"/>
          </p:cNvSpPr>
          <p:nvPr/>
        </p:nvSpPr>
        <p:spPr>
          <a:xfrm xmlns:a="http://schemas.openxmlformats.org/drawingml/2006/main">
            <a:off x="1238250" y="18192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The supplier PDF contained hidden instructions to find comparable customer contracts.</a:t>
            </a:r>
          </a:p>
        </p:txBody>
      </p:sp>
      <p:sp>
        <p:nvSpPr>
          <p:cNvPr id="8" name="">
            <a:extLst xmlns:a="http://schemas.openxmlformats.org/drawingml/2006/main">
              <a:ext uri="{FF2B5EF4-FFF2-40B4-BE49-F238E27FC236}">
                <a16:creationId xmlns:a16="http://schemas.microsoft.com/office/drawing/2014/main" id="{D8A7B323-2D17-4252-B535-FBE920797AF8}"/>
              </a:ext>
            </a:extLst>
          </p:cNvPr>
          <p:cNvSpPr>
            <a:spLocks xmlns:a="http://schemas.openxmlformats.org/drawingml/2006/main" noGrp="1"/>
          </p:cNvSpPr>
          <p:nvPr/>
        </p:nvSpPr>
        <p:spPr>
          <a:xfrm xmlns:a="http://schemas.openxmlformats.org/drawingml/2006/main">
            <a:off x="685800" y="25717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B4C15BA-A662-40D4-943A-CC969C684082}"/>
              </a:ext>
            </a:extLst>
          </p:cNvPr>
          <p:cNvSpPr>
            <a:spLocks xmlns:a="http://schemas.openxmlformats.org/drawingml/2006/main" noGrp="1"/>
          </p:cNvSpPr>
          <p:nvPr/>
        </p:nvSpPr>
        <p:spPr>
          <a:xfrm xmlns:a="http://schemas.openxmlformats.org/drawingml/2006/main">
            <a:off x="1238250" y="252412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 agent created an external sharing link.</a:t>
            </a:r>
          </a:p>
        </p:txBody>
      </p:sp>
      <p:sp>
        <p:nvSpPr>
          <p:cNvPr id="10" name="">
            <a:extLst xmlns:a="http://schemas.openxmlformats.org/drawingml/2006/main">
              <a:ext uri="{FF2B5EF4-FFF2-40B4-BE49-F238E27FC236}">
                <a16:creationId xmlns:a16="http://schemas.microsoft.com/office/drawing/2014/main" id="{3BBD3E10-66DE-4BDE-9F08-6E87C935FEF4}"/>
              </a:ext>
            </a:extLst>
          </p:cNvPr>
          <p:cNvSpPr>
            <a:spLocks xmlns:a="http://schemas.openxmlformats.org/drawingml/2006/main" noGrp="1"/>
          </p:cNvSpPr>
          <p:nvPr/>
        </p:nvSpPr>
        <p:spPr>
          <a:xfrm xmlns:a="http://schemas.openxmlformats.org/drawingml/2006/main">
            <a:off x="685800" y="32766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CFD842A-CFC6-4F61-A394-66CBDC9DEDB6}"/>
              </a:ext>
            </a:extLst>
          </p:cNvPr>
          <p:cNvSpPr>
            <a:spLocks xmlns:a="http://schemas.openxmlformats.org/drawingml/2006/main" noGrp="1"/>
          </p:cNvSpPr>
          <p:nvPr/>
        </p:nvSpPr>
        <p:spPr>
          <a:xfrm xmlns:a="http://schemas.openxmlformats.org/drawingml/2006/main">
            <a:off x="1238250" y="32289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There is no evidence yet that the link was opened.</a:t>
            </a:r>
          </a:p>
        </p:txBody>
      </p:sp>
      <p:sp>
        <p:nvSpPr>
          <p:cNvPr id="12" name="">
            <a:extLst xmlns:a="http://schemas.openxmlformats.org/drawingml/2006/main">
              <a:ext uri="{FF2B5EF4-FFF2-40B4-BE49-F238E27FC236}">
                <a16:creationId xmlns:a16="http://schemas.microsoft.com/office/drawing/2014/main" id="{6BA74AEB-2E4D-4286-9FDB-CFAE8E2BED2D}"/>
              </a:ext>
            </a:extLst>
          </p:cNvPr>
          <p:cNvSpPr>
            <a:spLocks xmlns:a="http://schemas.openxmlformats.org/drawingml/2006/main" noGrp="1"/>
          </p:cNvSpPr>
          <p:nvPr/>
        </p:nvSpPr>
        <p:spPr>
          <a:xfrm xmlns:a="http://schemas.openxmlformats.org/drawingml/2006/main">
            <a:off x="666750" y="4114800"/>
            <a:ext cx="10572750" cy="9525"/>
          </a:xfrm>
          <a:prstGeom xmlns:a="http://schemas.openxmlformats.org/drawingml/2006/main" prst="line">
            <a:avLst/>
          </a:prstGeom>
          <a:noFill xmlns:a="http://schemas.openxmlformats.org/drawingml/2006/main"/>
          <a:ln xmlns:a="http://schemas.openxmlformats.org/drawingml/2006/main" w="19050">
            <a:solidFill>
              <a:srgbClr val="25466E"/>
            </a:solidFill>
            <a:prstDash val="solid"/>
          </a:ln>
        </p:spPr>
      </p:sp>
      <p:sp>
        <p:nvSpPr>
          <p:cNvPr id="13" name="">
            <a:extLst xmlns:a="http://schemas.openxmlformats.org/drawingml/2006/main">
              <a:ext uri="{FF2B5EF4-FFF2-40B4-BE49-F238E27FC236}">
                <a16:creationId xmlns:a16="http://schemas.microsoft.com/office/drawing/2014/main" id="{259E8C7B-FF10-4886-89CD-E29DCB365F88}"/>
              </a:ext>
            </a:extLst>
          </p:cNvPr>
          <p:cNvSpPr>
            <a:spLocks xmlns:a="http://schemas.openxmlformats.org/drawingml/2006/main" noGrp="1"/>
          </p:cNvSpPr>
          <p:nvPr/>
        </p:nvSpPr>
        <p:spPr>
          <a:xfrm xmlns:a="http://schemas.openxmlformats.org/drawingml/2006/main">
            <a:off x="685800" y="4419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YOUR NEXT DECISION</a:t>
            </a:r>
          </a:p>
        </p:txBody>
      </p:sp>
      <p:sp>
        <p:nvSpPr>
          <p:cNvPr id="14" name="">
            <a:extLst xmlns:a="http://schemas.openxmlformats.org/drawingml/2006/main">
              <a:ext uri="{FF2B5EF4-FFF2-40B4-BE49-F238E27FC236}">
                <a16:creationId xmlns:a16="http://schemas.microsoft.com/office/drawing/2014/main" id="{455819BC-C20C-4723-90F2-F647999ECD50}"/>
              </a:ext>
            </a:extLst>
          </p:cNvPr>
          <p:cNvSpPr>
            <a:spLocks xmlns:a="http://schemas.openxmlformats.org/drawingml/2006/main" noGrp="1"/>
          </p:cNvSpPr>
          <p:nvPr/>
        </p:nvSpPr>
        <p:spPr>
          <a:xfrm xmlns:a="http://schemas.openxmlformats.org/drawingml/2006/main">
            <a:off x="685800" y="48006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2175" b="1">
                <a:solidFill>
                  <a:srgbClr val="FFFFFF"/>
                </a:solidFill>
                <a:latin typeface="Arial"/>
                <a:ea typeface="Arial"/>
                <a:cs typeface="Arial"/>
              </a:defRPr>
            </a:pPr>
            <a:r>
              <a:rPr sz="2175" b="1">
                <a:solidFill>
                  <a:srgbClr val="FFFFFF"/>
                </a:solidFill>
                <a:latin typeface="Arial"/>
                <a:ea typeface="Arial"/>
                <a:cs typeface="Arial"/>
              </a:rPr>
              <a:t>Name the incident lead. Scope containment. Preserve the evidence that proves how the workflow reached the action.</a:t>
            </a:r>
          </a:p>
        </p:txBody>
      </p:sp>
    </p:spTree>
    <p:extLst>
      <p:ext uri="{BB962C8B-B14F-4D97-AF65-F5344CB8AC3E}">
        <p14:creationId xmlns:p14="http://schemas.microsoft.com/office/powerpoint/2010/main" val="1878148773"/>
      </p:ext>
    </p:extLst>
  </p:cSld>
</p:sld>
</file>

<file path=ppt/slides/slide11.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B1166D-381D-454D-9E4C-BA4A491D75F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TWO · ROUND THREE · 12 MINUTES</a:t>
            </a:r>
          </a:p>
        </p:txBody>
      </p:sp>
      <p:sp>
        <p:nvSpPr>
          <p:cNvPr id="2" name="">
            <a:extLst xmlns:a="http://schemas.openxmlformats.org/drawingml/2006/main">
              <a:ext uri="{FF2B5EF4-FFF2-40B4-BE49-F238E27FC236}">
                <a16:creationId xmlns:a16="http://schemas.microsoft.com/office/drawing/2014/main" id="{D52CDB8B-D2BB-413B-9A7E-54CCC32FDA81}"/>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Containment is now a continuity decision</a:t>
            </a:r>
          </a:p>
        </p:txBody>
      </p:sp>
      <p:sp>
        <p:nvSpPr>
          <p:cNvPr id="3" name="">
            <a:extLst xmlns:a="http://schemas.openxmlformats.org/drawingml/2006/main">
              <a:ext uri="{FF2B5EF4-FFF2-40B4-BE49-F238E27FC236}">
                <a16:creationId xmlns:a16="http://schemas.microsoft.com/office/drawing/2014/main" id="{B518F5AE-428E-4071-AC81-C4FC1B8E10D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0930ACDF-C8DD-4ACA-8E07-C34A3CADE14C}"/>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4A5F02E5-6CC1-4554-B761-3465F266AF69}"/>
              </a:ext>
            </a:extLst>
          </p:cNvPr>
          <p:cNvSpPr>
            <a:spLocks xmlns:a="http://schemas.openxmlformats.org/drawingml/2006/main" noGrp="1"/>
          </p:cNvSpPr>
          <p:nvPr/>
        </p:nvSpPr>
        <p:spPr>
          <a:xfrm xmlns:a="http://schemas.openxmlformats.org/drawingml/2006/main">
            <a:off x="647700" y="13620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THE LOOP</a:t>
            </a:r>
          </a:p>
        </p:txBody>
      </p:sp>
      <p:sp>
        <p:nvSpPr>
          <p:cNvPr id="6" name="">
            <a:extLst xmlns:a="http://schemas.openxmlformats.org/drawingml/2006/main">
              <a:ext uri="{FF2B5EF4-FFF2-40B4-BE49-F238E27FC236}">
                <a16:creationId xmlns:a16="http://schemas.microsoft.com/office/drawing/2014/main" id="{A7419867-D6A7-4FA8-883E-4806BC223DC2}"/>
              </a:ext>
            </a:extLst>
          </p:cNvPr>
          <p:cNvSpPr>
            <a:spLocks xmlns:a="http://schemas.openxmlformats.org/drawingml/2006/main" noGrp="1"/>
          </p:cNvSpPr>
          <p:nvPr/>
        </p:nvSpPr>
        <p:spPr>
          <a:xfrm xmlns:a="http://schemas.openxmlformats.org/drawingml/2006/main">
            <a:off x="666750" y="1847850"/>
            <a:ext cx="76200" cy="552450"/>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620F48-355C-435D-8A2D-A6E3842AED5C}"/>
              </a:ext>
            </a:extLst>
          </p:cNvPr>
          <p:cNvSpPr>
            <a:spLocks xmlns:a="http://schemas.openxmlformats.org/drawingml/2006/main" noGrp="1"/>
          </p:cNvSpPr>
          <p:nvPr/>
        </p:nvSpPr>
        <p:spPr>
          <a:xfrm xmlns:a="http://schemas.openxmlformats.org/drawingml/2006/main">
            <a:off x="971550" y="1790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The same service identity runs supplier payments and a customer-order automation.</a:t>
            </a:r>
          </a:p>
        </p:txBody>
      </p:sp>
      <p:sp>
        <p:nvSpPr>
          <p:cNvPr id="8" name="">
            <a:extLst xmlns:a="http://schemas.openxmlformats.org/drawingml/2006/main">
              <a:ext uri="{FF2B5EF4-FFF2-40B4-BE49-F238E27FC236}">
                <a16:creationId xmlns:a16="http://schemas.microsoft.com/office/drawing/2014/main" id="{29277C5C-95FE-4B74-8D6A-14EAA6D97AFC}"/>
              </a:ext>
            </a:extLst>
          </p:cNvPr>
          <p:cNvSpPr>
            <a:spLocks xmlns:a="http://schemas.openxmlformats.org/drawingml/2006/main" noGrp="1"/>
          </p:cNvSpPr>
          <p:nvPr/>
        </p:nvSpPr>
        <p:spPr>
          <a:xfrm xmlns:a="http://schemas.openxmlformats.org/drawingml/2006/main">
            <a:off x="666750" y="2609850"/>
            <a:ext cx="76200" cy="55245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E0D1D7-7758-41A7-8835-1B686285DC73}"/>
              </a:ext>
            </a:extLst>
          </p:cNvPr>
          <p:cNvSpPr>
            <a:spLocks xmlns:a="http://schemas.openxmlformats.org/drawingml/2006/main" noGrp="1"/>
          </p:cNvSpPr>
          <p:nvPr/>
        </p:nvSpPr>
        <p:spPr>
          <a:xfrm xmlns:a="http://schemas.openxmlformats.org/drawingml/2006/main">
            <a:off x="971550" y="2552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Revoking it stops both. Payment cut-off is in 25 minutes.</a:t>
            </a:r>
          </a:p>
        </p:txBody>
      </p:sp>
      <p:sp>
        <p:nvSpPr>
          <p:cNvPr id="10" name="">
            <a:extLst xmlns:a="http://schemas.openxmlformats.org/drawingml/2006/main">
              <a:ext uri="{FF2B5EF4-FFF2-40B4-BE49-F238E27FC236}">
                <a16:creationId xmlns:a16="http://schemas.microsoft.com/office/drawing/2014/main" id="{4A19A893-A447-40F8-A2CA-A170ED3F55BB}"/>
              </a:ext>
            </a:extLst>
          </p:cNvPr>
          <p:cNvSpPr>
            <a:spLocks xmlns:a="http://schemas.openxmlformats.org/drawingml/2006/main" noGrp="1"/>
          </p:cNvSpPr>
          <p:nvPr/>
        </p:nvSpPr>
        <p:spPr>
          <a:xfrm xmlns:a="http://schemas.openxmlformats.org/drawingml/2006/main">
            <a:off x="666750" y="3371850"/>
            <a:ext cx="76200" cy="552450"/>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A20CD4-D2A0-40FD-9C6C-C1682CC93DAC}"/>
              </a:ext>
            </a:extLst>
          </p:cNvPr>
          <p:cNvSpPr>
            <a:spLocks xmlns:a="http://schemas.openxmlformats.org/drawingml/2006/main" noGrp="1"/>
          </p:cNvSpPr>
          <p:nvPr/>
        </p:nvSpPr>
        <p:spPr>
          <a:xfrm xmlns:a="http://schemas.openxmlformats.org/drawingml/2006/main">
            <a:off x="971550" y="3314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Republishing Atlas overwrites part of the trace. A major customer asks whether its terms were exposed.</a:t>
            </a:r>
          </a:p>
        </p:txBody>
      </p:sp>
      <p:sp>
        <p:nvSpPr>
          <p:cNvPr id="12" name="">
            <a:extLst xmlns:a="http://schemas.openxmlformats.org/drawingml/2006/main">
              <a:ext uri="{FF2B5EF4-FFF2-40B4-BE49-F238E27FC236}">
                <a16:creationId xmlns:a16="http://schemas.microsoft.com/office/drawing/2014/main" id="{6C042C6B-A02E-4A85-A350-CDE415197927}"/>
              </a:ext>
            </a:extLst>
          </p:cNvPr>
          <p:cNvSpPr>
            <a:spLocks xmlns:a="http://schemas.openxmlformats.org/drawingml/2006/main" noGrp="1"/>
          </p:cNvSpPr>
          <p:nvPr/>
        </p:nvSpPr>
        <p:spPr>
          <a:xfrm xmlns:a="http://schemas.openxmlformats.org/drawingml/2006/main">
            <a:off x="666750" y="4333875"/>
            <a:ext cx="105727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10A83B2B-EE27-483D-84BA-5FB17A7BBE89}"/>
              </a:ext>
            </a:extLst>
          </p:cNvPr>
          <p:cNvSpPr>
            <a:spLocks xmlns:a="http://schemas.openxmlformats.org/drawingml/2006/main" noGrp="1"/>
          </p:cNvSpPr>
          <p:nvPr/>
        </p:nvSpPr>
        <p:spPr>
          <a:xfrm xmlns:a="http://schemas.openxmlformats.org/drawingml/2006/main">
            <a:off x="895350" y="4572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YOUR FINAL CALL</a:t>
            </a:r>
          </a:p>
        </p:txBody>
      </p:sp>
      <p:sp>
        <p:nvSpPr>
          <p:cNvPr id="14" name="">
            <a:extLst xmlns:a="http://schemas.openxmlformats.org/drawingml/2006/main">
              <a:ext uri="{FF2B5EF4-FFF2-40B4-BE49-F238E27FC236}">
                <a16:creationId xmlns:a16="http://schemas.microsoft.com/office/drawing/2014/main" id="{1ED8824F-3E8D-42B0-92D6-F1E140560939}"/>
              </a:ext>
            </a:extLst>
          </p:cNvPr>
          <p:cNvSpPr>
            <a:spLocks xmlns:a="http://schemas.openxmlformats.org/drawingml/2006/main" noGrp="1"/>
          </p:cNvSpPr>
          <p:nvPr/>
        </p:nvSpPr>
        <p:spPr>
          <a:xfrm xmlns:a="http://schemas.openxmlformats.org/drawingml/2006/main">
            <a:off x="895350" y="4924425"/>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Choose the trade-off now: containment, continuity and communications. Define the minimum conditions before restart.</a:t>
            </a:r>
          </a:p>
        </p:txBody>
      </p:sp>
    </p:spTree>
    <p:extLst>
      <p:ext uri="{BB962C8B-B14F-4D97-AF65-F5344CB8AC3E}">
        <p14:creationId xmlns:p14="http://schemas.microsoft.com/office/powerpoint/2010/main" val="2127633026"/>
      </p:ext>
    </p:extLst>
  </p:cSld>
</p:sld>
</file>

<file path=ppt/slides/slide1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09FCBB4-EDF3-4EA3-A902-1D0A48DC389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SIX MINUTES</a:t>
            </a:r>
          </a:p>
        </p:txBody>
      </p:sp>
      <p:sp>
        <p:nvSpPr>
          <p:cNvPr id="2" name="">
            <a:extLst xmlns:a="http://schemas.openxmlformats.org/drawingml/2006/main">
              <a:ext uri="{FF2B5EF4-FFF2-40B4-BE49-F238E27FC236}">
                <a16:creationId xmlns:a16="http://schemas.microsoft.com/office/drawing/2014/main" id="{64EAA270-34F7-4001-8689-9B3ABF53C48F}"/>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Lock the response</a:t>
            </a:r>
          </a:p>
        </p:txBody>
      </p:sp>
      <p:sp>
        <p:nvSpPr>
          <p:cNvPr id="3" name="">
            <a:extLst xmlns:a="http://schemas.openxmlformats.org/drawingml/2006/main">
              <a:ext uri="{FF2B5EF4-FFF2-40B4-BE49-F238E27FC236}">
                <a16:creationId xmlns:a16="http://schemas.microsoft.com/office/drawing/2014/main" id="{DE77258D-22C3-4957-8A12-4FD8A0EA0C8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D43A47E8-127E-48FD-971F-7EA7BDCDC0EB}"/>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E30C8566-D767-40C2-AFF0-E823A2CA4E36}"/>
              </a:ext>
            </a:extLst>
          </p:cNvPr>
          <p:cNvSpPr>
            <a:spLocks xmlns:a="http://schemas.openxmlformats.org/drawingml/2006/main" noGrp="1"/>
          </p:cNvSpPr>
          <p:nvPr/>
        </p:nvSpPr>
        <p:spPr>
          <a:xfrm xmlns:a="http://schemas.openxmlformats.org/drawingml/2006/main">
            <a:off x="647700" y="1285875"/>
            <a:ext cx="800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00FFFF"/>
                </a:solidFill>
                <a:latin typeface="Arial"/>
                <a:ea typeface="Arial"/>
                <a:cs typeface="Arial"/>
              </a:defRPr>
            </a:pPr>
            <a:r>
              <a:rPr sz="2250" b="1">
                <a:solidFill>
                  <a:srgbClr val="00FFFF"/>
                </a:solidFill>
                <a:latin typeface="Arial"/>
                <a:ea typeface="Arial"/>
                <a:cs typeface="Arial"/>
              </a:rPr>
              <a:t>One page. No caveats hidden in the margins.</a:t>
            </a:r>
          </a:p>
        </p:txBody>
      </p:sp>
      <p:sp>
        <p:nvSpPr>
          <p:cNvPr id="6" name="">
            <a:extLst xmlns:a="http://schemas.openxmlformats.org/drawingml/2006/main">
              <a:ext uri="{FF2B5EF4-FFF2-40B4-BE49-F238E27FC236}">
                <a16:creationId xmlns:a16="http://schemas.microsoft.com/office/drawing/2014/main" id="{A509372E-5EB5-43CA-983E-F4CA39220EBB}"/>
              </a:ext>
            </a:extLst>
          </p:cNvPr>
          <p:cNvSpPr>
            <a:spLocks xmlns:a="http://schemas.openxmlformats.org/drawingml/2006/main" noGrp="1"/>
          </p:cNvSpPr>
          <p:nvPr/>
        </p:nvSpPr>
        <p:spPr>
          <a:xfrm xmlns:a="http://schemas.openxmlformats.org/drawingml/2006/main">
            <a:off x="6667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CC2F3B7-0B5D-4190-AE8A-BCE0A2359DE1}"/>
              </a:ext>
            </a:extLst>
          </p:cNvPr>
          <p:cNvSpPr>
            <a:spLocks xmlns:a="http://schemas.openxmlformats.org/drawingml/2006/main" noGrp="1"/>
          </p:cNvSpPr>
          <p:nvPr/>
        </p:nvSpPr>
        <p:spPr>
          <a:xfrm xmlns:a="http://schemas.openxmlformats.org/drawingml/2006/main">
            <a:off x="6667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E37CEE9-F835-4365-80F3-612536A3CB06}"/>
              </a:ext>
            </a:extLst>
          </p:cNvPr>
          <p:cNvSpPr>
            <a:spLocks xmlns:a="http://schemas.openxmlformats.org/drawingml/2006/main" noGrp="1"/>
          </p:cNvSpPr>
          <p:nvPr/>
        </p:nvSpPr>
        <p:spPr>
          <a:xfrm xmlns:a="http://schemas.openxmlformats.org/drawingml/2006/main">
            <a:off x="11715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Decision</a:t>
            </a:r>
          </a:p>
        </p:txBody>
      </p:sp>
      <p:sp>
        <p:nvSpPr>
          <p:cNvPr id="9" name="">
            <a:extLst xmlns:a="http://schemas.openxmlformats.org/drawingml/2006/main">
              <a:ext uri="{FF2B5EF4-FFF2-40B4-BE49-F238E27FC236}">
                <a16:creationId xmlns:a16="http://schemas.microsoft.com/office/drawing/2014/main" id="{75E46036-6791-4EA0-8A96-75A01E536140}"/>
              </a:ext>
            </a:extLst>
          </p:cNvPr>
          <p:cNvSpPr>
            <a:spLocks xmlns:a="http://schemas.openxmlformats.org/drawingml/2006/main" noGrp="1"/>
          </p:cNvSpPr>
          <p:nvPr/>
        </p:nvSpPr>
        <p:spPr>
          <a:xfrm xmlns:a="http://schemas.openxmlformats.org/drawingml/2006/main">
            <a:off x="11715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are you doing now?</a:t>
            </a:r>
          </a:p>
        </p:txBody>
      </p:sp>
      <p:sp>
        <p:nvSpPr>
          <p:cNvPr id="10" name="">
            <a:extLst xmlns:a="http://schemas.openxmlformats.org/drawingml/2006/main">
              <a:ext uri="{FF2B5EF4-FFF2-40B4-BE49-F238E27FC236}">
                <a16:creationId xmlns:a16="http://schemas.microsoft.com/office/drawing/2014/main" id="{A6359D67-74A2-4490-A356-D7D0F0673B7E}"/>
              </a:ext>
            </a:extLst>
          </p:cNvPr>
          <p:cNvSpPr>
            <a:spLocks xmlns:a="http://schemas.openxmlformats.org/drawingml/2006/main" noGrp="1"/>
          </p:cNvSpPr>
          <p:nvPr/>
        </p:nvSpPr>
        <p:spPr>
          <a:xfrm xmlns:a="http://schemas.openxmlformats.org/drawingml/2006/main">
            <a:off x="61531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A48C2C-D481-4D0A-B67B-99A7CFADDDD0}"/>
              </a:ext>
            </a:extLst>
          </p:cNvPr>
          <p:cNvSpPr>
            <a:spLocks xmlns:a="http://schemas.openxmlformats.org/drawingml/2006/main" noGrp="1"/>
          </p:cNvSpPr>
          <p:nvPr/>
        </p:nvSpPr>
        <p:spPr>
          <a:xfrm xmlns:a="http://schemas.openxmlformats.org/drawingml/2006/main">
            <a:off x="61531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DAE45ED1-74A5-4F36-8759-A0898C8ADD3F}"/>
              </a:ext>
            </a:extLst>
          </p:cNvPr>
          <p:cNvSpPr>
            <a:spLocks xmlns:a="http://schemas.openxmlformats.org/drawingml/2006/main" noGrp="1"/>
          </p:cNvSpPr>
          <p:nvPr/>
        </p:nvSpPr>
        <p:spPr>
          <a:xfrm xmlns:a="http://schemas.openxmlformats.org/drawingml/2006/main">
            <a:off x="66579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Trade-off</a:t>
            </a:r>
          </a:p>
        </p:txBody>
      </p:sp>
      <p:sp>
        <p:nvSpPr>
          <p:cNvPr id="13" name="">
            <a:extLst xmlns:a="http://schemas.openxmlformats.org/drawingml/2006/main">
              <a:ext uri="{FF2B5EF4-FFF2-40B4-BE49-F238E27FC236}">
                <a16:creationId xmlns:a16="http://schemas.microsoft.com/office/drawing/2014/main" id="{7AFCEA6C-C3AB-48A5-8F28-6C3B529930AD}"/>
              </a:ext>
            </a:extLst>
          </p:cNvPr>
          <p:cNvSpPr>
            <a:spLocks xmlns:a="http://schemas.openxmlformats.org/drawingml/2006/main" noGrp="1"/>
          </p:cNvSpPr>
          <p:nvPr/>
        </p:nvSpPr>
        <p:spPr>
          <a:xfrm xmlns:a="http://schemas.openxmlformats.org/drawingml/2006/main">
            <a:off x="66579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consequence are you accepting?</a:t>
            </a:r>
          </a:p>
        </p:txBody>
      </p:sp>
      <p:sp>
        <p:nvSpPr>
          <p:cNvPr id="14" name="">
            <a:extLst xmlns:a="http://schemas.openxmlformats.org/drawingml/2006/main">
              <a:ext uri="{FF2B5EF4-FFF2-40B4-BE49-F238E27FC236}">
                <a16:creationId xmlns:a16="http://schemas.microsoft.com/office/drawing/2014/main" id="{07C2A30A-B208-40EC-9ADB-EFFA66C3D5A5}"/>
              </a:ext>
            </a:extLst>
          </p:cNvPr>
          <p:cNvSpPr>
            <a:spLocks xmlns:a="http://schemas.openxmlformats.org/drawingml/2006/main" noGrp="1"/>
          </p:cNvSpPr>
          <p:nvPr/>
        </p:nvSpPr>
        <p:spPr>
          <a:xfrm xmlns:a="http://schemas.openxmlformats.org/drawingml/2006/main">
            <a:off x="6667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10F11E-A7D2-4E4B-AF32-B048EE3C7466}"/>
              </a:ext>
            </a:extLst>
          </p:cNvPr>
          <p:cNvSpPr>
            <a:spLocks xmlns:a="http://schemas.openxmlformats.org/drawingml/2006/main" noGrp="1"/>
          </p:cNvSpPr>
          <p:nvPr/>
        </p:nvSpPr>
        <p:spPr>
          <a:xfrm xmlns:a="http://schemas.openxmlformats.org/drawingml/2006/main">
            <a:off x="6667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AA49CF1A-C8A9-4C25-A7AD-19F097893922}"/>
              </a:ext>
            </a:extLst>
          </p:cNvPr>
          <p:cNvSpPr>
            <a:spLocks xmlns:a="http://schemas.openxmlformats.org/drawingml/2006/main" noGrp="1"/>
          </p:cNvSpPr>
          <p:nvPr/>
        </p:nvSpPr>
        <p:spPr>
          <a:xfrm xmlns:a="http://schemas.openxmlformats.org/drawingml/2006/main">
            <a:off x="11715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Evidence</a:t>
            </a:r>
          </a:p>
        </p:txBody>
      </p:sp>
      <p:sp>
        <p:nvSpPr>
          <p:cNvPr id="17" name="">
            <a:extLst xmlns:a="http://schemas.openxmlformats.org/drawingml/2006/main">
              <a:ext uri="{FF2B5EF4-FFF2-40B4-BE49-F238E27FC236}">
                <a16:creationId xmlns:a16="http://schemas.microsoft.com/office/drawing/2014/main" id="{DDB3FB30-A0DE-48AD-A9A4-C66BEE1F7FC2}"/>
              </a:ext>
            </a:extLst>
          </p:cNvPr>
          <p:cNvSpPr>
            <a:spLocks xmlns:a="http://schemas.openxmlformats.org/drawingml/2006/main" noGrp="1"/>
          </p:cNvSpPr>
          <p:nvPr/>
        </p:nvSpPr>
        <p:spPr>
          <a:xfrm xmlns:a="http://schemas.openxmlformats.org/drawingml/2006/main">
            <a:off x="11715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preserved before action changes it?</a:t>
            </a:r>
          </a:p>
        </p:txBody>
      </p:sp>
      <p:sp>
        <p:nvSpPr>
          <p:cNvPr id="18" name="">
            <a:extLst xmlns:a="http://schemas.openxmlformats.org/drawingml/2006/main">
              <a:ext uri="{FF2B5EF4-FFF2-40B4-BE49-F238E27FC236}">
                <a16:creationId xmlns:a16="http://schemas.microsoft.com/office/drawing/2014/main" id="{E43BF802-BAE8-4E00-8A20-3CC52A6CD7B1}"/>
              </a:ext>
            </a:extLst>
          </p:cNvPr>
          <p:cNvSpPr>
            <a:spLocks xmlns:a="http://schemas.openxmlformats.org/drawingml/2006/main" noGrp="1"/>
          </p:cNvSpPr>
          <p:nvPr/>
        </p:nvSpPr>
        <p:spPr>
          <a:xfrm xmlns:a="http://schemas.openxmlformats.org/drawingml/2006/main">
            <a:off x="61531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425D585-4D55-420B-82A0-0073850ADBB1}"/>
              </a:ext>
            </a:extLst>
          </p:cNvPr>
          <p:cNvSpPr>
            <a:spLocks xmlns:a="http://schemas.openxmlformats.org/drawingml/2006/main" noGrp="1"/>
          </p:cNvSpPr>
          <p:nvPr/>
        </p:nvSpPr>
        <p:spPr>
          <a:xfrm xmlns:a="http://schemas.openxmlformats.org/drawingml/2006/main">
            <a:off x="61531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24E65DD1-739F-457C-B26B-FE41A29B1E99}"/>
              </a:ext>
            </a:extLst>
          </p:cNvPr>
          <p:cNvSpPr>
            <a:spLocks xmlns:a="http://schemas.openxmlformats.org/drawingml/2006/main" noGrp="1"/>
          </p:cNvSpPr>
          <p:nvPr/>
        </p:nvSpPr>
        <p:spPr>
          <a:xfrm xmlns:a="http://schemas.openxmlformats.org/drawingml/2006/main">
            <a:off x="66579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Authority</a:t>
            </a:r>
          </a:p>
        </p:txBody>
      </p:sp>
      <p:sp>
        <p:nvSpPr>
          <p:cNvPr id="21" name="">
            <a:extLst xmlns:a="http://schemas.openxmlformats.org/drawingml/2006/main">
              <a:ext uri="{FF2B5EF4-FFF2-40B4-BE49-F238E27FC236}">
                <a16:creationId xmlns:a16="http://schemas.microsoft.com/office/drawing/2014/main" id="{04CD4520-0788-4E66-AF7B-E55975695A93}"/>
              </a:ext>
            </a:extLst>
          </p:cNvPr>
          <p:cNvSpPr>
            <a:spLocks xmlns:a="http://schemas.openxmlformats.org/drawingml/2006/main" noGrp="1"/>
          </p:cNvSpPr>
          <p:nvPr/>
        </p:nvSpPr>
        <p:spPr>
          <a:xfrm xmlns:a="http://schemas.openxmlformats.org/drawingml/2006/main">
            <a:off x="66579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owns containment and who may restart?</a:t>
            </a:r>
          </a:p>
        </p:txBody>
      </p:sp>
      <p:sp>
        <p:nvSpPr>
          <p:cNvPr id="22" name="">
            <a:extLst xmlns:a="http://schemas.openxmlformats.org/drawingml/2006/main">
              <a:ext uri="{FF2B5EF4-FFF2-40B4-BE49-F238E27FC236}">
                <a16:creationId xmlns:a16="http://schemas.microsoft.com/office/drawing/2014/main" id="{D64695D9-1A17-4655-B145-AFF1301FB980}"/>
              </a:ext>
            </a:extLst>
          </p:cNvPr>
          <p:cNvSpPr>
            <a:spLocks xmlns:a="http://schemas.openxmlformats.org/drawingml/2006/main" noGrp="1"/>
          </p:cNvSpPr>
          <p:nvPr/>
        </p:nvSpPr>
        <p:spPr>
          <a:xfrm xmlns:a="http://schemas.openxmlformats.org/drawingml/2006/main">
            <a:off x="666750" y="44767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6B4F1A-386A-4056-8904-73F022CC862C}"/>
              </a:ext>
            </a:extLst>
          </p:cNvPr>
          <p:cNvSpPr>
            <a:spLocks xmlns:a="http://schemas.openxmlformats.org/drawingml/2006/main" noGrp="1"/>
          </p:cNvSpPr>
          <p:nvPr/>
        </p:nvSpPr>
        <p:spPr>
          <a:xfrm xmlns:a="http://schemas.openxmlformats.org/drawingml/2006/main">
            <a:off x="6667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F62F2FA2-FFBF-41D2-92B0-D9A84A1300FE}"/>
              </a:ext>
            </a:extLst>
          </p:cNvPr>
          <p:cNvSpPr>
            <a:spLocks xmlns:a="http://schemas.openxmlformats.org/drawingml/2006/main" noGrp="1"/>
          </p:cNvSpPr>
          <p:nvPr/>
        </p:nvSpPr>
        <p:spPr>
          <a:xfrm xmlns:a="http://schemas.openxmlformats.org/drawingml/2006/main">
            <a:off x="11715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Communication</a:t>
            </a:r>
          </a:p>
        </p:txBody>
      </p:sp>
      <p:sp>
        <p:nvSpPr>
          <p:cNvPr id="25" name="">
            <a:extLst xmlns:a="http://schemas.openxmlformats.org/drawingml/2006/main">
              <a:ext uri="{FF2B5EF4-FFF2-40B4-BE49-F238E27FC236}">
                <a16:creationId xmlns:a16="http://schemas.microsoft.com/office/drawing/2014/main" id="{0FF53319-E4F0-41DF-B01D-E6324D2ADB54}"/>
              </a:ext>
            </a:extLst>
          </p:cNvPr>
          <p:cNvSpPr>
            <a:spLocks xmlns:a="http://schemas.openxmlformats.org/drawingml/2006/main" noGrp="1"/>
          </p:cNvSpPr>
          <p:nvPr/>
        </p:nvSpPr>
        <p:spPr>
          <a:xfrm xmlns:a="http://schemas.openxmlformats.org/drawingml/2006/main">
            <a:off x="11715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needs to know, when and with what certainty?</a:t>
            </a:r>
          </a:p>
        </p:txBody>
      </p:sp>
      <p:sp>
        <p:nvSpPr>
          <p:cNvPr id="26" name="">
            <a:extLst xmlns:a="http://schemas.openxmlformats.org/drawingml/2006/main">
              <a:ext uri="{FF2B5EF4-FFF2-40B4-BE49-F238E27FC236}">
                <a16:creationId xmlns:a16="http://schemas.microsoft.com/office/drawing/2014/main" id="{E7DBB2FE-0B50-4FCC-B869-CDB09D75AF7E}"/>
              </a:ext>
            </a:extLst>
          </p:cNvPr>
          <p:cNvSpPr>
            <a:spLocks xmlns:a="http://schemas.openxmlformats.org/drawingml/2006/main" noGrp="1"/>
          </p:cNvSpPr>
          <p:nvPr/>
        </p:nvSpPr>
        <p:spPr>
          <a:xfrm xmlns:a="http://schemas.openxmlformats.org/drawingml/2006/main">
            <a:off x="6153150" y="4476750"/>
            <a:ext cx="342900" cy="342900"/>
          </a:xfrm>
          <a:prstGeom xmlns:a="http://schemas.openxmlformats.org/drawingml/2006/main" prst="ellipse">
            <a:avLst/>
          </a:prstGeom>
          <a:solidFill xmlns:a="http://schemas.openxmlformats.org/drawingml/2006/main">
            <a:srgbClr val="00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D1E697-FC16-4C27-AA98-7D39D5A3EACE}"/>
              </a:ext>
            </a:extLst>
          </p:cNvPr>
          <p:cNvSpPr>
            <a:spLocks xmlns:a="http://schemas.openxmlformats.org/drawingml/2006/main" noGrp="1"/>
          </p:cNvSpPr>
          <p:nvPr/>
        </p:nvSpPr>
        <p:spPr>
          <a:xfrm xmlns:a="http://schemas.openxmlformats.org/drawingml/2006/main">
            <a:off x="61531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14886B1A-1BFE-461C-99FD-B64470C7FAA1}"/>
              </a:ext>
            </a:extLst>
          </p:cNvPr>
          <p:cNvSpPr>
            <a:spLocks xmlns:a="http://schemas.openxmlformats.org/drawingml/2006/main" noGrp="1"/>
          </p:cNvSpPr>
          <p:nvPr/>
        </p:nvSpPr>
        <p:spPr>
          <a:xfrm xmlns:a="http://schemas.openxmlformats.org/drawingml/2006/main">
            <a:off x="66579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Restart gate</a:t>
            </a:r>
          </a:p>
        </p:txBody>
      </p:sp>
      <p:sp>
        <p:nvSpPr>
          <p:cNvPr id="29" name="">
            <a:extLst xmlns:a="http://schemas.openxmlformats.org/drawingml/2006/main">
              <a:ext uri="{FF2B5EF4-FFF2-40B4-BE49-F238E27FC236}">
                <a16:creationId xmlns:a16="http://schemas.microsoft.com/office/drawing/2014/main" id="{FDB9CE73-4B6D-411A-9D0F-B43ECD6610C0}"/>
              </a:ext>
            </a:extLst>
          </p:cNvPr>
          <p:cNvSpPr>
            <a:spLocks xmlns:a="http://schemas.openxmlformats.org/drawingml/2006/main" noGrp="1"/>
          </p:cNvSpPr>
          <p:nvPr/>
        </p:nvSpPr>
        <p:spPr>
          <a:xfrm xmlns:a="http://schemas.openxmlformats.org/drawingml/2006/main">
            <a:off x="66579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true before authority returns?</a:t>
            </a:r>
          </a:p>
        </p:txBody>
      </p:sp>
    </p:spTree>
    <p:extLst>
      <p:ext uri="{BB962C8B-B14F-4D97-AF65-F5344CB8AC3E}">
        <p14:creationId xmlns:p14="http://schemas.microsoft.com/office/powerpoint/2010/main" val="1181548718"/>
      </p:ext>
    </p:extLst>
  </p:cSld>
</p:sld>
</file>

<file path=ppt/slides/slide1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0E0B81-7EFD-4112-A0E6-59A2CCCAC7DF}"/>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TABLE REPORTS + SECURITY COUNSEL · 22 MINUTES</a:t>
            </a:r>
          </a:p>
        </p:txBody>
      </p:sp>
      <p:sp>
        <p:nvSpPr>
          <p:cNvPr id="2" name="">
            <a:extLst xmlns:a="http://schemas.openxmlformats.org/drawingml/2006/main">
              <a:ext uri="{FF2B5EF4-FFF2-40B4-BE49-F238E27FC236}">
                <a16:creationId xmlns:a16="http://schemas.microsoft.com/office/drawing/2014/main" id="{BACC2FA0-03DB-4266-80EA-9CB4774B29D2}"/>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Report the decision, not the discussion</a:t>
            </a:r>
          </a:p>
        </p:txBody>
      </p:sp>
      <p:sp>
        <p:nvSpPr>
          <p:cNvPr id="3" name="">
            <a:extLst xmlns:a="http://schemas.openxmlformats.org/drawingml/2006/main">
              <a:ext uri="{FF2B5EF4-FFF2-40B4-BE49-F238E27FC236}">
                <a16:creationId xmlns:a16="http://schemas.microsoft.com/office/drawing/2014/main" id="{E4A08377-1F93-4D25-B0A7-DD7AFC598FE0}"/>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ECD841A-422A-4892-9905-88A804D8D702}"/>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3CB5057-4FF1-4EAC-A9D4-0A6D550ED414}"/>
              </a:ext>
            </a:extLst>
          </p:cNvPr>
          <p:cNvSpPr>
            <a:spLocks xmlns:a="http://schemas.openxmlformats.org/drawingml/2006/main" noGrp="1"/>
          </p:cNvSpPr>
          <p:nvPr/>
        </p:nvSpPr>
        <p:spPr>
          <a:xfrm xmlns:a="http://schemas.openxmlformats.org/drawingml/2006/main">
            <a:off x="7143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00FFFF"/>
                </a:solidFill>
                <a:latin typeface="Arial"/>
                <a:ea typeface="Arial"/>
                <a:cs typeface="Arial"/>
              </a:defRPr>
            </a:pPr>
            <a:r>
              <a:rPr sz="7800" b="1">
                <a:solidFill>
                  <a:srgbClr val="00FF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03FE2EF0-29C8-48E3-BE12-2F4698CAABE0}"/>
              </a:ext>
            </a:extLst>
          </p:cNvPr>
          <p:cNvSpPr>
            <a:spLocks xmlns:a="http://schemas.openxmlformats.org/drawingml/2006/main" noGrp="1"/>
          </p:cNvSpPr>
          <p:nvPr/>
        </p:nvSpPr>
        <p:spPr>
          <a:xfrm xmlns:a="http://schemas.openxmlformats.org/drawingml/2006/main">
            <a:off x="7143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MINUTES</a:t>
            </a:r>
          </a:p>
        </p:txBody>
      </p:sp>
      <p:sp>
        <p:nvSpPr>
          <p:cNvPr id="7" name="">
            <a:extLst xmlns:a="http://schemas.openxmlformats.org/drawingml/2006/main">
              <a:ext uri="{FF2B5EF4-FFF2-40B4-BE49-F238E27FC236}">
                <a16:creationId xmlns:a16="http://schemas.microsoft.com/office/drawing/2014/main" id="{464524C5-05DC-4117-999B-C81A17D774C3}"/>
              </a:ext>
            </a:extLst>
          </p:cNvPr>
          <p:cNvSpPr>
            <a:spLocks xmlns:a="http://schemas.openxmlformats.org/drawingml/2006/main" noGrp="1"/>
          </p:cNvSpPr>
          <p:nvPr/>
        </p:nvSpPr>
        <p:spPr>
          <a:xfrm xmlns:a="http://schemas.openxmlformats.org/drawingml/2006/main">
            <a:off x="30384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7C3AED"/>
                </a:solidFill>
                <a:latin typeface="Arial"/>
                <a:ea typeface="Arial"/>
                <a:cs typeface="Arial"/>
              </a:defRPr>
            </a:pPr>
            <a:r>
              <a:rPr sz="7800" b="1">
                <a:solidFill>
                  <a:srgbClr val="7C3AED"/>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902B86BC-4484-46CB-B6B4-563ADDC483F0}"/>
              </a:ext>
            </a:extLst>
          </p:cNvPr>
          <p:cNvSpPr>
            <a:spLocks xmlns:a="http://schemas.openxmlformats.org/drawingml/2006/main" noGrp="1"/>
          </p:cNvSpPr>
          <p:nvPr/>
        </p:nvSpPr>
        <p:spPr>
          <a:xfrm xmlns:a="http://schemas.openxmlformats.org/drawingml/2006/main">
            <a:off x="30384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LINES</a:t>
            </a:r>
          </a:p>
        </p:txBody>
      </p:sp>
      <p:sp>
        <p:nvSpPr>
          <p:cNvPr id="9" name="">
            <a:extLst xmlns:a="http://schemas.openxmlformats.org/drawingml/2006/main">
              <a:ext uri="{FF2B5EF4-FFF2-40B4-BE49-F238E27FC236}">
                <a16:creationId xmlns:a16="http://schemas.microsoft.com/office/drawing/2014/main" id="{93B3BC0E-54BC-4BDE-90C7-B32E32786267}"/>
              </a:ext>
            </a:extLst>
          </p:cNvPr>
          <p:cNvSpPr>
            <a:spLocks xmlns:a="http://schemas.openxmlformats.org/drawingml/2006/main" noGrp="1"/>
          </p:cNvSpPr>
          <p:nvPr/>
        </p:nvSpPr>
        <p:spPr>
          <a:xfrm xmlns:a="http://schemas.openxmlformats.org/drawingml/2006/main">
            <a:off x="5619750" y="15335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F89D04CD-9ADB-48CA-9D66-434A8FC2A96C}"/>
              </a:ext>
            </a:extLst>
          </p:cNvPr>
          <p:cNvSpPr>
            <a:spLocks xmlns:a="http://schemas.openxmlformats.org/drawingml/2006/main" noGrp="1"/>
          </p:cNvSpPr>
          <p:nvPr/>
        </p:nvSpPr>
        <p:spPr>
          <a:xfrm xmlns:a="http://schemas.openxmlformats.org/drawingml/2006/main">
            <a:off x="6334125" y="15144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call</a:t>
            </a:r>
          </a:p>
        </p:txBody>
      </p:sp>
      <p:sp>
        <p:nvSpPr>
          <p:cNvPr id="11" name="">
            <a:extLst xmlns:a="http://schemas.openxmlformats.org/drawingml/2006/main">
              <a:ext uri="{FF2B5EF4-FFF2-40B4-BE49-F238E27FC236}">
                <a16:creationId xmlns:a16="http://schemas.microsoft.com/office/drawing/2014/main" id="{01F967C4-A861-4578-A600-F3748BDA38CE}"/>
              </a:ext>
            </a:extLst>
          </p:cNvPr>
          <p:cNvSpPr>
            <a:spLocks xmlns:a="http://schemas.openxmlformats.org/drawingml/2006/main" noGrp="1"/>
          </p:cNvSpPr>
          <p:nvPr/>
        </p:nvSpPr>
        <p:spPr>
          <a:xfrm xmlns:a="http://schemas.openxmlformats.org/drawingml/2006/main">
            <a:off x="6334125" y="19335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action we take now</a:t>
            </a:r>
          </a:p>
        </p:txBody>
      </p:sp>
      <p:sp>
        <p:nvSpPr>
          <p:cNvPr id="12" name="">
            <a:extLst xmlns:a="http://schemas.openxmlformats.org/drawingml/2006/main">
              <a:ext uri="{FF2B5EF4-FFF2-40B4-BE49-F238E27FC236}">
                <a16:creationId xmlns:a16="http://schemas.microsoft.com/office/drawing/2014/main" id="{4A4A255B-13C1-4186-B643-6FFCB84C4306}"/>
              </a:ext>
            </a:extLst>
          </p:cNvPr>
          <p:cNvSpPr>
            <a:spLocks xmlns:a="http://schemas.openxmlformats.org/drawingml/2006/main" noGrp="1"/>
          </p:cNvSpPr>
          <p:nvPr/>
        </p:nvSpPr>
        <p:spPr>
          <a:xfrm xmlns:a="http://schemas.openxmlformats.org/drawingml/2006/main">
            <a:off x="5619750" y="27908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AF9F6DAB-BBC7-42E9-9EE1-D755393AB029}"/>
              </a:ext>
            </a:extLst>
          </p:cNvPr>
          <p:cNvSpPr>
            <a:spLocks xmlns:a="http://schemas.openxmlformats.org/drawingml/2006/main" noGrp="1"/>
          </p:cNvSpPr>
          <p:nvPr/>
        </p:nvSpPr>
        <p:spPr>
          <a:xfrm xmlns:a="http://schemas.openxmlformats.org/drawingml/2006/main">
            <a:off x="6334125" y="27717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trade-off</a:t>
            </a:r>
          </a:p>
        </p:txBody>
      </p:sp>
      <p:sp>
        <p:nvSpPr>
          <p:cNvPr id="14" name="">
            <a:extLst xmlns:a="http://schemas.openxmlformats.org/drawingml/2006/main">
              <a:ext uri="{FF2B5EF4-FFF2-40B4-BE49-F238E27FC236}">
                <a16:creationId xmlns:a16="http://schemas.microsoft.com/office/drawing/2014/main" id="{5E99A47F-1812-4454-B913-898C44EFD465}"/>
              </a:ext>
            </a:extLst>
          </p:cNvPr>
          <p:cNvSpPr>
            <a:spLocks xmlns:a="http://schemas.openxmlformats.org/drawingml/2006/main" noGrp="1"/>
          </p:cNvSpPr>
          <p:nvPr/>
        </p:nvSpPr>
        <p:spPr>
          <a:xfrm xmlns:a="http://schemas.openxmlformats.org/drawingml/2006/main">
            <a:off x="6334125" y="31908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consequence we knowingly accept</a:t>
            </a:r>
          </a:p>
        </p:txBody>
      </p:sp>
      <p:sp>
        <p:nvSpPr>
          <p:cNvPr id="15" name="">
            <a:extLst xmlns:a="http://schemas.openxmlformats.org/drawingml/2006/main">
              <a:ext uri="{FF2B5EF4-FFF2-40B4-BE49-F238E27FC236}">
                <a16:creationId xmlns:a16="http://schemas.microsoft.com/office/drawing/2014/main" id="{BC24AE54-F4FF-4639-8C1C-0D449E49C187}"/>
              </a:ext>
            </a:extLst>
          </p:cNvPr>
          <p:cNvSpPr>
            <a:spLocks xmlns:a="http://schemas.openxmlformats.org/drawingml/2006/main" noGrp="1"/>
          </p:cNvSpPr>
          <p:nvPr/>
        </p:nvSpPr>
        <p:spPr>
          <a:xfrm xmlns:a="http://schemas.openxmlformats.org/drawingml/2006/main">
            <a:off x="5619750" y="40481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E5484D"/>
                </a:solidFill>
                <a:latin typeface="Arial"/>
                <a:ea typeface="Arial"/>
                <a:cs typeface="Arial"/>
              </a:defRPr>
            </a:pPr>
            <a:r>
              <a:rPr sz="1350" b="1">
                <a:solidFill>
                  <a:srgbClr val="E5484D"/>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712AB33B-0D9B-410B-A12E-0818AB7E30A8}"/>
              </a:ext>
            </a:extLst>
          </p:cNvPr>
          <p:cNvSpPr>
            <a:spLocks xmlns:a="http://schemas.openxmlformats.org/drawingml/2006/main" noGrp="1"/>
          </p:cNvSpPr>
          <p:nvPr/>
        </p:nvSpPr>
        <p:spPr>
          <a:xfrm xmlns:a="http://schemas.openxmlformats.org/drawingml/2006/main">
            <a:off x="6334125" y="40290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restart gate</a:t>
            </a:r>
          </a:p>
        </p:txBody>
      </p:sp>
      <p:sp>
        <p:nvSpPr>
          <p:cNvPr id="17" name="">
            <a:extLst xmlns:a="http://schemas.openxmlformats.org/drawingml/2006/main">
              <a:ext uri="{FF2B5EF4-FFF2-40B4-BE49-F238E27FC236}">
                <a16:creationId xmlns:a16="http://schemas.microsoft.com/office/drawing/2014/main" id="{C516D95F-F37D-4177-9C63-4F9931D58003}"/>
              </a:ext>
            </a:extLst>
          </p:cNvPr>
          <p:cNvSpPr>
            <a:spLocks xmlns:a="http://schemas.openxmlformats.org/drawingml/2006/main" noGrp="1"/>
          </p:cNvSpPr>
          <p:nvPr/>
        </p:nvSpPr>
        <p:spPr>
          <a:xfrm xmlns:a="http://schemas.openxmlformats.org/drawingml/2006/main">
            <a:off x="6334125" y="44481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control or evidence required before authority returns</a:t>
            </a:r>
          </a:p>
        </p:txBody>
      </p:sp>
      <p:sp>
        <p:nvSpPr>
          <p:cNvPr id="18" name="">
            <a:extLst xmlns:a="http://schemas.openxmlformats.org/drawingml/2006/main">
              <a:ext uri="{FF2B5EF4-FFF2-40B4-BE49-F238E27FC236}">
                <a16:creationId xmlns:a16="http://schemas.microsoft.com/office/drawing/2014/main" id="{E26FEFF2-1BE7-4A27-8AB4-B306D4F90987}"/>
              </a:ext>
            </a:extLst>
          </p:cNvPr>
          <p:cNvSpPr>
            <a:spLocks xmlns:a="http://schemas.openxmlformats.org/drawingml/2006/main" noGrp="1"/>
          </p:cNvSpPr>
          <p:nvPr/>
        </p:nvSpPr>
        <p:spPr>
          <a:xfrm xmlns:a="http://schemas.openxmlformats.org/drawingml/2006/main">
            <a:off x="638175" y="6029325"/>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00FFFF"/>
                </a:solidFill>
                <a:latin typeface="Arial"/>
                <a:ea typeface="Arial"/>
                <a:cs typeface="Arial"/>
              </a:defRPr>
            </a:pPr>
            <a:r>
              <a:rPr sz="1500" b="1">
                <a:solidFill>
                  <a:srgbClr val="00FFFF"/>
                </a:solidFill>
                <a:latin typeface="Arial"/>
                <a:ea typeface="Arial"/>
                <a:cs typeface="Arial"/>
              </a:rPr>
              <a:t>Security Counsel: patterns · blind spots · what matters in practice</a:t>
            </a:r>
          </a:p>
        </p:txBody>
      </p:sp>
    </p:spTree>
    <p:extLst>
      <p:ext uri="{BB962C8B-B14F-4D97-AF65-F5344CB8AC3E}">
        <p14:creationId xmlns:p14="http://schemas.microsoft.com/office/powerpoint/2010/main" val="1035368201"/>
      </p:ext>
    </p:extLst>
  </p:cSld>
</p:sld>
</file>

<file path=ppt/slides/slide1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A78F2D-DDA4-44EF-9023-A1B553A30183}"/>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DEBRIEF</a:t>
            </a:r>
          </a:p>
        </p:txBody>
      </p:sp>
      <p:sp>
        <p:nvSpPr>
          <p:cNvPr id="2" name="">
            <a:extLst xmlns:a="http://schemas.openxmlformats.org/drawingml/2006/main">
              <a:ext uri="{FF2B5EF4-FFF2-40B4-BE49-F238E27FC236}">
                <a16:creationId xmlns:a16="http://schemas.microsoft.com/office/drawing/2014/main" id="{D2C86D83-8914-4D0D-8726-96C3B0646FA0}"/>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Controls live in more than one place</a:t>
            </a:r>
          </a:p>
        </p:txBody>
      </p:sp>
      <p:sp>
        <p:nvSpPr>
          <p:cNvPr id="3" name="">
            <a:extLst xmlns:a="http://schemas.openxmlformats.org/drawingml/2006/main">
              <a:ext uri="{FF2B5EF4-FFF2-40B4-BE49-F238E27FC236}">
                <a16:creationId xmlns:a16="http://schemas.microsoft.com/office/drawing/2014/main" id="{0D1E9296-82A5-4596-AACB-25ACCEB350BC}"/>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575F288-BCBB-424B-AFF6-BA2F1246A53C}"/>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3CDC99FC-F10C-456E-BB2B-D6B6C2D39CEE}"/>
              </a:ext>
            </a:extLst>
          </p:cNvPr>
          <p:cNvSpPr>
            <a:spLocks xmlns:a="http://schemas.openxmlformats.org/drawingml/2006/main" noGrp="1"/>
          </p:cNvSpPr>
          <p:nvPr/>
        </p:nvSpPr>
        <p:spPr>
          <a:xfrm xmlns:a="http://schemas.openxmlformats.org/drawingml/2006/main">
            <a:off x="647700" y="12763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Map the workflow first. Then place each control where the failure can occur.</a:t>
            </a:r>
          </a:p>
        </p:txBody>
      </p:sp>
      <p:sp>
        <p:nvSpPr>
          <p:cNvPr id="6" name="">
            <a:extLst xmlns:a="http://schemas.openxmlformats.org/drawingml/2006/main">
              <a:ext uri="{FF2B5EF4-FFF2-40B4-BE49-F238E27FC236}">
                <a16:creationId xmlns:a16="http://schemas.microsoft.com/office/drawing/2014/main" id="{25F1715E-A27F-40FD-A0CB-0B1B9FA73CDC}"/>
              </a:ext>
            </a:extLst>
          </p:cNvPr>
          <p:cNvSpPr>
            <a:spLocks xmlns:a="http://schemas.openxmlformats.org/drawingml/2006/main" noGrp="1"/>
          </p:cNvSpPr>
          <p:nvPr/>
        </p:nvSpPr>
        <p:spPr>
          <a:xfrm xmlns:a="http://schemas.openxmlformats.org/drawingml/2006/main">
            <a:off x="666750" y="1952625"/>
            <a:ext cx="76200" cy="523875"/>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138B431-26AC-43A9-BA69-AFFD2F8FF066}"/>
              </a:ext>
            </a:extLst>
          </p:cNvPr>
          <p:cNvSpPr>
            <a:spLocks xmlns:a="http://schemas.openxmlformats.org/drawingml/2006/main" noGrp="1"/>
          </p:cNvSpPr>
          <p:nvPr/>
        </p:nvSpPr>
        <p:spPr>
          <a:xfrm xmlns:a="http://schemas.openxmlformats.org/drawingml/2006/main">
            <a:off x="942975" y="19526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AEFF"/>
                </a:solidFill>
                <a:latin typeface="Arial"/>
                <a:ea typeface="Arial"/>
                <a:cs typeface="Arial"/>
              </a:defRPr>
            </a:pPr>
            <a:r>
              <a:rPr sz="1125" b="1">
                <a:solidFill>
                  <a:srgbClr val="00AEFF"/>
                </a:solidFill>
                <a:latin typeface="Arial"/>
                <a:ea typeface="Arial"/>
                <a:cs typeface="Arial"/>
              </a:rPr>
              <a:t>BUILD &amp; BOUND</a:t>
            </a:r>
          </a:p>
        </p:txBody>
      </p:sp>
      <p:sp>
        <p:nvSpPr>
          <p:cNvPr id="8" name="">
            <a:extLst xmlns:a="http://schemas.openxmlformats.org/drawingml/2006/main">
              <a:ext uri="{FF2B5EF4-FFF2-40B4-BE49-F238E27FC236}">
                <a16:creationId xmlns:a16="http://schemas.microsoft.com/office/drawing/2014/main" id="{91056C8E-2309-4957-8458-7CF2BBAF1A0B}"/>
              </a:ext>
            </a:extLst>
          </p:cNvPr>
          <p:cNvSpPr>
            <a:spLocks xmlns:a="http://schemas.openxmlformats.org/drawingml/2006/main" noGrp="1"/>
          </p:cNvSpPr>
          <p:nvPr/>
        </p:nvSpPr>
        <p:spPr>
          <a:xfrm xmlns:a="http://schemas.openxmlformats.org/drawingml/2006/main">
            <a:off x="3333750" y="19335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Copilot Studio · Power Platform environments · data policies · connector controls</a:t>
            </a:r>
          </a:p>
        </p:txBody>
      </p:sp>
      <p:sp>
        <p:nvSpPr>
          <p:cNvPr id="9" name="">
            <a:extLst xmlns:a="http://schemas.openxmlformats.org/drawingml/2006/main">
              <a:ext uri="{FF2B5EF4-FFF2-40B4-BE49-F238E27FC236}">
                <a16:creationId xmlns:a16="http://schemas.microsoft.com/office/drawing/2014/main" id="{725E25D6-C7A0-446B-9A94-5A4A05DE593E}"/>
              </a:ext>
            </a:extLst>
          </p:cNvPr>
          <p:cNvSpPr>
            <a:spLocks xmlns:a="http://schemas.openxmlformats.org/drawingml/2006/main" noGrp="1"/>
          </p:cNvSpPr>
          <p:nvPr/>
        </p:nvSpPr>
        <p:spPr>
          <a:xfrm xmlns:a="http://schemas.openxmlformats.org/drawingml/2006/main">
            <a:off x="666750" y="2676525"/>
            <a:ext cx="76200" cy="523875"/>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04AEB1-4034-4D80-8CAC-7A29A7B7B7DC}"/>
              </a:ext>
            </a:extLst>
          </p:cNvPr>
          <p:cNvSpPr>
            <a:spLocks xmlns:a="http://schemas.openxmlformats.org/drawingml/2006/main" noGrp="1"/>
          </p:cNvSpPr>
          <p:nvPr/>
        </p:nvSpPr>
        <p:spPr>
          <a:xfrm xmlns:a="http://schemas.openxmlformats.org/drawingml/2006/main">
            <a:off x="942975" y="26765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7C3AED"/>
                </a:solidFill>
                <a:latin typeface="Arial"/>
                <a:ea typeface="Arial"/>
                <a:cs typeface="Arial"/>
              </a:defRPr>
            </a:pPr>
            <a:r>
              <a:rPr sz="1125" b="1">
                <a:solidFill>
                  <a:srgbClr val="7C3AED"/>
                </a:solidFill>
                <a:latin typeface="Arial"/>
                <a:ea typeface="Arial"/>
                <a:cs typeface="Arial"/>
              </a:rPr>
              <a:t>IDENTITY &amp; ACCESS</a:t>
            </a:r>
          </a:p>
        </p:txBody>
      </p:sp>
      <p:sp>
        <p:nvSpPr>
          <p:cNvPr id="11" name="">
            <a:extLst xmlns:a="http://schemas.openxmlformats.org/drawingml/2006/main">
              <a:ext uri="{FF2B5EF4-FFF2-40B4-BE49-F238E27FC236}">
                <a16:creationId xmlns:a16="http://schemas.microsoft.com/office/drawing/2014/main" id="{958780F1-4912-431C-9A5E-FF0B42B4FC43}"/>
              </a:ext>
            </a:extLst>
          </p:cNvPr>
          <p:cNvSpPr>
            <a:spLocks xmlns:a="http://schemas.openxmlformats.org/drawingml/2006/main" noGrp="1"/>
          </p:cNvSpPr>
          <p:nvPr/>
        </p:nvSpPr>
        <p:spPr>
          <a:xfrm xmlns:a="http://schemas.openxmlformats.org/drawingml/2006/main">
            <a:off x="3333750" y="26574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Entra Agent ID · owners and sponsors · Conditional Access · lifecycle</a:t>
            </a:r>
          </a:p>
        </p:txBody>
      </p:sp>
      <p:sp>
        <p:nvSpPr>
          <p:cNvPr id="12" name="">
            <a:extLst xmlns:a="http://schemas.openxmlformats.org/drawingml/2006/main">
              <a:ext uri="{FF2B5EF4-FFF2-40B4-BE49-F238E27FC236}">
                <a16:creationId xmlns:a16="http://schemas.microsoft.com/office/drawing/2014/main" id="{137ED688-C613-48FC-8D64-CF4BBBAA0F04}"/>
              </a:ext>
            </a:extLst>
          </p:cNvPr>
          <p:cNvSpPr>
            <a:spLocks xmlns:a="http://schemas.openxmlformats.org/drawingml/2006/main" noGrp="1"/>
          </p:cNvSpPr>
          <p:nvPr/>
        </p:nvSpPr>
        <p:spPr>
          <a:xfrm xmlns:a="http://schemas.openxmlformats.org/drawingml/2006/main">
            <a:off x="666750" y="3400425"/>
            <a:ext cx="76200" cy="52387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BC26DE-9428-4863-A648-D3C90B019A6C}"/>
              </a:ext>
            </a:extLst>
          </p:cNvPr>
          <p:cNvSpPr>
            <a:spLocks xmlns:a="http://schemas.openxmlformats.org/drawingml/2006/main" noGrp="1"/>
          </p:cNvSpPr>
          <p:nvPr/>
        </p:nvSpPr>
        <p:spPr>
          <a:xfrm xmlns:a="http://schemas.openxmlformats.org/drawingml/2006/main">
            <a:off x="942975" y="34004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FFFF"/>
                </a:solidFill>
                <a:latin typeface="Arial"/>
                <a:ea typeface="Arial"/>
                <a:cs typeface="Arial"/>
              </a:defRPr>
            </a:pPr>
            <a:r>
              <a:rPr sz="1125" b="1">
                <a:solidFill>
                  <a:srgbClr val="00FFFF"/>
                </a:solidFill>
                <a:latin typeface="Arial"/>
                <a:ea typeface="Arial"/>
                <a:cs typeface="Arial"/>
              </a:rPr>
              <a:t>DATA &amp; PROVENANCE</a:t>
            </a:r>
          </a:p>
        </p:txBody>
      </p:sp>
      <p:sp>
        <p:nvSpPr>
          <p:cNvPr id="14" name="">
            <a:extLst xmlns:a="http://schemas.openxmlformats.org/drawingml/2006/main">
              <a:ext uri="{FF2B5EF4-FFF2-40B4-BE49-F238E27FC236}">
                <a16:creationId xmlns:a16="http://schemas.microsoft.com/office/drawing/2014/main" id="{3CE1F9C7-08F1-4DAB-B56C-D506C10C72DF}"/>
              </a:ext>
            </a:extLst>
          </p:cNvPr>
          <p:cNvSpPr>
            <a:spLocks xmlns:a="http://schemas.openxmlformats.org/drawingml/2006/main" noGrp="1"/>
          </p:cNvSpPr>
          <p:nvPr/>
        </p:nvSpPr>
        <p:spPr>
          <a:xfrm xmlns:a="http://schemas.openxmlformats.org/drawingml/2006/main">
            <a:off x="3333750" y="33813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Purview · DSPM for AI · DLP and labels · Fabric governance</a:t>
            </a:r>
          </a:p>
        </p:txBody>
      </p:sp>
      <p:sp>
        <p:nvSpPr>
          <p:cNvPr id="15" name="">
            <a:extLst xmlns:a="http://schemas.openxmlformats.org/drawingml/2006/main">
              <a:ext uri="{FF2B5EF4-FFF2-40B4-BE49-F238E27FC236}">
                <a16:creationId xmlns:a16="http://schemas.microsoft.com/office/drawing/2014/main" id="{343B2DF6-150A-4307-AD5A-5575CABEF292}"/>
              </a:ext>
            </a:extLst>
          </p:cNvPr>
          <p:cNvSpPr>
            <a:spLocks xmlns:a="http://schemas.openxmlformats.org/drawingml/2006/main" noGrp="1"/>
          </p:cNvSpPr>
          <p:nvPr/>
        </p:nvSpPr>
        <p:spPr>
          <a:xfrm xmlns:a="http://schemas.openxmlformats.org/drawingml/2006/main">
            <a:off x="666750" y="4124325"/>
            <a:ext cx="76200" cy="523875"/>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C1D044-9AB6-487C-9020-F93BE2DA070A}"/>
              </a:ext>
            </a:extLst>
          </p:cNvPr>
          <p:cNvSpPr>
            <a:spLocks xmlns:a="http://schemas.openxmlformats.org/drawingml/2006/main" noGrp="1"/>
          </p:cNvSpPr>
          <p:nvPr/>
        </p:nvSpPr>
        <p:spPr>
          <a:xfrm xmlns:a="http://schemas.openxmlformats.org/drawingml/2006/main">
            <a:off x="942975" y="41243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E5484D"/>
                </a:solidFill>
                <a:latin typeface="Arial"/>
                <a:ea typeface="Arial"/>
                <a:cs typeface="Arial"/>
              </a:defRPr>
            </a:pPr>
            <a:r>
              <a:rPr sz="1125" b="1">
                <a:solidFill>
                  <a:srgbClr val="E5484D"/>
                </a:solidFill>
                <a:latin typeface="Arial"/>
                <a:ea typeface="Arial"/>
                <a:cs typeface="Arial"/>
              </a:rPr>
              <a:t>DETECT &amp; RESPOND</a:t>
            </a:r>
          </a:p>
        </p:txBody>
      </p:sp>
      <p:sp>
        <p:nvSpPr>
          <p:cNvPr id="17" name="">
            <a:extLst xmlns:a="http://schemas.openxmlformats.org/drawingml/2006/main">
              <a:ext uri="{FF2B5EF4-FFF2-40B4-BE49-F238E27FC236}">
                <a16:creationId xmlns:a16="http://schemas.microsoft.com/office/drawing/2014/main" id="{403935FC-0F0D-4233-A628-2F09A4CC3F27}"/>
              </a:ext>
            </a:extLst>
          </p:cNvPr>
          <p:cNvSpPr>
            <a:spLocks xmlns:a="http://schemas.openxmlformats.org/drawingml/2006/main" noGrp="1"/>
          </p:cNvSpPr>
          <p:nvPr/>
        </p:nvSpPr>
        <p:spPr>
          <a:xfrm xmlns:a="http://schemas.openxmlformats.org/drawingml/2006/main">
            <a:off x="3333750" y="41052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Defender XDR · Microsoft Sentinel · audit and investigation</a:t>
            </a:r>
          </a:p>
        </p:txBody>
      </p:sp>
      <p:sp>
        <p:nvSpPr>
          <p:cNvPr id="18" name="">
            <a:extLst xmlns:a="http://schemas.openxmlformats.org/drawingml/2006/main">
              <a:ext uri="{FF2B5EF4-FFF2-40B4-BE49-F238E27FC236}">
                <a16:creationId xmlns:a16="http://schemas.microsoft.com/office/drawing/2014/main" id="{11F3760B-2C75-4D54-AC4E-113077A7E96F}"/>
              </a:ext>
            </a:extLst>
          </p:cNvPr>
          <p:cNvSpPr>
            <a:spLocks xmlns:a="http://schemas.openxmlformats.org/drawingml/2006/main" noGrp="1"/>
          </p:cNvSpPr>
          <p:nvPr/>
        </p:nvSpPr>
        <p:spPr>
          <a:xfrm xmlns:a="http://schemas.openxmlformats.org/drawingml/2006/main">
            <a:off x="666750" y="4848225"/>
            <a:ext cx="76200" cy="523875"/>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85DA29E-5BB1-4487-9762-CEDD558098E9}"/>
              </a:ext>
            </a:extLst>
          </p:cNvPr>
          <p:cNvSpPr>
            <a:spLocks xmlns:a="http://schemas.openxmlformats.org/drawingml/2006/main" noGrp="1"/>
          </p:cNvSpPr>
          <p:nvPr/>
        </p:nvSpPr>
        <p:spPr>
          <a:xfrm xmlns:a="http://schemas.openxmlformats.org/drawingml/2006/main">
            <a:off x="942975" y="4848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7BC3"/>
                </a:solidFill>
                <a:latin typeface="Arial"/>
                <a:ea typeface="Arial"/>
                <a:cs typeface="Arial"/>
              </a:defRPr>
            </a:pPr>
            <a:r>
              <a:rPr sz="1125" b="1">
                <a:solidFill>
                  <a:srgbClr val="007BC3"/>
                </a:solidFill>
                <a:latin typeface="Arial"/>
                <a:ea typeface="Arial"/>
                <a:cs typeface="Arial"/>
              </a:rPr>
              <a:t>CROSS-ESTATE CONTROL</a:t>
            </a:r>
          </a:p>
        </p:txBody>
      </p:sp>
      <p:sp>
        <p:nvSpPr>
          <p:cNvPr id="20" name="">
            <a:extLst xmlns:a="http://schemas.openxmlformats.org/drawingml/2006/main">
              <a:ext uri="{FF2B5EF4-FFF2-40B4-BE49-F238E27FC236}">
                <a16:creationId xmlns:a16="http://schemas.microsoft.com/office/drawing/2014/main" id="{DDD11DBB-6A5B-415C-9AFF-85D6761D6DF2}"/>
              </a:ext>
            </a:extLst>
          </p:cNvPr>
          <p:cNvSpPr>
            <a:spLocks xmlns:a="http://schemas.openxmlformats.org/drawingml/2006/main" noGrp="1"/>
          </p:cNvSpPr>
          <p:nvPr/>
        </p:nvSpPr>
        <p:spPr>
          <a:xfrm xmlns:a="http://schemas.openxmlformats.org/drawingml/2006/main">
            <a:off x="3333750" y="48291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Agent 365 and Copilot Control System · inventory · policy · measurement</a:t>
            </a:r>
          </a:p>
        </p:txBody>
      </p:sp>
      <p:sp>
        <p:nvSpPr>
          <p:cNvPr id="21" name="">
            <a:extLst xmlns:a="http://schemas.openxmlformats.org/drawingml/2006/main">
              <a:ext uri="{FF2B5EF4-FFF2-40B4-BE49-F238E27FC236}">
                <a16:creationId xmlns:a16="http://schemas.microsoft.com/office/drawing/2014/main" id="{65DA02AA-4B35-4D95-81AA-AF7642ED2B17}"/>
              </a:ext>
            </a:extLst>
          </p:cNvPr>
          <p:cNvSpPr>
            <a:spLocks xmlns:a="http://schemas.openxmlformats.org/drawingml/2006/main" noGrp="1"/>
          </p:cNvSpPr>
          <p:nvPr/>
        </p:nvSpPr>
        <p:spPr>
          <a:xfrm xmlns:a="http://schemas.openxmlformats.org/drawingml/2006/main">
            <a:off x="7981950" y="6191250"/>
            <a:ext cx="327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a:solidFill>
                  <a:srgbClr val="9AA7B5"/>
                </a:solidFill>
                <a:latin typeface="Arial"/>
                <a:ea typeface="Arial"/>
                <a:cs typeface="Arial"/>
              </a:defRPr>
            </a:pPr>
            <a:r>
              <a:rPr sz="975" b="0">
                <a:solidFill>
                  <a:srgbClr val="9AA7B5"/>
                </a:solidFill>
                <a:latin typeface="Arial"/>
                <a:ea typeface="Arial"/>
                <a:cs typeface="Arial"/>
              </a:rPr>
              <a:t>Capability map, not a complete target architecture</a:t>
            </a:r>
          </a:p>
        </p:txBody>
      </p:sp>
    </p:spTree>
    <p:extLst>
      <p:ext uri="{BB962C8B-B14F-4D97-AF65-F5344CB8AC3E}">
        <p14:creationId xmlns:p14="http://schemas.microsoft.com/office/powerpoint/2010/main" val="1456541785"/>
      </p:ext>
    </p:extLst>
  </p:cSld>
</p:sld>
</file>

<file path=ppt/slides/slide1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2613CF-929A-40C9-854C-CA76645433B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CLOSE</a:t>
            </a:r>
          </a:p>
        </p:txBody>
      </p:sp>
      <p:sp>
        <p:nvSpPr>
          <p:cNvPr id="2" name="">
            <a:extLst xmlns:a="http://schemas.openxmlformats.org/drawingml/2006/main">
              <a:ext uri="{FF2B5EF4-FFF2-40B4-BE49-F238E27FC236}">
                <a16:creationId xmlns:a16="http://schemas.microsoft.com/office/drawing/2014/main" id="{BD6C9F32-0B49-452C-9EFA-7A69EE1DBF0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Before the agent earns authority</a:t>
            </a:r>
          </a:p>
        </p:txBody>
      </p:sp>
      <p:sp>
        <p:nvSpPr>
          <p:cNvPr id="3" name="">
            <a:extLst xmlns:a="http://schemas.openxmlformats.org/drawingml/2006/main">
              <a:ext uri="{FF2B5EF4-FFF2-40B4-BE49-F238E27FC236}">
                <a16:creationId xmlns:a16="http://schemas.microsoft.com/office/drawing/2014/main" id="{F059A4AE-89A1-43BE-BDDF-9F2F46D32D11}"/>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805B3661-875B-4CE8-900B-5226CEC6AA54}"/>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34B9F18B-6A41-415A-B5E5-32C7E3320DA2}"/>
              </a:ext>
            </a:extLst>
          </p:cNvPr>
          <p:cNvSpPr>
            <a:spLocks xmlns:a="http://schemas.openxmlformats.org/drawingml/2006/main" noGrp="1"/>
          </p:cNvSpPr>
          <p:nvPr/>
        </p:nvSpPr>
        <p:spPr>
          <a:xfrm xmlns:a="http://schemas.openxmlformats.org/drawingml/2006/main">
            <a:off x="685800" y="14287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59EADC1-9E1F-45A4-8B50-FC08DD0CC9F1}"/>
              </a:ext>
            </a:extLst>
          </p:cNvPr>
          <p:cNvSpPr>
            <a:spLocks xmlns:a="http://schemas.openxmlformats.org/drawingml/2006/main" noGrp="1"/>
          </p:cNvSpPr>
          <p:nvPr/>
        </p:nvSpPr>
        <p:spPr>
          <a:xfrm xmlns:a="http://schemas.openxmlformats.org/drawingml/2006/main">
            <a:off x="1238250" y="13620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may it read, decide and change without a person?</a:t>
            </a:r>
          </a:p>
        </p:txBody>
      </p:sp>
      <p:sp>
        <p:nvSpPr>
          <p:cNvPr id="7" name="">
            <a:extLst xmlns:a="http://schemas.openxmlformats.org/drawingml/2006/main">
              <a:ext uri="{FF2B5EF4-FFF2-40B4-BE49-F238E27FC236}">
                <a16:creationId xmlns:a16="http://schemas.microsoft.com/office/drawing/2014/main" id="{4FB39231-32F0-40FF-89C1-D0D08D90F5AC}"/>
              </a:ext>
            </a:extLst>
          </p:cNvPr>
          <p:cNvSpPr>
            <a:spLocks xmlns:a="http://schemas.openxmlformats.org/drawingml/2006/main" noGrp="1"/>
          </p:cNvSpPr>
          <p:nvPr/>
        </p:nvSpPr>
        <p:spPr>
          <a:xfrm xmlns:a="http://schemas.openxmlformats.org/drawingml/2006/main">
            <a:off x="685800" y="21621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D1D2FFA-48C0-4CEF-9102-7A0553CDB53A}"/>
              </a:ext>
            </a:extLst>
          </p:cNvPr>
          <p:cNvSpPr>
            <a:spLocks xmlns:a="http://schemas.openxmlformats.org/drawingml/2006/main" noGrp="1"/>
          </p:cNvSpPr>
          <p:nvPr/>
        </p:nvSpPr>
        <p:spPr>
          <a:xfrm xmlns:a="http://schemas.openxmlformats.org/drawingml/2006/main">
            <a:off x="1238250" y="2095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Which identity acts - and can we disable it without stopping something else?</a:t>
            </a:r>
          </a:p>
        </p:txBody>
      </p:sp>
      <p:sp>
        <p:nvSpPr>
          <p:cNvPr id="9" name="">
            <a:extLst xmlns:a="http://schemas.openxmlformats.org/drawingml/2006/main">
              <a:ext uri="{FF2B5EF4-FFF2-40B4-BE49-F238E27FC236}">
                <a16:creationId xmlns:a16="http://schemas.microsoft.com/office/drawing/2014/main" id="{3FBCE9FD-0825-4A9B-BE09-3990D6307ED9}"/>
              </a:ext>
            </a:extLst>
          </p:cNvPr>
          <p:cNvSpPr>
            <a:spLocks xmlns:a="http://schemas.openxmlformats.org/drawingml/2006/main" noGrp="1"/>
          </p:cNvSpPr>
          <p:nvPr/>
        </p:nvSpPr>
        <p:spPr>
          <a:xfrm xmlns:a="http://schemas.openxmlformats.org/drawingml/2006/main">
            <a:off x="685800" y="2895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14C864F-9A85-4353-9512-8DAA8C4301BF}"/>
              </a:ext>
            </a:extLst>
          </p:cNvPr>
          <p:cNvSpPr>
            <a:spLocks xmlns:a="http://schemas.openxmlformats.org/drawingml/2006/main" noGrp="1"/>
          </p:cNvSpPr>
          <p:nvPr/>
        </p:nvSpPr>
        <p:spPr>
          <a:xfrm xmlns:a="http://schemas.openxmlformats.org/drawingml/2006/main">
            <a:off x="1238250" y="282892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Can we reconstruct why it acted, not just which API it called?</a:t>
            </a:r>
          </a:p>
        </p:txBody>
      </p:sp>
      <p:sp>
        <p:nvSpPr>
          <p:cNvPr id="11" name="">
            <a:extLst xmlns:a="http://schemas.openxmlformats.org/drawingml/2006/main">
              <a:ext uri="{FF2B5EF4-FFF2-40B4-BE49-F238E27FC236}">
                <a16:creationId xmlns:a16="http://schemas.microsoft.com/office/drawing/2014/main" id="{9283F099-A825-475B-946F-00EBFEC30D0E}"/>
              </a:ext>
            </a:extLst>
          </p:cNvPr>
          <p:cNvSpPr>
            <a:spLocks xmlns:a="http://schemas.openxmlformats.org/drawingml/2006/main" noGrp="1"/>
          </p:cNvSpPr>
          <p:nvPr/>
        </p:nvSpPr>
        <p:spPr>
          <a:xfrm xmlns:a="http://schemas.openxmlformats.org/drawingml/2006/main">
            <a:off x="685800" y="3629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62DE0246-C295-4AC5-BEC2-112D5A585450}"/>
              </a:ext>
            </a:extLst>
          </p:cNvPr>
          <p:cNvSpPr>
            <a:spLocks xmlns:a="http://schemas.openxmlformats.org/drawingml/2006/main" noGrp="1"/>
          </p:cNvSpPr>
          <p:nvPr/>
        </p:nvSpPr>
        <p:spPr>
          <a:xfrm xmlns:a="http://schemas.openxmlformats.org/drawingml/2006/main">
            <a:off x="1238250" y="35623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Who may contain it, notify stakeholders and authorise restart?</a:t>
            </a:r>
          </a:p>
        </p:txBody>
      </p:sp>
      <p:sp>
        <p:nvSpPr>
          <p:cNvPr id="13" name="">
            <a:extLst xmlns:a="http://schemas.openxmlformats.org/drawingml/2006/main">
              <a:ext uri="{FF2B5EF4-FFF2-40B4-BE49-F238E27FC236}">
                <a16:creationId xmlns:a16="http://schemas.microsoft.com/office/drawing/2014/main" id="{470A9B93-98CE-484C-9CF1-8F88A43CDDAD}"/>
              </a:ext>
            </a:extLst>
          </p:cNvPr>
          <p:cNvSpPr>
            <a:spLocks xmlns:a="http://schemas.openxmlformats.org/drawingml/2006/main" noGrp="1"/>
          </p:cNvSpPr>
          <p:nvPr/>
        </p:nvSpPr>
        <p:spPr>
          <a:xfrm xmlns:a="http://schemas.openxmlformats.org/drawingml/2006/main">
            <a:off x="685800" y="4362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E5484D"/>
                </a:solidFill>
                <a:latin typeface="Arial"/>
                <a:ea typeface="Arial"/>
                <a:cs typeface="Arial"/>
              </a:defRPr>
            </a:pPr>
            <a:r>
              <a:rPr sz="1200" b="1">
                <a:solidFill>
                  <a:srgbClr val="E5484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80DDC6DD-D374-4130-9A88-633B35403E0E}"/>
              </a:ext>
            </a:extLst>
          </p:cNvPr>
          <p:cNvSpPr>
            <a:spLocks xmlns:a="http://schemas.openxmlformats.org/drawingml/2006/main" noGrp="1"/>
          </p:cNvSpPr>
          <p:nvPr/>
        </p:nvSpPr>
        <p:spPr>
          <a:xfrm xmlns:a="http://schemas.openxmlformats.org/drawingml/2006/main">
            <a:off x="1238250" y="42957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evidence and controls must exist before its authority expands?</a:t>
            </a:r>
          </a:p>
        </p:txBody>
      </p:sp>
      <p:sp>
        <p:nvSpPr>
          <p:cNvPr id="15" name="">
            <a:extLst xmlns:a="http://schemas.openxmlformats.org/drawingml/2006/main">
              <a:ext uri="{FF2B5EF4-FFF2-40B4-BE49-F238E27FC236}">
                <a16:creationId xmlns:a16="http://schemas.microsoft.com/office/drawing/2014/main" id="{13144658-B0A1-4A37-A7B9-54C9D4DDB8D9}"/>
              </a:ext>
            </a:extLst>
          </p:cNvPr>
          <p:cNvSpPr>
            <a:spLocks xmlns:a="http://schemas.openxmlformats.org/drawingml/2006/main" noGrp="1"/>
          </p:cNvSpPr>
          <p:nvPr/>
        </p:nvSpPr>
        <p:spPr>
          <a:xfrm xmlns:a="http://schemas.openxmlformats.org/drawingml/2006/main">
            <a:off x="666750" y="5391150"/>
            <a:ext cx="10572750" cy="723900"/>
          </a:xfrm>
          <a:prstGeom xmlns:a="http://schemas.openxmlformats.org/drawingml/2006/main" prst="roundRect">
            <a:avLst>
              <a:gd name="adj" fmla="val 10526"/>
            </a:avLst>
          </a:prstGeom>
          <a:solidFill xmlns:a="http://schemas.openxmlformats.org/drawingml/2006/main">
            <a:srgbClr val="0B2448"/>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DAE25964-FC3F-4D41-8BA0-B37A34EF0773}"/>
              </a:ext>
            </a:extLst>
          </p:cNvPr>
          <p:cNvSpPr>
            <a:spLocks xmlns:a="http://schemas.openxmlformats.org/drawingml/2006/main" noGrp="1"/>
          </p:cNvSpPr>
          <p:nvPr/>
        </p:nvSpPr>
        <p:spPr>
          <a:xfrm xmlns:a="http://schemas.openxmlformats.org/drawingml/2006/main">
            <a:off x="895350" y="55626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800" b="1">
                <a:solidFill>
                  <a:srgbClr val="00FFFF"/>
                </a:solidFill>
                <a:latin typeface="Arial"/>
                <a:ea typeface="Arial"/>
                <a:cs typeface="Arial"/>
              </a:defRPr>
            </a:pPr>
            <a:r>
              <a:rPr sz="1800" b="1">
                <a:solidFill>
                  <a:srgbClr val="00FFFF"/>
                </a:solidFill>
                <a:latin typeface="Arial"/>
                <a:ea typeface="Arial"/>
                <a:cs typeface="Arial"/>
              </a:rPr>
              <a:t>The agent can act in seconds. Can your organisation decide in time?</a:t>
            </a:r>
          </a:p>
        </p:txBody>
      </p:sp>
    </p:spTree>
    <p:extLst>
      <p:ext uri="{BB962C8B-B14F-4D97-AF65-F5344CB8AC3E}">
        <p14:creationId xmlns:p14="http://schemas.microsoft.com/office/powerpoint/2010/main" val="1814963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2026-09-04T11:50:50.6190000Z</dcterms:created>
  <dcterms:modified xsi:type="dcterms:W3CDTF">2026-09-04T11:50:50.6190000Z</dcterms:modified>
</coreProperties>
</file>