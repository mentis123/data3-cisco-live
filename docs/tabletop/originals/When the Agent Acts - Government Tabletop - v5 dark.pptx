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eb0971057549fc" /><Relationship Type="http://schemas.openxmlformats.org/officeDocument/2006/relationships/extended-properties" Target="/docProps/app.xml" Id="Rdf5c7d87d5b04d50" /><Relationship Type="http://schemas.openxmlformats.org/officeDocument/2006/relationships/officeDocument" Target="/ppt/presentation.xml" Id="R77e248e8d407405b" /></Relationships>
</file>

<file path=ppt/presentation.xml><?xml version="1.0" encoding="utf-8"?>
<p:presentation xmlns:p="http://schemas.openxmlformats.org/presentationml/2006/main">
  <p:sldMasterIdLst>
    <p:sldMasterId xmlns:r="http://schemas.openxmlformats.org/officeDocument/2006/relationships" id="2147483648" r:id="R06583f48fcdd4e76"/>
  </p:sldMasterIdLst>
  <p:notesMasterIdLst>
    <p:notesMasterId xmlns:r="http://schemas.openxmlformats.org/officeDocument/2006/relationships" r:id="Re79bef6d430f4ba8"/>
  </p:notesMasterIdLst>
  <p:sldIdLst>
    <p:sldId xmlns:r="http://schemas.openxmlformats.org/officeDocument/2006/relationships" id="256" r:id="Rff009cdb7a3f4c4a"/>
    <p:sldId xmlns:r="http://schemas.openxmlformats.org/officeDocument/2006/relationships" id="257" r:id="R65b1b8745954491a"/>
    <p:sldId xmlns:r="http://schemas.openxmlformats.org/officeDocument/2006/relationships" id="258" r:id="R803bebc496354e62"/>
    <p:sldId xmlns:r="http://schemas.openxmlformats.org/officeDocument/2006/relationships" id="259" r:id="R98ae874c37cf4976"/>
    <p:sldId xmlns:r="http://schemas.openxmlformats.org/officeDocument/2006/relationships" id="260" r:id="R58c17f9e04e347c6"/>
    <p:sldId xmlns:r="http://schemas.openxmlformats.org/officeDocument/2006/relationships" id="261" r:id="Recbbfd77c24d4e0f"/>
    <p:sldId xmlns:r="http://schemas.openxmlformats.org/officeDocument/2006/relationships" id="262" r:id="R27ca2142d6324d7e"/>
    <p:sldId xmlns:r="http://schemas.openxmlformats.org/officeDocument/2006/relationships" id="263" r:id="R1676357087554280"/>
    <p:sldId xmlns:r="http://schemas.openxmlformats.org/officeDocument/2006/relationships" id="264" r:id="R46b5ffe319fb44c2"/>
    <p:sldId xmlns:r="http://schemas.openxmlformats.org/officeDocument/2006/relationships" id="265" r:id="Ref5475f3c2564cd8"/>
    <p:sldId xmlns:r="http://schemas.openxmlformats.org/officeDocument/2006/relationships" id="266" r:id="R79ff9e046e3045f3"/>
    <p:sldId xmlns:r="http://schemas.openxmlformats.org/officeDocument/2006/relationships" id="267" r:id="Re8eb0219963c4477"/>
    <p:sldId xmlns:r="http://schemas.openxmlformats.org/officeDocument/2006/relationships" id="268" r:id="Rf10e68c721014207"/>
    <p:sldId xmlns:r="http://schemas.openxmlformats.org/officeDocument/2006/relationships" id="269" r:id="R4e182f47510d4b6f"/>
    <p:sldId xmlns:r="http://schemas.openxmlformats.org/officeDocument/2006/relationships" id="270" r:id="Rc9ab5e7abb544e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6e54f824654e65" /><Relationship Type="http://schemas.openxmlformats.org/officeDocument/2006/relationships/slideMaster" Target="/ppt/slideMasters/slideMaster1.xml" Id="R06583f48fcdd4e76" /><Relationship Type="http://schemas.openxmlformats.org/officeDocument/2006/relationships/notesMaster" Target="/ppt/notesMasters/notesMaster1.xml" Id="Re79bef6d430f4ba8" /><Relationship Type="http://schemas.openxmlformats.org/officeDocument/2006/relationships/presProps" Target="/ppt/presProps.xml" Id="R9b2b5a3cd254466f" /><Relationship Type="http://schemas.openxmlformats.org/officeDocument/2006/relationships/tableStyles" Target="/ppt/tableStyles.xml" Id="R95f57d84cea54ffe" /><Relationship Type="http://schemas.openxmlformats.org/officeDocument/2006/relationships/slide" Target="/ppt/slides/slide1.xml" Id="Rff009cdb7a3f4c4a" /><Relationship Type="http://schemas.openxmlformats.org/officeDocument/2006/relationships/slide" Target="/ppt/slides/slide2.xml" Id="R65b1b8745954491a" /><Relationship Type="http://schemas.openxmlformats.org/officeDocument/2006/relationships/slide" Target="/ppt/slides/slide3.xml" Id="R803bebc496354e62" /><Relationship Type="http://schemas.openxmlformats.org/officeDocument/2006/relationships/slide" Target="/ppt/slides/slide4.xml" Id="R98ae874c37cf4976" /><Relationship Type="http://schemas.openxmlformats.org/officeDocument/2006/relationships/slide" Target="/ppt/slides/slide5.xml" Id="R58c17f9e04e347c6" /><Relationship Type="http://schemas.openxmlformats.org/officeDocument/2006/relationships/slide" Target="/ppt/slides/slide6.xml" Id="Recbbfd77c24d4e0f" /><Relationship Type="http://schemas.openxmlformats.org/officeDocument/2006/relationships/slide" Target="/ppt/slides/slide7.xml" Id="R27ca2142d6324d7e" /><Relationship Type="http://schemas.openxmlformats.org/officeDocument/2006/relationships/slide" Target="/ppt/slides/slide8.xml" Id="R1676357087554280" /><Relationship Type="http://schemas.openxmlformats.org/officeDocument/2006/relationships/slide" Target="/ppt/slides/slide9.xml" Id="R46b5ffe319fb44c2" /><Relationship Type="http://schemas.openxmlformats.org/officeDocument/2006/relationships/slide" Target="/ppt/slides/slide10.xml" Id="Ref5475f3c2564cd8" /><Relationship Type="http://schemas.openxmlformats.org/officeDocument/2006/relationships/slide" Target="/ppt/slides/slide11.xml" Id="R79ff9e046e3045f3" /><Relationship Type="http://schemas.openxmlformats.org/officeDocument/2006/relationships/slide" Target="/ppt/slides/slide12.xml" Id="Re8eb0219963c4477" /><Relationship Type="http://schemas.openxmlformats.org/officeDocument/2006/relationships/slide" Target="/ppt/slides/slide13.xml" Id="Rf10e68c721014207" /><Relationship Type="http://schemas.openxmlformats.org/officeDocument/2006/relationships/slide" Target="/ppt/slides/slide14.xml" Id="R4e182f47510d4b6f" /><Relationship Type="http://schemas.openxmlformats.org/officeDocument/2006/relationships/slide" Target="/ppt/slides/slide15.xml" Id="Rc9ab5e7abb544e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e7b7502c344a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5a976029ab4697" /><Relationship Type="http://schemas.openxmlformats.org/officeDocument/2006/relationships/notesMaster" Target="/ppt/notesMasters/notesMaster1.xml" Id="Rf6948bfccbf84d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35019285ac4699" /><Relationship Type="http://schemas.openxmlformats.org/officeDocument/2006/relationships/notesMaster" Target="/ppt/notesMasters/notesMaster1.xml" Id="R55a2160c5eb849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2fad557cd64e56" /><Relationship Type="http://schemas.openxmlformats.org/officeDocument/2006/relationships/notesMaster" Target="/ppt/notesMasters/notesMaster1.xml" Id="R83cbcd591c1c47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80b706817c4e43" /><Relationship Type="http://schemas.openxmlformats.org/officeDocument/2006/relationships/notesMaster" Target="/ppt/notesMasters/notesMaster1.xml" Id="R2fc41ccea9a44c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700ebb33f24bc0" /><Relationship Type="http://schemas.openxmlformats.org/officeDocument/2006/relationships/notesMaster" Target="/ppt/notesMasters/notesMaster1.xml" Id="R241a688d0a7d46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b1cec9778940ff" /><Relationship Type="http://schemas.openxmlformats.org/officeDocument/2006/relationships/notesMaster" Target="/ppt/notesMasters/notesMaster1.xml" Id="R5f7abad726f84a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92e684aa9646ec" /><Relationship Type="http://schemas.openxmlformats.org/officeDocument/2006/relationships/notesMaster" Target="/ppt/notesMasters/notesMaster1.xml" Id="Rc8add26091d942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ee7d32c6934794" /><Relationship Type="http://schemas.openxmlformats.org/officeDocument/2006/relationships/notesMaster" Target="/ppt/notesMasters/notesMaster1.xml" Id="Rf84231a2263149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c38c05f7164366" /><Relationship Type="http://schemas.openxmlformats.org/officeDocument/2006/relationships/notesMaster" Target="/ppt/notesMasters/notesMaster1.xml" Id="R086b4668d6c24f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2125e75cd84cc9" /><Relationship Type="http://schemas.openxmlformats.org/officeDocument/2006/relationships/notesMaster" Target="/ppt/notesMasters/notesMaster1.xml" Id="R495bf87c0c2542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00f3ed8d7843b2" /><Relationship Type="http://schemas.openxmlformats.org/officeDocument/2006/relationships/notesMaster" Target="/ppt/notesMasters/notesMaster1.xml" Id="R551e86c8eb534a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2213c833b54ded" /><Relationship Type="http://schemas.openxmlformats.org/officeDocument/2006/relationships/notesMaster" Target="/ppt/notesMasters/notesMaster1.xml" Id="R074ffa59e52c46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10f7de53504876" /><Relationship Type="http://schemas.openxmlformats.org/officeDocument/2006/relationships/notesMaster" Target="/ppt/notesMasters/notesMaster1.xml" Id="R7136cb1d39fc4b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987996bea3465f" /><Relationship Type="http://schemas.openxmlformats.org/officeDocument/2006/relationships/notesMaster" Target="/ppt/notesMasters/notesMaster1.xml" Id="R3004a5d4668d4a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9daa4673604210" /><Relationship Type="http://schemas.openxmlformats.org/officeDocument/2006/relationships/notesMaster" Target="/ppt/notesMasters/notesMaster1.xml" Id="Ra9d0ff620cc24c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
            </a:r>
          </a:p>
          <a:p xmlns:a="http://schemas.openxmlformats.org/drawingml/2006/main">
            <a:r>
              <a:t>Welcome. This is not a product presentation and it is not a quiz. We are going to make a sequence of decisions with incomplete information, then test whether those decisions still hold when the facts move.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0:30–3:00</a:t>
            </a:r>
          </a:p>
          <a:p xmlns:a="http://schemas.openxmlformats.org/drawingml/2006/main">
            <a:r>
              <a:t/>
            </a:r>
          </a:p>
          <a:p xmlns:a="http://schemas.openxmlformats.org/drawingml/2006/main">
            <a:r>
              <a:t>Open with the tempo, not the technology. In the Unit 42 investigation, a human attacker used AI agents to compress what normally takes weeks into less than ten hours, including mapping the environment, raiding repositories and obtaining privileged credentials. The point is simple: the response window is becoming a design constraint.</a:t>
            </a:r>
          </a:p>
          <a:p xmlns:a="http://schemas.openxmlformats.org/drawingml/2006/main">
            <a:r>
              <a:t/>
            </a:r>
          </a:p>
          <a:p xmlns:a="http://schemas.openxmlformats.org/drawingml/2006/main">
            <a:r>
              <a:t>Sources</a:t>
            </a:r>
          </a:p>
          <a:p xmlns:a="http://schemas.openxmlformats.org/drawingml/2006/main">
            <a:r>
              <a:t>https://unit42.paloaltonetworks.com/ai-assisted-cyber-attack-inside-a-unit-42-investigation/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3:00–5:30</a:t>
            </a:r>
          </a:p>
          <a:p xmlns:a="http://schemas.openxmlformats.org/drawingml/2006/main">
            <a:r>
              <a:t/>
            </a:r>
          </a:p>
          <a:p xmlns:a="http://schemas.openxmlformats.org/drawingml/2006/main">
            <a:r>
              <a:t>The dangerous path does not need a malicious user, a stolen identity or obvious malware. A legitimate request can meet trusted content, a valid identity and permitted tools, then produce an action nobody intended. The security problem is the combination: each component can be working as designed while the end-to-end outcome is unacceptable.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5:30–8:00</a:t>
            </a:r>
          </a:p>
          <a:p xmlns:a="http://schemas.openxmlformats.org/drawingml/2006/main">
            <a:r>
              <a:t/>
            </a:r>
          </a:p>
          <a:p xmlns:a="http://schemas.openxmlformats.org/drawingml/2006/main">
            <a:r>
              <a:t>An agent does not carry your intent. It carries an identity, a set of tools and whatever context the workflow assembles. Every step may be technically authorised while the combined outcome is commercially or operationally unacceptable. That makes the boundary between permission and purpose a first-class control problem.</a:t>
            </a:r>
          </a:p>
          <a:p xmlns:a="http://schemas.openxmlformats.org/drawingml/2006/main">
            <a:r>
              <a:t/>
            </a:r>
          </a:p>
          <a:p xmlns:a="http://schemas.openxmlformats.org/drawingml/2006/main">
            <a:r>
              <a:t>Sources</a:t>
            </a:r>
          </a:p>
          <a:p xmlns:a="http://schemas.openxmlformats.org/drawingml/2006/main">
            <a:r>
              <a:t>https://learn.microsoft.com/en-us/entra/agent-id/security-for-ai-overview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8:00–10:30</a:t>
            </a:r>
          </a:p>
          <a:p xmlns:a="http://schemas.openxmlformats.org/drawingml/2006/main">
            <a:r>
              <a:t/>
            </a:r>
          </a:p>
          <a:p xmlns:a="http://schemas.openxmlformats.org/drawingml/2006/main">
            <a:r>
              <a:t>The model is only one component. Risk travels through the instruction, the acting identity, the context, connectors, data, the resulting action and the evidence left behind. If no one owns that end-to-end path, containment becomes a negotiation at exactly the moment you need decision speed.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10:30–13:30</a:t>
            </a:r>
          </a:p>
          <a:p xmlns:a="http://schemas.openxmlformats.org/drawingml/2006/main">
            <a:r>
              <a:t/>
            </a:r>
          </a:p>
          <a:p xmlns:a="http://schemas.openxmlformats.org/drawingml/2006/main">
            <a:r>
              <a:t>Observe, govern and secure are not three product categories. They are three conditions for a manageable incident. Today we will test whether the room can reconstruct what happened, name who may decide and keep the blast radius bounded while service pressure rises.</a:t>
            </a:r>
          </a:p>
          <a:p xmlns:a="http://schemas.openxmlformats.org/drawingml/2006/main">
            <a:r>
              <a:t/>
            </a:r>
          </a:p>
          <a:p xmlns:a="http://schemas.openxmlformats.org/drawingml/2006/main">
            <a:r>
              <a:t>Sources</a:t>
            </a:r>
          </a:p>
          <a:p xmlns:a="http://schemas.openxmlformats.org/drawingml/2006/main">
            <a:r>
              <a:t>https://learn.microsoft.com/en-us/microsoft-copilot-studio/security-and-governance</a:t>
            </a:r>
          </a:p>
          <a:p xmlns:a="http://schemas.openxmlformats.org/drawingml/2006/main">
            <a:r>
              <a:t>https://learn.microsoft.com/en-us/purview/data-security-posture-management-learn-about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13:30–15:00</a:t>
            </a:r>
          </a:p>
          <a:p xmlns:a="http://schemas.openxmlformats.org/drawingml/2006/main">
            <a:r>
              <a:t/>
            </a:r>
          </a:p>
          <a:p xmlns:a="http://schemas.openxmlformats.org/drawingml/2006/main">
            <a:r>
              <a:t>Put people into tables of five to eight and assign roles quickly. Explain that Adam is the Exercise Facilitator and Richard is Security Counsel. Richard is not judging or scoring tables; he is listening for strong reasoning, recurring blind spots and practical security lessons to synthesise at the end. Each round ends with a locked decision, a confidence score and one sentence of rationale. Speed is visible only as progress; quality of reasoning matters more, and a table may challenge the assumptions if it can state what evidence would change its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15:00–20:00</a:t>
            </a:r>
          </a:p>
          <a:p xmlns:a="http://schemas.openxmlformats.org/drawingml/2006/main">
            <a:r>
              <a:t/>
            </a:r>
          </a:p>
          <a:p xmlns:a="http://schemas.openxmlformats.org/drawingml/2006/main">
            <a:r>
              <a:t>Civic Assist is fictional, but the accountability and resilience tensions are intentionally realistic. Do not let the room collapse the exercise into a privacy-only discussion; the task is to balance evidence, essential service continuity, security and communications. Give tables five minutes to choose roles, read the one-page brief and identify their first two unknowns. Do not reveal later facts or answer questions that the scenario has not answered.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20:00–32:00</a:t>
            </a:r>
          </a:p>
          <a:p xmlns:a="http://schemas.openxmlformats.org/drawingml/2006/main">
            <a:r>
              <a:t/>
            </a:r>
          </a:p>
          <a:p xmlns:a="http://schemas.openxmlformats.org/drawingml/2006/main">
            <a:r>
              <a:t>Read the facts once, then start the timer. Tables may choose an option or define their own. At nine minutes, ask the scribe to prepare the locked choice, confidence and rationale; if using the Decision Room, show only progress states until every table is 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32:00–44:00</a:t>
            </a:r>
          </a:p>
          <a:p xmlns:a="http://schemas.openxmlformats.org/drawingml/2006/main">
            <a:r>
              <a:t/>
            </a:r>
          </a:p>
          <a:p xmlns:a="http://schemas.openxmlformats.org/drawingml/2006/main">
            <a:r>
              <a:t>Show the decision distribution first, then reveal the new facts. Ask one table with high confidence and one with low confidence to explain what changed. The round output is not a technical fix list; it is a named lead, a containment scope and an evidence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44:00–56:00</a:t>
            </a:r>
          </a:p>
          <a:p xmlns:a="http://schemas.openxmlformats.org/drawingml/2006/main">
            <a:r>
              <a:t/>
            </a:r>
          </a:p>
          <a:p xmlns:a="http://schemas.openxmlformats.org/drawingml/2006/main">
            <a:r>
              <a:t>Reveal all facts at once. This is the deliberate loop: the easiest containment action now breaks a service the room cares about. Press for explicit decision rights, an acceptable continuity trade-off, the first communication trigger and the evidence that must survive the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56:00–62:00</a:t>
            </a:r>
          </a:p>
          <a:p xmlns:a="http://schemas.openxmlformats.org/drawingml/2006/main">
            <a:r>
              <a:t/>
            </a:r>
          </a:p>
          <a:p xmlns:a="http://schemas.openxmlformats.org/drawingml/2006/main">
            <a:r>
              <a:t>Call time on exploration. Every table must turn its reasoning into one response with six fields. The constructive challenger gets one final minute to identify the weakest assumption, then the incident commander locks the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62:00–84:00</a:t>
            </a:r>
          </a:p>
          <a:p xmlns:a="http://schemas.openxmlformats.org/drawingml/2006/main">
            <a:r>
              <a:t/>
            </a:r>
          </a:p>
          <a:p xmlns:a="http://schemas.openxmlformats.org/drawingml/2006/main">
            <a:r>
              <a:t>Reserve the final four minutes for Richard as Security Counsel. Use up to two minutes per table; if table count makes that impossible, pair tables and nominate one report from each pair. After each report, Adam asks only one question: what evidence would make you reverse that call? Then hand to Richard: ‘Richard, you have heard the calls. What reasoning would you trust in a real incident, and where did the room expose a blind spot?’ Richard recognises strong decision patterns without scoring teams or declaring a correct answer. He should cover containment, continuity, evidence under uncertainty and one practical lesson to take back into the organisation.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84:00–88:00</a:t>
            </a:r>
          </a:p>
          <a:p xmlns:a="http://schemas.openxmlformats.org/drawingml/2006/main">
            <a:r>
              <a:t/>
            </a:r>
          </a:p>
          <a:p xmlns:a="http://schemas.openxmlformats.org/drawingml/2006/main">
            <a:r>
              <a:t>Now connect the decisions to control locations. Copilot Studio and Power Platform bound what can be built and connected; Entra governs the acting identity; Purview and Fabric controls make sensitive data and AI interaction risk visible; Defender and Sentinel support investigation and response; the cross-estate control layer provides inventory and policy. Keep this as a capability map, not a claim that one product solves an end-to-end operating model.</a:t>
            </a:r>
          </a:p>
          <a:p xmlns:a="http://schemas.openxmlformats.org/drawingml/2006/main">
            <a:r>
              <a:t/>
            </a:r>
          </a:p>
          <a:p xmlns:a="http://schemas.openxmlformats.org/drawingml/2006/main">
            <a:r>
              <a:t>Sources</a:t>
            </a:r>
          </a:p>
          <a:p xmlns:a="http://schemas.openxmlformats.org/drawingml/2006/main">
            <a:r>
              <a:t>https://learn.microsoft.com/en-us/microsoft-copilot-studio/security-and-governance</a:t>
            </a:r>
          </a:p>
          <a:p xmlns:a="http://schemas.openxmlformats.org/drawingml/2006/main">
            <a:r>
              <a:t>https://learn.microsoft.com/en-us/entra/agent-id/manage-agent-identities-admin</a:t>
            </a:r>
          </a:p>
          <a:p xmlns:a="http://schemas.openxmlformats.org/drawingml/2006/main">
            <a:r>
              <a:t>https://learn.microsoft.com/en-us/purview/data-security-posture-management-learn-about</a:t>
            </a:r>
          </a:p>
          <a:p xmlns:a="http://schemas.openxmlformats.org/drawingml/2006/main">
            <a:r>
              <a:t>https://learn.microsoft.com/en-us/fabric/governance/microsoft-purview-fabric</a:t>
            </a:r>
          </a:p>
          <a:p xmlns:a="http://schemas.openxmlformats.org/drawingml/2006/main">
            <a:r>
              <a:t>https://learn.microsoft.com/en-us/copilot/microsoft-365/copilot-control-system/management-controls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88:00–90:00</a:t>
            </a:r>
          </a:p>
          <a:p xmlns:a="http://schemas.openxmlformats.org/drawingml/2006/main">
            <a:r>
              <a:t/>
            </a:r>
          </a:p>
          <a:p xmlns:a="http://schemas.openxmlformats.org/drawingml/2006/main">
            <a:r>
              <a:t>Close on the operating questions the board can own. Agent speed does not remove human accountability; it makes clear decision rights, evidence and restart authority more important. Leave the room with the question: the agent can act in seconds, but can your organisation decide in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26adc3646946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a566b99af54994" /><Relationship Type="http://schemas.openxmlformats.org/officeDocument/2006/relationships/slideLayout" Target="/ppt/slideLayouts/slideLayout1.xml" Id="R6a4bb442b5824c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4bb442b5824c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149dc077fd47ba" /><Relationship Type="http://schemas.openxmlformats.org/officeDocument/2006/relationships/image" Target="/ppt/media/image.png" Id="R676ece4753b14379" /><Relationship Type="http://schemas.openxmlformats.org/officeDocument/2006/relationships/image" Target="/ppt/media/image2.png" Id="R2913631542b4431d" /><Relationship Type="http://schemas.openxmlformats.org/officeDocument/2006/relationships/notesSlide" Target="/ppt/notesSlides/notesSlide1.xml" Id="R8356857d45d34f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f6843428e34b47" /><Relationship Type="http://schemas.openxmlformats.org/officeDocument/2006/relationships/notesSlide" Target="/ppt/notesSlides/notesSlide2.xml" Id="R963da2b4788942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0f7aec08cd4cfb" /><Relationship Type="http://schemas.openxmlformats.org/officeDocument/2006/relationships/notesSlide" Target="/ppt/notesSlides/notesSlide3.xml" Id="R230291c671be48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0c1f273b6e4121" /><Relationship Type="http://schemas.openxmlformats.org/officeDocument/2006/relationships/notesSlide" Target="/ppt/notesSlides/notesSlide4.xml" Id="Ra6f8adfdbdfe48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46f208cfb04596" /><Relationship Type="http://schemas.openxmlformats.org/officeDocument/2006/relationships/notesSlide" Target="/ppt/notesSlides/notesSlide5.xml" Id="R0b1a896a0fb64c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df6b58fdae41b7" /><Relationship Type="http://schemas.openxmlformats.org/officeDocument/2006/relationships/notesSlide" Target="/ppt/notesSlides/notesSlide6.xml" Id="R22cc1ba59caa42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8bc9e1d4ca4390" /><Relationship Type="http://schemas.openxmlformats.org/officeDocument/2006/relationships/notesSlide" Target="/ppt/notesSlides/notesSlide7.xml" Id="R5ef4546623a549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1a76f5448f4758" /><Relationship Type="http://schemas.openxmlformats.org/officeDocument/2006/relationships/notesSlide" Target="/ppt/notesSlides/notesSlide8.xml" Id="R5c3fe863f3074f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62d6f6b5cf64dd0" /><Relationship Type="http://schemas.openxmlformats.org/officeDocument/2006/relationships/notesSlide" Target="/ppt/notesSlides/notesSlide9.xml" Id="Raac549532fb447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b9b1253aa14885" /><Relationship Type="http://schemas.openxmlformats.org/officeDocument/2006/relationships/notesSlide" Target="/ppt/notesSlides/notesSlide10.xml" Id="R3a756fd445444e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98e321afd04c66" /><Relationship Type="http://schemas.openxmlformats.org/officeDocument/2006/relationships/notesSlide" Target="/ppt/notesSlides/notesSlide11.xml" Id="Re55de41bd36645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f09894f45240a8" /><Relationship Type="http://schemas.openxmlformats.org/officeDocument/2006/relationships/notesSlide" Target="/ppt/notesSlides/notesSlide12.xml" Id="R4bed4e0b37cb43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fbb6125b86423e" /><Relationship Type="http://schemas.openxmlformats.org/officeDocument/2006/relationships/notesSlide" Target="/ppt/notesSlides/notesSlide13.xml" Id="Rdf68d6930c3e44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bf64c255790424e" /><Relationship Type="http://schemas.openxmlformats.org/officeDocument/2006/relationships/notesSlide" Target="/ppt/notesSlides/notesSlide14.xml" Id="R2b3b8e47462c4b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b7e9e005214e19" /><Relationship Type="http://schemas.openxmlformats.org/officeDocument/2006/relationships/notesSlide" Target="/ppt/notesSlides/notesSlide15.xml" Id="Re900cfdc780446a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76ece4753b143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A0F4C9-B507-487A-8139-F209901ED3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00025">
                  <a:alpha val="96000"/>
                </a:srgbClr>
              </a:gs>
              <a:gs pos="72000">
                <a:srgbClr val="000025">
                  <a:alpha val="30000"/>
                </a:srgbClr>
              </a:gs>
              <a:gs pos="100000">
                <a:srgbClr val="000025">
                  <a:alpha val="5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A2A4B07-D92B-4DA7-A771-26CC760F9AEF}"/>
              </a:ext>
            </a:extLst>
          </p:cNvPr>
          <p:cNvSpPr>
            <a:spLocks xmlns:a="http://schemas.openxmlformats.org/drawingml/2006/main" noGrp="1"/>
          </p:cNvSpPr>
          <p:nvPr/>
        </p:nvSpPr>
        <p:spPr>
          <a:xfrm xmlns:a="http://schemas.openxmlformats.org/drawingml/2006/main">
            <a:off x="647700" y="876300"/>
            <a:ext cx="619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88000"/>
              </a:lnSpc>
              <a:buNone/>
              <a:defRPr sz="4575" b="1">
                <a:solidFill>
                  <a:srgbClr val="FFFFFF"/>
                </a:solidFill>
                <a:latin typeface="Arial"/>
                <a:ea typeface="Arial"/>
                <a:cs typeface="Arial"/>
              </a:defRPr>
            </a:pPr>
            <a:r>
              <a:rPr sz="4575" b="1">
                <a:solidFill>
                  <a:srgbClr val="FFFFFF"/>
                </a:solidFill>
                <a:latin typeface="Arial"/>
                <a:ea typeface="Arial"/>
                <a:cs typeface="Arial"/>
              </a:rPr>
              <a:t>WHEN THE</a:t>
            </a:r>
          </a:p>
          <a:p xmlns:a="http://schemas.openxmlformats.org/drawingml/2006/main">
            <a:pPr algn="l">
              <a:lnSpc>
                <a:spcPct val="88000"/>
              </a:lnSpc>
              <a:buNone/>
              <a:defRPr sz="4575" b="1">
                <a:solidFill>
                  <a:srgbClr val="FFFFFF"/>
                </a:solidFill>
                <a:latin typeface="Arial"/>
                <a:ea typeface="Arial"/>
                <a:cs typeface="Arial"/>
              </a:defRPr>
            </a:pPr>
            <a:r>
              <a:rPr sz="4575" b="1">
                <a:solidFill>
                  <a:srgbClr val="FFFFFF"/>
                </a:solidFill>
                <a:latin typeface="Arial"/>
                <a:ea typeface="Arial"/>
                <a:cs typeface="Arial"/>
              </a:rPr>
              <a:t>AGENT ACTS</a:t>
            </a:r>
          </a:p>
        </p:txBody>
      </p:sp>
      <p:sp>
        <p:nvSpPr>
          <p:cNvPr id="4" name="">
            <a:extLst xmlns:a="http://schemas.openxmlformats.org/drawingml/2006/main">
              <a:ext uri="{FF2B5EF4-FFF2-40B4-BE49-F238E27FC236}">
                <a16:creationId xmlns:a16="http://schemas.microsoft.com/office/drawing/2014/main" id="{49761074-44BF-4245-A4FB-67B837DB5BF1}"/>
              </a:ext>
            </a:extLst>
          </p:cNvPr>
          <p:cNvSpPr>
            <a:spLocks xmlns:a="http://schemas.openxmlformats.org/drawingml/2006/main" noGrp="1"/>
          </p:cNvSpPr>
          <p:nvPr/>
        </p:nvSpPr>
        <p:spPr>
          <a:xfrm xmlns:a="http://schemas.openxmlformats.org/drawingml/2006/main">
            <a:off x="685800" y="2905125"/>
            <a:ext cx="571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0">
                <a:solidFill>
                  <a:srgbClr val="78DCFF"/>
                </a:solidFill>
                <a:latin typeface="Arial"/>
                <a:ea typeface="Arial"/>
                <a:cs typeface="Arial"/>
              </a:defRPr>
            </a:pPr>
            <a:r>
              <a:rPr sz="2025" b="0">
                <a:solidFill>
                  <a:srgbClr val="78DCFF"/>
                </a:solidFill>
                <a:latin typeface="Arial"/>
                <a:ea typeface="Arial"/>
                <a:cs typeface="Arial"/>
              </a:rPr>
              <a:t>Incident response at machine speed</a:t>
            </a:r>
          </a:p>
        </p:txBody>
      </p:sp>
      <p:sp>
        <p:nvSpPr>
          <p:cNvPr id="5" name="">
            <a:extLst xmlns:a="http://schemas.openxmlformats.org/drawingml/2006/main">
              <a:ext uri="{FF2B5EF4-FFF2-40B4-BE49-F238E27FC236}">
                <a16:creationId xmlns:a16="http://schemas.microsoft.com/office/drawing/2014/main" id="{860F5851-25A7-4247-AEEB-D8619DF995B7}"/>
              </a:ext>
            </a:extLst>
          </p:cNvPr>
          <p:cNvSpPr>
            <a:spLocks xmlns:a="http://schemas.openxmlformats.org/drawingml/2006/main" noGrp="1"/>
          </p:cNvSpPr>
          <p:nvPr/>
        </p:nvSpPr>
        <p:spPr>
          <a:xfrm xmlns:a="http://schemas.openxmlformats.org/drawingml/2006/main">
            <a:off x="685800" y="3962400"/>
            <a:ext cx="952500" cy="47625"/>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052CB82-F86B-49F8-81E1-2BB9520581F4}"/>
              </a:ext>
            </a:extLst>
          </p:cNvPr>
          <p:cNvSpPr>
            <a:spLocks xmlns:a="http://schemas.openxmlformats.org/drawingml/2006/main" noGrp="1"/>
          </p:cNvSpPr>
          <p:nvPr/>
        </p:nvSpPr>
        <p:spPr>
          <a:xfrm xmlns:a="http://schemas.openxmlformats.org/drawingml/2006/main">
            <a:off x="685800" y="42100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Adam Rappaport</a:t>
            </a:r>
          </a:p>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AI Sales Specialist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913631542b4431d"/>
          <a:stretch xmlns:a="http://schemas.openxmlformats.org/drawingml/2006/main"/>
        </p:blipFill>
        <p:spPr>
          <a:xfrm xmlns:a="http://schemas.openxmlformats.org/drawingml/2006/main">
            <a:off x="688543" y="5667375"/>
            <a:ext cx="1185138" cy="476250"/>
          </a:xfrm>
          <a:prstGeom xmlns:a="http://schemas.openxmlformats.org/drawingml/2006/main" prst="rect">
            <a:avLst/>
          </a:prstGeom>
        </p:spPr>
      </p:pic>
    </p:spTree>
    <p:extLst>
      <p:ext uri="{BB962C8B-B14F-4D97-AF65-F5344CB8AC3E}">
        <p14:creationId xmlns:p14="http://schemas.microsoft.com/office/powerpoint/2010/main" val="145298962"/>
      </p:ext>
    </p:extLst>
  </p:cSld>
</p:sld>
</file>

<file path=ppt/slides/slide2.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6CAD5F6-5E20-4F28-899F-8C150EC87619}"/>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PROVOCATION</a:t>
            </a:r>
          </a:p>
        </p:txBody>
      </p:sp>
      <p:sp>
        <p:nvSpPr>
          <p:cNvPr id="2" name="">
            <a:extLst xmlns:a="http://schemas.openxmlformats.org/drawingml/2006/main">
              <a:ext uri="{FF2B5EF4-FFF2-40B4-BE49-F238E27FC236}">
                <a16:creationId xmlns:a16="http://schemas.microsoft.com/office/drawing/2014/main" id="{E19FD479-3EC0-43F1-ABB0-2C41CAB54CB1}"/>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An enterprise intrusion moved at agent speed</a:t>
            </a:r>
          </a:p>
        </p:txBody>
      </p:sp>
      <p:sp>
        <p:nvSpPr>
          <p:cNvPr id="3" name="">
            <a:extLst xmlns:a="http://schemas.openxmlformats.org/drawingml/2006/main">
              <a:ext uri="{FF2B5EF4-FFF2-40B4-BE49-F238E27FC236}">
                <a16:creationId xmlns:a16="http://schemas.microsoft.com/office/drawing/2014/main" id="{091D6C2E-8415-49A9-BEB0-DF1FECF214FF}"/>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AE61784E-0544-4147-A74F-18B4D74E534A}"/>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553E3B6-E3F3-423C-B520-2666DF785BEC}"/>
              </a:ext>
            </a:extLst>
          </p:cNvPr>
          <p:cNvSpPr>
            <a:spLocks xmlns:a="http://schemas.openxmlformats.org/drawingml/2006/main" noGrp="1"/>
          </p:cNvSpPr>
          <p:nvPr/>
        </p:nvSpPr>
        <p:spPr>
          <a:xfrm xmlns:a="http://schemas.openxmlformats.org/drawingml/2006/main">
            <a:off x="666750" y="1447800"/>
            <a:ext cx="409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80000"/>
              </a:lnSpc>
              <a:buNone/>
              <a:defRPr sz="8400" b="1">
                <a:solidFill>
                  <a:srgbClr val="00FFFF"/>
                </a:solidFill>
                <a:latin typeface="Arial"/>
                <a:ea typeface="Arial"/>
                <a:cs typeface="Arial"/>
              </a:defRPr>
            </a:pPr>
            <a:r>
              <a:rPr sz="8400" b="1">
                <a:solidFill>
                  <a:srgbClr val="00FFFF"/>
                </a:solidFill>
                <a:latin typeface="Arial"/>
                <a:ea typeface="Arial"/>
                <a:cs typeface="Arial"/>
              </a:rPr>
              <a:t>&lt; 10</a:t>
            </a:r>
          </a:p>
        </p:txBody>
      </p:sp>
      <p:sp>
        <p:nvSpPr>
          <p:cNvPr id="6" name="">
            <a:extLst xmlns:a="http://schemas.openxmlformats.org/drawingml/2006/main">
              <a:ext uri="{FF2B5EF4-FFF2-40B4-BE49-F238E27FC236}">
                <a16:creationId xmlns:a16="http://schemas.microsoft.com/office/drawing/2014/main" id="{ABA58141-8469-4ACD-9B7F-D3DAC098462D}"/>
              </a:ext>
            </a:extLst>
          </p:cNvPr>
          <p:cNvSpPr>
            <a:spLocks xmlns:a="http://schemas.openxmlformats.org/drawingml/2006/main" noGrp="1"/>
          </p:cNvSpPr>
          <p:nvPr/>
        </p:nvSpPr>
        <p:spPr>
          <a:xfrm xmlns:a="http://schemas.openxmlformats.org/drawingml/2006/main">
            <a:off x="752475" y="27813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775" b="1">
                <a:solidFill>
                  <a:srgbClr val="FFFFFF"/>
                </a:solidFill>
                <a:latin typeface="Arial"/>
                <a:ea typeface="Arial"/>
                <a:cs typeface="Arial"/>
              </a:defRPr>
            </a:pPr>
            <a:r>
              <a:rPr sz="2775" b="1">
                <a:solidFill>
                  <a:srgbClr val="FFFFFF"/>
                </a:solidFill>
                <a:latin typeface="Arial"/>
                <a:ea typeface="Arial"/>
                <a:cs typeface="Arial"/>
              </a:rPr>
              <a:t>hours</a:t>
            </a:r>
          </a:p>
        </p:txBody>
      </p:sp>
      <p:sp>
        <p:nvSpPr>
          <p:cNvPr id="7" name="">
            <a:extLst xmlns:a="http://schemas.openxmlformats.org/drawingml/2006/main">
              <a:ext uri="{FF2B5EF4-FFF2-40B4-BE49-F238E27FC236}">
                <a16:creationId xmlns:a16="http://schemas.microsoft.com/office/drawing/2014/main" id="{23CCD0C4-E8AE-4437-8284-72D2309AEDCA}"/>
              </a:ext>
            </a:extLst>
          </p:cNvPr>
          <p:cNvSpPr>
            <a:spLocks xmlns:a="http://schemas.openxmlformats.org/drawingml/2006/main" noGrp="1"/>
          </p:cNvSpPr>
          <p:nvPr/>
        </p:nvSpPr>
        <p:spPr>
          <a:xfrm xmlns:a="http://schemas.openxmlformats.org/drawingml/2006/main">
            <a:off x="723900" y="3390900"/>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0">
                <a:solidFill>
                  <a:srgbClr val="78DCFF"/>
                </a:solidFill>
                <a:latin typeface="Arial"/>
                <a:ea typeface="Arial"/>
                <a:cs typeface="Arial"/>
              </a:defRPr>
            </a:pPr>
            <a:r>
              <a:rPr sz="1875" b="0">
                <a:solidFill>
                  <a:srgbClr val="78DCFF"/>
                </a:solidFill>
                <a:latin typeface="Arial"/>
                <a:ea typeface="Arial"/>
                <a:cs typeface="Arial"/>
              </a:rPr>
              <a:t>From initial access to privileged control</a:t>
            </a:r>
          </a:p>
        </p:txBody>
      </p:sp>
      <p:sp>
        <p:nvSpPr>
          <p:cNvPr id="8" name="">
            <a:extLst xmlns:a="http://schemas.openxmlformats.org/drawingml/2006/main">
              <a:ext uri="{FF2B5EF4-FFF2-40B4-BE49-F238E27FC236}">
                <a16:creationId xmlns:a16="http://schemas.microsoft.com/office/drawing/2014/main" id="{CCA0ADFA-AE4A-4699-ABB0-43447B224661}"/>
              </a:ext>
            </a:extLst>
          </p:cNvPr>
          <p:cNvSpPr>
            <a:spLocks xmlns:a="http://schemas.openxmlformats.org/drawingml/2006/main" noGrp="1"/>
          </p:cNvSpPr>
          <p:nvPr/>
        </p:nvSpPr>
        <p:spPr>
          <a:xfrm xmlns:a="http://schemas.openxmlformats.org/drawingml/2006/main">
            <a:off x="5619750" y="1562100"/>
            <a:ext cx="2571750" cy="121920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8092FA-454D-4B7F-836A-68A2F82DAC23}"/>
              </a:ext>
            </a:extLst>
          </p:cNvPr>
          <p:cNvSpPr>
            <a:spLocks xmlns:a="http://schemas.openxmlformats.org/drawingml/2006/main" noGrp="1"/>
          </p:cNvSpPr>
          <p:nvPr/>
        </p:nvSpPr>
        <p:spPr>
          <a:xfrm xmlns:a="http://schemas.openxmlformats.org/drawingml/2006/main">
            <a:off x="5619750" y="1562100"/>
            <a:ext cx="66675" cy="1219200"/>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5DC9D07-D8E0-4DCF-91F8-E6A089EEB82A}"/>
              </a:ext>
            </a:extLst>
          </p:cNvPr>
          <p:cNvSpPr>
            <a:spLocks xmlns:a="http://schemas.openxmlformats.org/drawingml/2006/main" noGrp="1"/>
          </p:cNvSpPr>
          <p:nvPr/>
        </p:nvSpPr>
        <p:spPr>
          <a:xfrm xmlns:a="http://schemas.openxmlformats.org/drawingml/2006/main">
            <a:off x="5829300" y="1733550"/>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50+ techniques</a:t>
            </a:r>
          </a:p>
        </p:txBody>
      </p:sp>
      <p:sp>
        <p:nvSpPr>
          <p:cNvPr id="11" name="">
            <a:extLst xmlns:a="http://schemas.openxmlformats.org/drawingml/2006/main">
              <a:ext uri="{FF2B5EF4-FFF2-40B4-BE49-F238E27FC236}">
                <a16:creationId xmlns:a16="http://schemas.microsoft.com/office/drawing/2014/main" id="{44AA3EE7-1973-4E0E-A42C-348BC2575831}"/>
              </a:ext>
            </a:extLst>
          </p:cNvPr>
          <p:cNvSpPr>
            <a:spLocks xmlns:a="http://schemas.openxmlformats.org/drawingml/2006/main" noGrp="1"/>
          </p:cNvSpPr>
          <p:nvPr/>
        </p:nvSpPr>
        <p:spPr>
          <a:xfrm xmlns:a="http://schemas.openxmlformats.org/drawingml/2006/main">
            <a:off x="5829300" y="2114550"/>
            <a:ext cx="215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350" b="0">
                <a:solidFill>
                  <a:srgbClr val="78DCFF"/>
                </a:solidFill>
                <a:latin typeface="Arial"/>
                <a:ea typeface="Arial"/>
                <a:cs typeface="Arial"/>
              </a:defRPr>
            </a:pPr>
            <a:r>
              <a:rPr sz="1350" b="0">
                <a:solidFill>
                  <a:srgbClr val="78DCFF"/>
                </a:solidFill>
                <a:latin typeface="Arial"/>
                <a:ea typeface="Arial"/>
                <a:cs typeface="Arial"/>
              </a:rPr>
              <a:t>AI agents mapped the environment and executed across the attack chain.</a:t>
            </a:r>
          </a:p>
        </p:txBody>
      </p:sp>
      <p:sp>
        <p:nvSpPr>
          <p:cNvPr id="12" name="">
            <a:extLst xmlns:a="http://schemas.openxmlformats.org/drawingml/2006/main">
              <a:ext uri="{FF2B5EF4-FFF2-40B4-BE49-F238E27FC236}">
                <a16:creationId xmlns:a16="http://schemas.microsoft.com/office/drawing/2014/main" id="{372E6BFB-DCB2-4207-82ED-A5B4D9F29574}"/>
              </a:ext>
            </a:extLst>
          </p:cNvPr>
          <p:cNvSpPr>
            <a:spLocks xmlns:a="http://schemas.openxmlformats.org/drawingml/2006/main" noGrp="1"/>
          </p:cNvSpPr>
          <p:nvPr/>
        </p:nvSpPr>
        <p:spPr>
          <a:xfrm xmlns:a="http://schemas.openxmlformats.org/drawingml/2006/main">
            <a:off x="8439150" y="1562100"/>
            <a:ext cx="2762250" cy="121920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E8E7148-2F43-42F7-9571-67BD6F20401D}"/>
              </a:ext>
            </a:extLst>
          </p:cNvPr>
          <p:cNvSpPr>
            <a:spLocks xmlns:a="http://schemas.openxmlformats.org/drawingml/2006/main" noGrp="1"/>
          </p:cNvSpPr>
          <p:nvPr/>
        </p:nvSpPr>
        <p:spPr>
          <a:xfrm xmlns:a="http://schemas.openxmlformats.org/drawingml/2006/main">
            <a:off x="8439150" y="1562100"/>
            <a:ext cx="66675" cy="121920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235FD6-3FB6-4992-B287-9160B564BEA8}"/>
              </a:ext>
            </a:extLst>
          </p:cNvPr>
          <p:cNvSpPr>
            <a:spLocks xmlns:a="http://schemas.openxmlformats.org/drawingml/2006/main" noGrp="1"/>
          </p:cNvSpPr>
          <p:nvPr/>
        </p:nvSpPr>
        <p:spPr>
          <a:xfrm xmlns:a="http://schemas.openxmlformats.org/drawingml/2006/main">
            <a:off x="8648700" y="173355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Human-directed</a:t>
            </a:r>
          </a:p>
        </p:txBody>
      </p:sp>
      <p:sp>
        <p:nvSpPr>
          <p:cNvPr id="15" name="">
            <a:extLst xmlns:a="http://schemas.openxmlformats.org/drawingml/2006/main">
              <a:ext uri="{FF2B5EF4-FFF2-40B4-BE49-F238E27FC236}">
                <a16:creationId xmlns:a16="http://schemas.microsoft.com/office/drawing/2014/main" id="{3274BA0A-78C2-4008-BCD1-4AC203057192}"/>
              </a:ext>
            </a:extLst>
          </p:cNvPr>
          <p:cNvSpPr>
            <a:spLocks xmlns:a="http://schemas.openxmlformats.org/drawingml/2006/main" noGrp="1"/>
          </p:cNvSpPr>
          <p:nvPr/>
        </p:nvSpPr>
        <p:spPr>
          <a:xfrm xmlns:a="http://schemas.openxmlformats.org/drawingml/2006/main">
            <a:off x="8648700" y="2114550"/>
            <a:ext cx="2343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350" b="0">
                <a:solidFill>
                  <a:srgbClr val="78DCFF"/>
                </a:solidFill>
                <a:latin typeface="Arial"/>
                <a:ea typeface="Arial"/>
                <a:cs typeface="Arial"/>
              </a:defRPr>
            </a:pPr>
            <a:r>
              <a:rPr sz="1350" b="0">
                <a:solidFill>
                  <a:srgbClr val="78DCFF"/>
                </a:solidFill>
                <a:latin typeface="Arial"/>
                <a:ea typeface="Arial"/>
                <a:cs typeface="Arial"/>
              </a:rPr>
              <a:t>A person set objectives. Agents handled much of the execution and replanning.</a:t>
            </a:r>
          </a:p>
        </p:txBody>
      </p:sp>
      <p:sp>
        <p:nvSpPr>
          <p:cNvPr id="16" name="">
            <a:extLst xmlns:a="http://schemas.openxmlformats.org/drawingml/2006/main">
              <a:ext uri="{FF2B5EF4-FFF2-40B4-BE49-F238E27FC236}">
                <a16:creationId xmlns:a16="http://schemas.microsoft.com/office/drawing/2014/main" id="{5AF98B15-1906-4CEB-982A-888EF5A97321}"/>
              </a:ext>
            </a:extLst>
          </p:cNvPr>
          <p:cNvSpPr>
            <a:spLocks xmlns:a="http://schemas.openxmlformats.org/drawingml/2006/main" noGrp="1"/>
          </p:cNvSpPr>
          <p:nvPr/>
        </p:nvSpPr>
        <p:spPr>
          <a:xfrm xmlns:a="http://schemas.openxmlformats.org/drawingml/2006/main">
            <a:off x="5619750" y="3105150"/>
            <a:ext cx="5581650" cy="15430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40F820E-1CFF-46FA-9676-1184233AB02A}"/>
              </a:ext>
            </a:extLst>
          </p:cNvPr>
          <p:cNvSpPr>
            <a:spLocks xmlns:a="http://schemas.openxmlformats.org/drawingml/2006/main" noGrp="1"/>
          </p:cNvSpPr>
          <p:nvPr/>
        </p:nvSpPr>
        <p:spPr>
          <a:xfrm xmlns:a="http://schemas.openxmlformats.org/drawingml/2006/main">
            <a:off x="5619750" y="3105150"/>
            <a:ext cx="66675" cy="154305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0515A78-B89E-436D-8A1C-EB00E9B3E199}"/>
              </a:ext>
            </a:extLst>
          </p:cNvPr>
          <p:cNvSpPr>
            <a:spLocks xmlns:a="http://schemas.openxmlformats.org/drawingml/2006/main" noGrp="1"/>
          </p:cNvSpPr>
          <p:nvPr/>
        </p:nvSpPr>
        <p:spPr>
          <a:xfrm xmlns:a="http://schemas.openxmlformats.org/drawingml/2006/main">
            <a:off x="5829300" y="3276600"/>
            <a:ext cx="516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FFFFF"/>
                </a:solidFill>
                <a:latin typeface="Arial"/>
                <a:ea typeface="Arial"/>
                <a:cs typeface="Arial"/>
              </a:defRPr>
            </a:pPr>
            <a:r>
              <a:rPr sz="2025" b="1">
                <a:solidFill>
                  <a:srgbClr val="FFFFFF"/>
                </a:solidFill>
                <a:latin typeface="Arial"/>
                <a:ea typeface="Arial"/>
                <a:cs typeface="Arial"/>
              </a:rPr>
              <a:t>The operating model has changed</a:t>
            </a:r>
          </a:p>
        </p:txBody>
      </p:sp>
      <p:sp>
        <p:nvSpPr>
          <p:cNvPr id="19" name="">
            <a:extLst xmlns:a="http://schemas.openxmlformats.org/drawingml/2006/main">
              <a:ext uri="{FF2B5EF4-FFF2-40B4-BE49-F238E27FC236}">
                <a16:creationId xmlns:a16="http://schemas.microsoft.com/office/drawing/2014/main" id="{65BC4A9E-64E8-4309-AA03-4901CAFEE3BF}"/>
              </a:ext>
            </a:extLst>
          </p:cNvPr>
          <p:cNvSpPr>
            <a:spLocks xmlns:a="http://schemas.openxmlformats.org/drawingml/2006/main" noGrp="1"/>
          </p:cNvSpPr>
          <p:nvPr/>
        </p:nvSpPr>
        <p:spPr>
          <a:xfrm xmlns:a="http://schemas.openxmlformats.org/drawingml/2006/main">
            <a:off x="5829300" y="3657600"/>
            <a:ext cx="51625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75" b="0">
                <a:solidFill>
                  <a:srgbClr val="FFFFFF"/>
                </a:solidFill>
                <a:latin typeface="Arial"/>
                <a:ea typeface="Arial"/>
                <a:cs typeface="Arial"/>
              </a:defRPr>
            </a:pPr>
            <a:r>
              <a:rPr sz="1575" b="0">
                <a:solidFill>
                  <a:srgbClr val="FFFFFF"/>
                </a:solidFill>
                <a:latin typeface="Arial"/>
                <a:ea typeface="Arial"/>
                <a:cs typeface="Arial"/>
              </a:rPr>
              <a:t>The control challenge is no longer just whether an action was authorised. It is whether the workflow stayed inside the intent, evidence and decision rights we expected.</a:t>
            </a:r>
          </a:p>
        </p:txBody>
      </p:sp>
      <p:sp>
        <p:nvSpPr>
          <p:cNvPr id="20" name="">
            <a:extLst xmlns:a="http://schemas.openxmlformats.org/drawingml/2006/main">
              <a:ext uri="{FF2B5EF4-FFF2-40B4-BE49-F238E27FC236}">
                <a16:creationId xmlns:a16="http://schemas.microsoft.com/office/drawing/2014/main" id="{547142F3-2EF0-40A7-A74D-79606834F221}"/>
              </a:ext>
            </a:extLst>
          </p:cNvPr>
          <p:cNvSpPr>
            <a:spLocks xmlns:a="http://schemas.openxmlformats.org/drawingml/2006/main" noGrp="1"/>
          </p:cNvSpPr>
          <p:nvPr/>
        </p:nvSpPr>
        <p:spPr>
          <a:xfrm xmlns:a="http://schemas.openxmlformats.org/drawingml/2006/main">
            <a:off x="723900" y="5962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0">
                <a:solidFill>
                  <a:srgbClr val="9AA7B5"/>
                </a:solidFill>
                <a:latin typeface="Arial"/>
                <a:ea typeface="Arial"/>
                <a:cs typeface="Arial"/>
              </a:defRPr>
            </a:pPr>
            <a:r>
              <a:rPr sz="1050" b="0">
                <a:solidFill>
                  <a:srgbClr val="9AA7B5"/>
                </a:solidFill>
                <a:latin typeface="Arial"/>
                <a:ea typeface="Arial"/>
                <a:cs typeface="Arial"/>
              </a:rPr>
              <a:t>2 September 2026 · Unit 42 investigation</a:t>
            </a:r>
          </a:p>
        </p:txBody>
      </p:sp>
    </p:spTree>
    <p:extLst>
      <p:ext uri="{BB962C8B-B14F-4D97-AF65-F5344CB8AC3E}">
        <p14:creationId xmlns:p14="http://schemas.microsoft.com/office/powerpoint/2010/main" val="1991541030"/>
      </p:ext>
    </p:extLst>
  </p:cSld>
</p:sld>
</file>

<file path=ppt/slides/slide3.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0F54131-DC8C-43E5-A7DF-AF462D9223EE}"/>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CONTROL PROBLEM</a:t>
            </a:r>
          </a:p>
        </p:txBody>
      </p:sp>
      <p:sp>
        <p:nvSpPr>
          <p:cNvPr id="2" name="">
            <a:extLst xmlns:a="http://schemas.openxmlformats.org/drawingml/2006/main">
              <a:ext uri="{FF2B5EF4-FFF2-40B4-BE49-F238E27FC236}">
                <a16:creationId xmlns:a16="http://schemas.microsoft.com/office/drawing/2014/main" id="{3F2B801D-E0C2-45E9-BF25-01610137A340}"/>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dangerous path can look legitimate</a:t>
            </a:r>
          </a:p>
        </p:txBody>
      </p:sp>
      <p:sp>
        <p:nvSpPr>
          <p:cNvPr id="3" name="">
            <a:extLst xmlns:a="http://schemas.openxmlformats.org/drawingml/2006/main">
              <a:ext uri="{FF2B5EF4-FFF2-40B4-BE49-F238E27FC236}">
                <a16:creationId xmlns:a16="http://schemas.microsoft.com/office/drawing/2014/main" id="{CD5B9489-4CCB-444D-95D6-1437915F4E7B}"/>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B5E95E48-1436-40E5-B8AC-FC082D1D5838}"/>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61B4422-28A6-4079-911C-B3BEC00A7D4C}"/>
              </a:ext>
            </a:extLst>
          </p:cNvPr>
          <p:cNvSpPr>
            <a:spLocks xmlns:a="http://schemas.openxmlformats.org/drawingml/2006/main" noGrp="1"/>
          </p:cNvSpPr>
          <p:nvPr/>
        </p:nvSpPr>
        <p:spPr>
          <a:xfrm xmlns:a="http://schemas.openxmlformats.org/drawingml/2006/main">
            <a:off x="628650" y="12763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Nothing in the chain has to look like malware.</a:t>
            </a:r>
          </a:p>
        </p:txBody>
      </p:sp>
      <p:sp>
        <p:nvSpPr>
          <p:cNvPr id="6" name="">
            <a:extLst xmlns:a="http://schemas.openxmlformats.org/drawingml/2006/main">
              <a:ext uri="{FF2B5EF4-FFF2-40B4-BE49-F238E27FC236}">
                <a16:creationId xmlns:a16="http://schemas.microsoft.com/office/drawing/2014/main" id="{8CD6F106-67EA-43BF-B153-40BDFA2C5F41}"/>
              </a:ext>
            </a:extLst>
          </p:cNvPr>
          <p:cNvSpPr>
            <a:spLocks xmlns:a="http://schemas.openxmlformats.org/drawingml/2006/main" noGrp="1"/>
          </p:cNvSpPr>
          <p:nvPr/>
        </p:nvSpPr>
        <p:spPr>
          <a:xfrm xmlns:a="http://schemas.openxmlformats.org/drawingml/2006/main">
            <a:off x="60960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7" name="">
            <a:extLst xmlns:a="http://schemas.openxmlformats.org/drawingml/2006/main">
              <a:ext uri="{FF2B5EF4-FFF2-40B4-BE49-F238E27FC236}">
                <a16:creationId xmlns:a16="http://schemas.microsoft.com/office/drawing/2014/main" id="{BE5C27C7-A950-4DF5-8605-568E31D226F9}"/>
              </a:ext>
            </a:extLst>
          </p:cNvPr>
          <p:cNvSpPr>
            <a:spLocks xmlns:a="http://schemas.openxmlformats.org/drawingml/2006/main" noGrp="1"/>
          </p:cNvSpPr>
          <p:nvPr/>
        </p:nvSpPr>
        <p:spPr>
          <a:xfrm xmlns:a="http://schemas.openxmlformats.org/drawingml/2006/main">
            <a:off x="1352550" y="2343150"/>
            <a:ext cx="466725" cy="466725"/>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A4BA342-48AE-4791-BA46-5FC01376792D}"/>
              </a:ext>
            </a:extLst>
          </p:cNvPr>
          <p:cNvSpPr>
            <a:spLocks xmlns:a="http://schemas.openxmlformats.org/drawingml/2006/main" noGrp="1"/>
          </p:cNvSpPr>
          <p:nvPr/>
        </p:nvSpPr>
        <p:spPr>
          <a:xfrm xmlns:a="http://schemas.openxmlformats.org/drawingml/2006/main">
            <a:off x="135255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AC1D1457-2AEA-420D-AF66-ED2DD5A88654}"/>
              </a:ext>
            </a:extLst>
          </p:cNvPr>
          <p:cNvSpPr>
            <a:spLocks xmlns:a="http://schemas.openxmlformats.org/drawingml/2006/main" noGrp="1"/>
          </p:cNvSpPr>
          <p:nvPr/>
        </p:nvSpPr>
        <p:spPr>
          <a:xfrm xmlns:a="http://schemas.openxmlformats.org/drawingml/2006/main">
            <a:off x="76200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00AEFF"/>
                </a:solidFill>
                <a:latin typeface="Arial"/>
                <a:ea typeface="Arial"/>
                <a:cs typeface="Arial"/>
              </a:defRPr>
            </a:pPr>
            <a:r>
              <a:rPr sz="1050" b="1">
                <a:solidFill>
                  <a:srgbClr val="00AEFF"/>
                </a:solidFill>
                <a:latin typeface="Arial"/>
                <a:ea typeface="Arial"/>
                <a:cs typeface="Arial"/>
              </a:rPr>
              <a:t>APPROVED TASK</a:t>
            </a:r>
          </a:p>
        </p:txBody>
      </p:sp>
      <p:sp>
        <p:nvSpPr>
          <p:cNvPr id="10" name="">
            <a:extLst xmlns:a="http://schemas.openxmlformats.org/drawingml/2006/main">
              <a:ext uri="{FF2B5EF4-FFF2-40B4-BE49-F238E27FC236}">
                <a16:creationId xmlns:a16="http://schemas.microsoft.com/office/drawing/2014/main" id="{988FA01C-1271-481B-AB46-563436091832}"/>
              </a:ext>
            </a:extLst>
          </p:cNvPr>
          <p:cNvSpPr>
            <a:spLocks xmlns:a="http://schemas.openxmlformats.org/drawingml/2006/main" noGrp="1"/>
          </p:cNvSpPr>
          <p:nvPr/>
        </p:nvSpPr>
        <p:spPr>
          <a:xfrm xmlns:a="http://schemas.openxmlformats.org/drawingml/2006/main">
            <a:off x="76200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Useful business request</a:t>
            </a:r>
          </a:p>
        </p:txBody>
      </p:sp>
      <p:sp>
        <p:nvSpPr>
          <p:cNvPr id="11" name="">
            <a:extLst xmlns:a="http://schemas.openxmlformats.org/drawingml/2006/main">
              <a:ext uri="{FF2B5EF4-FFF2-40B4-BE49-F238E27FC236}">
                <a16:creationId xmlns:a16="http://schemas.microsoft.com/office/drawing/2014/main" id="{1C7F420C-6EB4-47CA-BD27-D4A111477554}"/>
              </a:ext>
            </a:extLst>
          </p:cNvPr>
          <p:cNvSpPr>
            <a:spLocks xmlns:a="http://schemas.openxmlformats.org/drawingml/2006/main" noGrp="1"/>
          </p:cNvSpPr>
          <p:nvPr/>
        </p:nvSpPr>
        <p:spPr>
          <a:xfrm xmlns:a="http://schemas.openxmlformats.org/drawingml/2006/main">
            <a:off x="2581275"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527E330-55F8-4930-8DB6-132F386555E2}"/>
              </a:ext>
            </a:extLst>
          </p:cNvPr>
          <p:cNvSpPr>
            <a:spLocks xmlns:a="http://schemas.openxmlformats.org/drawingml/2006/main" noGrp="1"/>
          </p:cNvSpPr>
          <p:nvPr/>
        </p:nvSpPr>
        <p:spPr>
          <a:xfrm xmlns:a="http://schemas.openxmlformats.org/drawingml/2006/main">
            <a:off x="2886075"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1CB28BA7-BCA8-4D9C-AC4B-F3E7244B2972}"/>
              </a:ext>
            </a:extLst>
          </p:cNvPr>
          <p:cNvSpPr>
            <a:spLocks xmlns:a="http://schemas.openxmlformats.org/drawingml/2006/main" noGrp="1"/>
          </p:cNvSpPr>
          <p:nvPr/>
        </p:nvSpPr>
        <p:spPr>
          <a:xfrm xmlns:a="http://schemas.openxmlformats.org/drawingml/2006/main">
            <a:off x="3629025" y="2343150"/>
            <a:ext cx="466725" cy="466725"/>
          </a:xfrm>
          <a:prstGeom xmlns:a="http://schemas.openxmlformats.org/drawingml/2006/main" prst="ellipse">
            <a:avLst/>
          </a:prstGeom>
          <a:solidFill xmlns:a="http://schemas.openxmlformats.org/drawingml/2006/main">
            <a:srgbClr val="7C3A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0485B8A-E10D-4F4B-B992-AFBC3BF2AFD2}"/>
              </a:ext>
            </a:extLst>
          </p:cNvPr>
          <p:cNvSpPr>
            <a:spLocks xmlns:a="http://schemas.openxmlformats.org/drawingml/2006/main" noGrp="1"/>
          </p:cNvSpPr>
          <p:nvPr/>
        </p:nvSpPr>
        <p:spPr>
          <a:xfrm xmlns:a="http://schemas.openxmlformats.org/drawingml/2006/main">
            <a:off x="3629025"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35B64AF7-A3BD-4824-9E7E-97D3C7FAE1F7}"/>
              </a:ext>
            </a:extLst>
          </p:cNvPr>
          <p:cNvSpPr>
            <a:spLocks xmlns:a="http://schemas.openxmlformats.org/drawingml/2006/main" noGrp="1"/>
          </p:cNvSpPr>
          <p:nvPr/>
        </p:nvSpPr>
        <p:spPr>
          <a:xfrm xmlns:a="http://schemas.openxmlformats.org/drawingml/2006/main">
            <a:off x="3038475"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7C3AED"/>
                </a:solidFill>
                <a:latin typeface="Arial"/>
                <a:ea typeface="Arial"/>
                <a:cs typeface="Arial"/>
              </a:defRPr>
            </a:pPr>
            <a:r>
              <a:rPr sz="1050" b="1">
                <a:solidFill>
                  <a:srgbClr val="7C3AED"/>
                </a:solidFill>
                <a:latin typeface="Arial"/>
                <a:ea typeface="Arial"/>
                <a:cs typeface="Arial"/>
              </a:rPr>
              <a:t>TRUSTED CONTENT</a:t>
            </a:r>
          </a:p>
        </p:txBody>
      </p:sp>
      <p:sp>
        <p:nvSpPr>
          <p:cNvPr id="16" name="">
            <a:extLst xmlns:a="http://schemas.openxmlformats.org/drawingml/2006/main">
              <a:ext uri="{FF2B5EF4-FFF2-40B4-BE49-F238E27FC236}">
                <a16:creationId xmlns:a16="http://schemas.microsoft.com/office/drawing/2014/main" id="{0A97CB02-B1DE-4B93-A16F-AECF6E88E37B}"/>
              </a:ext>
            </a:extLst>
          </p:cNvPr>
          <p:cNvSpPr>
            <a:spLocks xmlns:a="http://schemas.openxmlformats.org/drawingml/2006/main" noGrp="1"/>
          </p:cNvSpPr>
          <p:nvPr/>
        </p:nvSpPr>
        <p:spPr>
          <a:xfrm xmlns:a="http://schemas.openxmlformats.org/drawingml/2006/main">
            <a:off x="3038475"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Supplier or citizen document</a:t>
            </a:r>
          </a:p>
        </p:txBody>
      </p:sp>
      <p:sp>
        <p:nvSpPr>
          <p:cNvPr id="17" name="">
            <a:extLst xmlns:a="http://schemas.openxmlformats.org/drawingml/2006/main">
              <a:ext uri="{FF2B5EF4-FFF2-40B4-BE49-F238E27FC236}">
                <a16:creationId xmlns:a16="http://schemas.microsoft.com/office/drawing/2014/main" id="{DD318AF9-BE33-4AC7-9D3B-B1E8D33D63EF}"/>
              </a:ext>
            </a:extLst>
          </p:cNvPr>
          <p:cNvSpPr>
            <a:spLocks xmlns:a="http://schemas.openxmlformats.org/drawingml/2006/main" noGrp="1"/>
          </p:cNvSpPr>
          <p:nvPr/>
        </p:nvSpPr>
        <p:spPr>
          <a:xfrm xmlns:a="http://schemas.openxmlformats.org/drawingml/2006/main">
            <a:off x="4857750"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D228996-7D1C-49FF-8C30-64F743EFD31D}"/>
              </a:ext>
            </a:extLst>
          </p:cNvPr>
          <p:cNvSpPr>
            <a:spLocks xmlns:a="http://schemas.openxmlformats.org/drawingml/2006/main" noGrp="1"/>
          </p:cNvSpPr>
          <p:nvPr/>
        </p:nvSpPr>
        <p:spPr>
          <a:xfrm xmlns:a="http://schemas.openxmlformats.org/drawingml/2006/main">
            <a:off x="516255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19" name="">
            <a:extLst xmlns:a="http://schemas.openxmlformats.org/drawingml/2006/main">
              <a:ext uri="{FF2B5EF4-FFF2-40B4-BE49-F238E27FC236}">
                <a16:creationId xmlns:a16="http://schemas.microsoft.com/office/drawing/2014/main" id="{A8D34295-FD4D-4E27-9D2B-EFC5036FBE66}"/>
              </a:ext>
            </a:extLst>
          </p:cNvPr>
          <p:cNvSpPr>
            <a:spLocks xmlns:a="http://schemas.openxmlformats.org/drawingml/2006/main" noGrp="1"/>
          </p:cNvSpPr>
          <p:nvPr/>
        </p:nvSpPr>
        <p:spPr>
          <a:xfrm xmlns:a="http://schemas.openxmlformats.org/drawingml/2006/main">
            <a:off x="5905500" y="2343150"/>
            <a:ext cx="466725" cy="466725"/>
          </a:xfrm>
          <a:prstGeom xmlns:a="http://schemas.openxmlformats.org/drawingml/2006/main" prst="ellipse">
            <a:avLst/>
          </a:prstGeom>
          <a:solidFill xmlns:a="http://schemas.openxmlformats.org/drawingml/2006/main">
            <a:srgbClr val="78DC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B54384-F176-4C4B-AD5B-697AEB1AAA67}"/>
              </a:ext>
            </a:extLst>
          </p:cNvPr>
          <p:cNvSpPr>
            <a:spLocks xmlns:a="http://schemas.openxmlformats.org/drawingml/2006/main" noGrp="1"/>
          </p:cNvSpPr>
          <p:nvPr/>
        </p:nvSpPr>
        <p:spPr>
          <a:xfrm xmlns:a="http://schemas.openxmlformats.org/drawingml/2006/main">
            <a:off x="590550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000025"/>
                </a:solidFill>
                <a:latin typeface="Arial"/>
                <a:ea typeface="Arial"/>
                <a:cs typeface="Arial"/>
              </a:defRPr>
            </a:pPr>
            <a:r>
              <a:rPr sz="1200" b="1">
                <a:solidFill>
                  <a:srgbClr val="000025"/>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4CC161BE-DD3A-41E7-AE62-5FF06089AC22}"/>
              </a:ext>
            </a:extLst>
          </p:cNvPr>
          <p:cNvSpPr>
            <a:spLocks xmlns:a="http://schemas.openxmlformats.org/drawingml/2006/main" noGrp="1"/>
          </p:cNvSpPr>
          <p:nvPr/>
        </p:nvSpPr>
        <p:spPr>
          <a:xfrm xmlns:a="http://schemas.openxmlformats.org/drawingml/2006/main">
            <a:off x="531495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78DCFF"/>
                </a:solidFill>
                <a:latin typeface="Arial"/>
                <a:ea typeface="Arial"/>
                <a:cs typeface="Arial"/>
              </a:defRPr>
            </a:pPr>
            <a:r>
              <a:rPr sz="1050" b="1">
                <a:solidFill>
                  <a:srgbClr val="78DCFF"/>
                </a:solidFill>
                <a:latin typeface="Arial"/>
                <a:ea typeface="Arial"/>
                <a:cs typeface="Arial"/>
              </a:rPr>
              <a:t>VALID IDENTITY</a:t>
            </a:r>
          </a:p>
        </p:txBody>
      </p:sp>
      <p:sp>
        <p:nvSpPr>
          <p:cNvPr id="22" name="">
            <a:extLst xmlns:a="http://schemas.openxmlformats.org/drawingml/2006/main">
              <a:ext uri="{FF2B5EF4-FFF2-40B4-BE49-F238E27FC236}">
                <a16:creationId xmlns:a16="http://schemas.microsoft.com/office/drawing/2014/main" id="{53EE3F7A-F38D-4E37-8166-830BDD881CB0}"/>
              </a:ext>
            </a:extLst>
          </p:cNvPr>
          <p:cNvSpPr>
            <a:spLocks xmlns:a="http://schemas.openxmlformats.org/drawingml/2006/main" noGrp="1"/>
          </p:cNvSpPr>
          <p:nvPr/>
        </p:nvSpPr>
        <p:spPr>
          <a:xfrm xmlns:a="http://schemas.openxmlformats.org/drawingml/2006/main">
            <a:off x="531495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Expected access</a:t>
            </a:r>
          </a:p>
        </p:txBody>
      </p:sp>
      <p:sp>
        <p:nvSpPr>
          <p:cNvPr id="23" name="">
            <a:extLst xmlns:a="http://schemas.openxmlformats.org/drawingml/2006/main">
              <a:ext uri="{FF2B5EF4-FFF2-40B4-BE49-F238E27FC236}">
                <a16:creationId xmlns:a16="http://schemas.microsoft.com/office/drawing/2014/main" id="{9605FAF1-ABF0-4392-A0EE-1E28542D2C50}"/>
              </a:ext>
            </a:extLst>
          </p:cNvPr>
          <p:cNvSpPr>
            <a:spLocks xmlns:a="http://schemas.openxmlformats.org/drawingml/2006/main" noGrp="1"/>
          </p:cNvSpPr>
          <p:nvPr/>
        </p:nvSpPr>
        <p:spPr>
          <a:xfrm xmlns:a="http://schemas.openxmlformats.org/drawingml/2006/main">
            <a:off x="7134225"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555B192-EF80-44E5-905D-E2E2C1D23600}"/>
              </a:ext>
            </a:extLst>
          </p:cNvPr>
          <p:cNvSpPr>
            <a:spLocks xmlns:a="http://schemas.openxmlformats.org/drawingml/2006/main" noGrp="1"/>
          </p:cNvSpPr>
          <p:nvPr/>
        </p:nvSpPr>
        <p:spPr>
          <a:xfrm xmlns:a="http://schemas.openxmlformats.org/drawingml/2006/main">
            <a:off x="7439025"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25" name="">
            <a:extLst xmlns:a="http://schemas.openxmlformats.org/drawingml/2006/main">
              <a:ext uri="{FF2B5EF4-FFF2-40B4-BE49-F238E27FC236}">
                <a16:creationId xmlns:a16="http://schemas.microsoft.com/office/drawing/2014/main" id="{D4AEF619-0DDF-4ACC-97FB-9988BBEE93C0}"/>
              </a:ext>
            </a:extLst>
          </p:cNvPr>
          <p:cNvSpPr>
            <a:spLocks xmlns:a="http://schemas.openxmlformats.org/drawingml/2006/main" noGrp="1"/>
          </p:cNvSpPr>
          <p:nvPr/>
        </p:nvSpPr>
        <p:spPr>
          <a:xfrm xmlns:a="http://schemas.openxmlformats.org/drawingml/2006/main">
            <a:off x="8181975" y="2343150"/>
            <a:ext cx="466725" cy="466725"/>
          </a:xfrm>
          <a:prstGeom xmlns:a="http://schemas.openxmlformats.org/drawingml/2006/main" prst="ellipse">
            <a:avLst/>
          </a:prstGeom>
          <a:solidFill xmlns:a="http://schemas.openxmlformats.org/drawingml/2006/main">
            <a:srgbClr val="007BC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04D9BFF-9DD4-43E9-A97A-30E5653D92AF}"/>
              </a:ext>
            </a:extLst>
          </p:cNvPr>
          <p:cNvSpPr>
            <a:spLocks xmlns:a="http://schemas.openxmlformats.org/drawingml/2006/main" noGrp="1"/>
          </p:cNvSpPr>
          <p:nvPr/>
        </p:nvSpPr>
        <p:spPr>
          <a:xfrm xmlns:a="http://schemas.openxmlformats.org/drawingml/2006/main">
            <a:off x="8181975"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09BC9B97-78FB-4429-95D9-6B1008F68DC7}"/>
              </a:ext>
            </a:extLst>
          </p:cNvPr>
          <p:cNvSpPr>
            <a:spLocks xmlns:a="http://schemas.openxmlformats.org/drawingml/2006/main" noGrp="1"/>
          </p:cNvSpPr>
          <p:nvPr/>
        </p:nvSpPr>
        <p:spPr>
          <a:xfrm xmlns:a="http://schemas.openxmlformats.org/drawingml/2006/main">
            <a:off x="7591425"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007BC3"/>
                </a:solidFill>
                <a:latin typeface="Arial"/>
                <a:ea typeface="Arial"/>
                <a:cs typeface="Arial"/>
              </a:defRPr>
            </a:pPr>
            <a:r>
              <a:rPr sz="1050" b="1">
                <a:solidFill>
                  <a:srgbClr val="007BC3"/>
                </a:solidFill>
                <a:latin typeface="Arial"/>
                <a:ea typeface="Arial"/>
                <a:cs typeface="Arial"/>
              </a:rPr>
              <a:t>PERMITTED TOOLS</a:t>
            </a:r>
          </a:p>
        </p:txBody>
      </p:sp>
      <p:sp>
        <p:nvSpPr>
          <p:cNvPr id="28" name="">
            <a:extLst xmlns:a="http://schemas.openxmlformats.org/drawingml/2006/main">
              <a:ext uri="{FF2B5EF4-FFF2-40B4-BE49-F238E27FC236}">
                <a16:creationId xmlns:a16="http://schemas.microsoft.com/office/drawing/2014/main" id="{B57D1385-987F-490C-A181-C1E2CBECF715}"/>
              </a:ext>
            </a:extLst>
          </p:cNvPr>
          <p:cNvSpPr>
            <a:spLocks xmlns:a="http://schemas.openxmlformats.org/drawingml/2006/main" noGrp="1"/>
          </p:cNvSpPr>
          <p:nvPr/>
        </p:nvSpPr>
        <p:spPr>
          <a:xfrm xmlns:a="http://schemas.openxmlformats.org/drawingml/2006/main">
            <a:off x="7591425"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Normal connectors and APIs</a:t>
            </a:r>
          </a:p>
        </p:txBody>
      </p:sp>
      <p:sp>
        <p:nvSpPr>
          <p:cNvPr id="29" name="">
            <a:extLst xmlns:a="http://schemas.openxmlformats.org/drawingml/2006/main">
              <a:ext uri="{FF2B5EF4-FFF2-40B4-BE49-F238E27FC236}">
                <a16:creationId xmlns:a16="http://schemas.microsoft.com/office/drawing/2014/main" id="{7BAFDAB4-39D4-45B1-9937-28A9A4D7C0E4}"/>
              </a:ext>
            </a:extLst>
          </p:cNvPr>
          <p:cNvSpPr>
            <a:spLocks xmlns:a="http://schemas.openxmlformats.org/drawingml/2006/main" noGrp="1"/>
          </p:cNvSpPr>
          <p:nvPr/>
        </p:nvSpPr>
        <p:spPr>
          <a:xfrm xmlns:a="http://schemas.openxmlformats.org/drawingml/2006/main">
            <a:off x="9410700" y="2733675"/>
            <a:ext cx="26670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71418D5-DD95-4B58-B06B-93F73BC753AF}"/>
              </a:ext>
            </a:extLst>
          </p:cNvPr>
          <p:cNvSpPr>
            <a:spLocks xmlns:a="http://schemas.openxmlformats.org/drawingml/2006/main" noGrp="1"/>
          </p:cNvSpPr>
          <p:nvPr/>
        </p:nvSpPr>
        <p:spPr>
          <a:xfrm xmlns:a="http://schemas.openxmlformats.org/drawingml/2006/main">
            <a:off x="9715500" y="2143125"/>
            <a:ext cx="1952625" cy="1428750"/>
          </a:xfrm>
          <a:prstGeom xmlns:a="http://schemas.openxmlformats.org/drawingml/2006/main" prst="roundRect">
            <a:avLst>
              <a:gd name="adj" fmla="val 5333"/>
            </a:avLst>
          </a:prstGeom>
          <a:solidFill xmlns:a="http://schemas.openxmlformats.org/drawingml/2006/main">
            <a:srgbClr val="071B3A"/>
          </a:solidFill>
          <a:ln xmlns:a="http://schemas.openxmlformats.org/drawingml/2006/main" w="9525">
            <a:solidFill>
              <a:srgbClr val="25466E"/>
            </a:solidFill>
            <a:prstDash val="solid"/>
          </a:ln>
        </p:spPr>
      </p:sp>
      <p:sp>
        <p:nvSpPr>
          <p:cNvPr id="31" name="">
            <a:extLst xmlns:a="http://schemas.openxmlformats.org/drawingml/2006/main">
              <a:ext uri="{FF2B5EF4-FFF2-40B4-BE49-F238E27FC236}">
                <a16:creationId xmlns:a16="http://schemas.microsoft.com/office/drawing/2014/main" id="{E4481799-831D-43CA-B717-312CB9A2E383}"/>
              </a:ext>
            </a:extLst>
          </p:cNvPr>
          <p:cNvSpPr>
            <a:spLocks xmlns:a="http://schemas.openxmlformats.org/drawingml/2006/main" noGrp="1"/>
          </p:cNvSpPr>
          <p:nvPr/>
        </p:nvSpPr>
        <p:spPr>
          <a:xfrm xmlns:a="http://schemas.openxmlformats.org/drawingml/2006/main">
            <a:off x="10458450" y="2343150"/>
            <a:ext cx="466725" cy="466725"/>
          </a:xfrm>
          <a:prstGeom xmlns:a="http://schemas.openxmlformats.org/drawingml/2006/main" prst="ellipse">
            <a:avLst/>
          </a:prstGeom>
          <a:solidFill xmlns:a="http://schemas.openxmlformats.org/drawingml/2006/main">
            <a:srgbClr val="E5484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3CB7927-8F0D-4562-890B-21CA1E4445CE}"/>
              </a:ext>
            </a:extLst>
          </p:cNvPr>
          <p:cNvSpPr>
            <a:spLocks xmlns:a="http://schemas.openxmlformats.org/drawingml/2006/main" noGrp="1"/>
          </p:cNvSpPr>
          <p:nvPr/>
        </p:nvSpPr>
        <p:spPr>
          <a:xfrm xmlns:a="http://schemas.openxmlformats.org/drawingml/2006/main">
            <a:off x="10458450" y="2457450"/>
            <a:ext cx="4667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3" name="">
            <a:extLst xmlns:a="http://schemas.openxmlformats.org/drawingml/2006/main">
              <a:ext uri="{FF2B5EF4-FFF2-40B4-BE49-F238E27FC236}">
                <a16:creationId xmlns:a16="http://schemas.microsoft.com/office/drawing/2014/main" id="{3D77E7AB-1320-42A4-AD3C-D8D35E6C6D82}"/>
              </a:ext>
            </a:extLst>
          </p:cNvPr>
          <p:cNvSpPr>
            <a:spLocks xmlns:a="http://schemas.openxmlformats.org/drawingml/2006/main" noGrp="1"/>
          </p:cNvSpPr>
          <p:nvPr/>
        </p:nvSpPr>
        <p:spPr>
          <a:xfrm xmlns:a="http://schemas.openxmlformats.org/drawingml/2006/main">
            <a:off x="9867900" y="2952750"/>
            <a:ext cx="1647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050" b="1">
                <a:solidFill>
                  <a:srgbClr val="E5484D"/>
                </a:solidFill>
                <a:latin typeface="Arial"/>
                <a:ea typeface="Arial"/>
                <a:cs typeface="Arial"/>
              </a:defRPr>
            </a:pPr>
            <a:r>
              <a:rPr sz="1050" b="1">
                <a:solidFill>
                  <a:srgbClr val="E5484D"/>
                </a:solidFill>
                <a:latin typeface="Arial"/>
                <a:ea typeface="Arial"/>
                <a:cs typeface="Arial"/>
              </a:rPr>
              <a:t>REAL-WORLD ACTION</a:t>
            </a:r>
          </a:p>
        </p:txBody>
      </p:sp>
      <p:sp>
        <p:nvSpPr>
          <p:cNvPr id="34" name="">
            <a:extLst xmlns:a="http://schemas.openxmlformats.org/drawingml/2006/main">
              <a:ext uri="{FF2B5EF4-FFF2-40B4-BE49-F238E27FC236}">
                <a16:creationId xmlns:a16="http://schemas.microsoft.com/office/drawing/2014/main" id="{B13BCB45-86BB-4F40-9166-95D917EC88A3}"/>
              </a:ext>
            </a:extLst>
          </p:cNvPr>
          <p:cNvSpPr>
            <a:spLocks xmlns:a="http://schemas.openxmlformats.org/drawingml/2006/main" noGrp="1"/>
          </p:cNvSpPr>
          <p:nvPr/>
        </p:nvSpPr>
        <p:spPr>
          <a:xfrm xmlns:a="http://schemas.openxmlformats.org/drawingml/2006/main">
            <a:off x="9867900" y="3248025"/>
            <a:ext cx="1647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Share, send, change or trigger</a:t>
            </a:r>
          </a:p>
        </p:txBody>
      </p:sp>
      <p:sp>
        <p:nvSpPr>
          <p:cNvPr id="35" name="">
            <a:extLst xmlns:a="http://schemas.openxmlformats.org/drawingml/2006/main">
              <a:ext uri="{FF2B5EF4-FFF2-40B4-BE49-F238E27FC236}">
                <a16:creationId xmlns:a16="http://schemas.microsoft.com/office/drawing/2014/main" id="{46C5D66B-2CC7-4B46-B40B-B96ECF295518}"/>
              </a:ext>
            </a:extLst>
          </p:cNvPr>
          <p:cNvSpPr>
            <a:spLocks xmlns:a="http://schemas.openxmlformats.org/drawingml/2006/main" noGrp="1"/>
          </p:cNvSpPr>
          <p:nvPr/>
        </p:nvSpPr>
        <p:spPr>
          <a:xfrm xmlns:a="http://schemas.openxmlformats.org/drawingml/2006/main">
            <a:off x="1171575" y="4257675"/>
            <a:ext cx="9848850" cy="1276350"/>
          </a:xfrm>
          <a:prstGeom xmlns:a="http://schemas.openxmlformats.org/drawingml/2006/main" prst="roundRect">
            <a:avLst>
              <a:gd name="adj" fmla="val 5970"/>
            </a:avLst>
          </a:prstGeom>
          <a:solidFill xmlns:a="http://schemas.openxmlformats.org/drawingml/2006/main">
            <a:srgbClr val="0B2448"/>
          </a:solidFill>
          <a:ln xmlns:a="http://schemas.openxmlformats.org/drawingml/2006/main" w="9525">
            <a:solidFill>
              <a:srgbClr val="25466E"/>
            </a:solidFill>
            <a:prstDash val="solid"/>
          </a:ln>
        </p:spPr>
      </p:sp>
      <p:sp>
        <p:nvSpPr>
          <p:cNvPr id="36" name="">
            <a:extLst xmlns:a="http://schemas.openxmlformats.org/drawingml/2006/main">
              <a:ext uri="{FF2B5EF4-FFF2-40B4-BE49-F238E27FC236}">
                <a16:creationId xmlns:a16="http://schemas.microsoft.com/office/drawing/2014/main" id="{03085DF7-137A-4CA9-869D-6BB72A0C949D}"/>
              </a:ext>
            </a:extLst>
          </p:cNvPr>
          <p:cNvSpPr>
            <a:spLocks xmlns:a="http://schemas.openxmlformats.org/drawingml/2006/main" noGrp="1"/>
          </p:cNvSpPr>
          <p:nvPr/>
        </p:nvSpPr>
        <p:spPr>
          <a:xfrm xmlns:a="http://schemas.openxmlformats.org/drawingml/2006/main">
            <a:off x="1476375" y="4524375"/>
            <a:ext cx="9239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78DCFF"/>
                </a:solidFill>
                <a:latin typeface="Arial"/>
                <a:ea typeface="Arial"/>
                <a:cs typeface="Arial"/>
              </a:defRPr>
            </a:pPr>
            <a:r>
              <a:rPr sz="1125" b="1">
                <a:solidFill>
                  <a:srgbClr val="78DCFF"/>
                </a:solidFill>
                <a:latin typeface="Arial"/>
                <a:ea typeface="Arial"/>
                <a:cs typeface="Arial"/>
              </a:rPr>
              <a:t>EVERY STEP CAN BE AUTHORISED</a:t>
            </a:r>
          </a:p>
        </p:txBody>
      </p:sp>
      <p:sp>
        <p:nvSpPr>
          <p:cNvPr id="37" name="">
            <a:extLst xmlns:a="http://schemas.openxmlformats.org/drawingml/2006/main">
              <a:ext uri="{FF2B5EF4-FFF2-40B4-BE49-F238E27FC236}">
                <a16:creationId xmlns:a16="http://schemas.microsoft.com/office/drawing/2014/main" id="{FAEC73D8-9284-4CCD-9996-8E387B3159A0}"/>
              </a:ext>
            </a:extLst>
          </p:cNvPr>
          <p:cNvSpPr>
            <a:spLocks xmlns:a="http://schemas.openxmlformats.org/drawingml/2006/main" noGrp="1"/>
          </p:cNvSpPr>
          <p:nvPr/>
        </p:nvSpPr>
        <p:spPr>
          <a:xfrm xmlns:a="http://schemas.openxmlformats.org/drawingml/2006/main">
            <a:off x="1476375" y="4905375"/>
            <a:ext cx="923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325" b="1">
                <a:solidFill>
                  <a:srgbClr val="FFFFFF"/>
                </a:solidFill>
                <a:latin typeface="Arial"/>
                <a:ea typeface="Arial"/>
                <a:cs typeface="Arial"/>
              </a:defRPr>
            </a:pPr>
            <a:r>
              <a:rPr sz="2325" b="1">
                <a:solidFill>
                  <a:srgbClr val="FFFFFF"/>
                </a:solidFill>
                <a:latin typeface="Arial"/>
                <a:ea typeface="Arial"/>
                <a:cs typeface="Arial"/>
              </a:rPr>
              <a:t>The combined outcome can still be unacceptable.</a:t>
            </a:r>
          </a:p>
        </p:txBody>
      </p:sp>
      <p:sp>
        <p:nvSpPr>
          <p:cNvPr id="38" name="">
            <a:extLst xmlns:a="http://schemas.openxmlformats.org/drawingml/2006/main">
              <a:ext uri="{FF2B5EF4-FFF2-40B4-BE49-F238E27FC236}">
                <a16:creationId xmlns:a16="http://schemas.microsoft.com/office/drawing/2014/main" id="{4EB2D842-3B50-4C71-9763-48EE1681500D}"/>
              </a:ext>
            </a:extLst>
          </p:cNvPr>
          <p:cNvSpPr>
            <a:spLocks xmlns:a="http://schemas.openxmlformats.org/drawingml/2006/main" noGrp="1"/>
          </p:cNvSpPr>
          <p:nvPr/>
        </p:nvSpPr>
        <p:spPr>
          <a:xfrm xmlns:a="http://schemas.openxmlformats.org/drawingml/2006/main">
            <a:off x="1476375" y="5838825"/>
            <a:ext cx="923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425" b="1">
                <a:solidFill>
                  <a:srgbClr val="00FFFF"/>
                </a:solidFill>
                <a:latin typeface="Arial"/>
                <a:ea typeface="Arial"/>
                <a:cs typeface="Arial"/>
              </a:defRPr>
            </a:pPr>
            <a:r>
              <a:rPr sz="1425" b="1">
                <a:solidFill>
                  <a:srgbClr val="00FFFF"/>
                </a:solidFill>
                <a:latin typeface="Arial"/>
                <a:ea typeface="Arial"/>
                <a:cs typeface="Arial"/>
              </a:rPr>
              <a:t>That is the incident we are about to practise.</a:t>
            </a:r>
          </a:p>
        </p:txBody>
      </p:sp>
    </p:spTree>
    <p:extLst>
      <p:ext uri="{BB962C8B-B14F-4D97-AF65-F5344CB8AC3E}">
        <p14:creationId xmlns:p14="http://schemas.microsoft.com/office/powerpoint/2010/main" val="2120218367"/>
      </p:ext>
    </p:extLst>
  </p:cSld>
</p:sld>
</file>

<file path=ppt/slides/slide4.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9675BD1-6688-45D4-9D52-4033FFF37C26}"/>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ONE</a:t>
            </a:r>
          </a:p>
        </p:txBody>
      </p:sp>
      <p:sp>
        <p:nvSpPr>
          <p:cNvPr id="2" name="">
            <a:extLst xmlns:a="http://schemas.openxmlformats.org/drawingml/2006/main">
              <a:ext uri="{FF2B5EF4-FFF2-40B4-BE49-F238E27FC236}">
                <a16:creationId xmlns:a16="http://schemas.microsoft.com/office/drawing/2014/main" id="{536D4E67-8EA3-4243-920F-0B41F9F5E1D8}"/>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Agents inherit authority, not intent</a:t>
            </a:r>
          </a:p>
        </p:txBody>
      </p:sp>
      <p:sp>
        <p:nvSpPr>
          <p:cNvPr id="3" name="">
            <a:extLst xmlns:a="http://schemas.openxmlformats.org/drawingml/2006/main">
              <a:ext uri="{FF2B5EF4-FFF2-40B4-BE49-F238E27FC236}">
                <a16:creationId xmlns:a16="http://schemas.microsoft.com/office/drawing/2014/main" id="{E80DC43E-7940-4857-B333-1C7238029A9E}"/>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7D91BC04-4B23-4B0D-B6E9-5F689D01A015}"/>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DF840CE-A020-48D8-9727-11DB7718F710}"/>
              </a:ext>
            </a:extLst>
          </p:cNvPr>
          <p:cNvSpPr>
            <a:spLocks xmlns:a="http://schemas.openxmlformats.org/drawingml/2006/main" noGrp="1"/>
          </p:cNvSpPr>
          <p:nvPr/>
        </p:nvSpPr>
        <p:spPr>
          <a:xfrm xmlns:a="http://schemas.openxmlformats.org/drawingml/2006/main">
            <a:off x="628650" y="1266825"/>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Permissions can be valid. The outcome can still be wrong.</a:t>
            </a:r>
          </a:p>
        </p:txBody>
      </p:sp>
      <p:sp>
        <p:nvSpPr>
          <p:cNvPr id="6" name="">
            <a:extLst xmlns:a="http://schemas.openxmlformats.org/drawingml/2006/main">
              <a:ext uri="{FF2B5EF4-FFF2-40B4-BE49-F238E27FC236}">
                <a16:creationId xmlns:a16="http://schemas.microsoft.com/office/drawing/2014/main" id="{2C7A3BF5-C1E4-462D-9D5D-0F4D95BDC19A}"/>
              </a:ext>
            </a:extLst>
          </p:cNvPr>
          <p:cNvSpPr>
            <a:spLocks xmlns:a="http://schemas.openxmlformats.org/drawingml/2006/main" noGrp="1"/>
          </p:cNvSpPr>
          <p:nvPr/>
        </p:nvSpPr>
        <p:spPr>
          <a:xfrm xmlns:a="http://schemas.openxmlformats.org/drawingml/2006/main">
            <a:off x="762000" y="2667000"/>
            <a:ext cx="1619250" cy="1123950"/>
          </a:xfrm>
          <a:prstGeom xmlns:a="http://schemas.openxmlformats.org/drawingml/2006/main" prst="roundRect">
            <a:avLst>
              <a:gd name="adj" fmla="val 6780"/>
            </a:avLst>
          </a:prstGeom>
          <a:solidFill xmlns:a="http://schemas.openxmlformats.org/drawingml/2006/main">
            <a:srgbClr val="0B2448"/>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Human</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request</a:t>
            </a:r>
          </a:p>
        </p:txBody>
      </p:sp>
      <p:sp>
        <p:nvSpPr>
          <p:cNvPr id="7" name="">
            <a:extLst xmlns:a="http://schemas.openxmlformats.org/drawingml/2006/main">
              <a:ext uri="{FF2B5EF4-FFF2-40B4-BE49-F238E27FC236}">
                <a16:creationId xmlns:a16="http://schemas.microsoft.com/office/drawing/2014/main" id="{7AF91AAD-3278-45A9-8D4D-1E683FF47094}"/>
              </a:ext>
            </a:extLst>
          </p:cNvPr>
          <p:cNvSpPr>
            <a:spLocks xmlns:a="http://schemas.openxmlformats.org/drawingml/2006/main" noGrp="1"/>
          </p:cNvSpPr>
          <p:nvPr/>
        </p:nvSpPr>
        <p:spPr>
          <a:xfrm xmlns:a="http://schemas.openxmlformats.org/drawingml/2006/main">
            <a:off x="2952750" y="2667000"/>
            <a:ext cx="1619250" cy="1123950"/>
          </a:xfrm>
          <a:prstGeom xmlns:a="http://schemas.openxmlformats.org/drawingml/2006/main" prst="roundRect">
            <a:avLst>
              <a:gd name="adj" fmla="val 6780"/>
            </a:avLst>
          </a:prstGeom>
          <a:solidFill xmlns:a="http://schemas.openxmlformats.org/drawingml/2006/main">
            <a:srgbClr val="007BC3"/>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Agent</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identity</a:t>
            </a:r>
          </a:p>
        </p:txBody>
      </p:sp>
      <p:sp>
        <p:nvSpPr>
          <p:cNvPr id="8" name="">
            <a:extLst xmlns:a="http://schemas.openxmlformats.org/drawingml/2006/main">
              <a:ext uri="{FF2B5EF4-FFF2-40B4-BE49-F238E27FC236}">
                <a16:creationId xmlns:a16="http://schemas.microsoft.com/office/drawing/2014/main" id="{AD097DD8-A2D4-4B46-84CD-ADF86468B155}"/>
              </a:ext>
            </a:extLst>
          </p:cNvPr>
          <p:cNvSpPr>
            <a:spLocks xmlns:a="http://schemas.openxmlformats.org/drawingml/2006/main" noGrp="1"/>
          </p:cNvSpPr>
          <p:nvPr/>
        </p:nvSpPr>
        <p:spPr>
          <a:xfrm xmlns:a="http://schemas.openxmlformats.org/drawingml/2006/main">
            <a:off x="5143500" y="2667000"/>
            <a:ext cx="1619250" cy="1123950"/>
          </a:xfrm>
          <a:prstGeom xmlns:a="http://schemas.openxmlformats.org/drawingml/2006/main" prst="roundRect">
            <a:avLst>
              <a:gd name="adj" fmla="val 6780"/>
            </a:avLst>
          </a:prstGeom>
          <a:solidFill xmlns:a="http://schemas.openxmlformats.org/drawingml/2006/main">
            <a:srgbClr val="7C3AED"/>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Tools &amp;</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connectors</a:t>
            </a:r>
          </a:p>
        </p:txBody>
      </p:sp>
      <p:sp>
        <p:nvSpPr>
          <p:cNvPr id="9" name="">
            <a:extLst xmlns:a="http://schemas.openxmlformats.org/drawingml/2006/main">
              <a:ext uri="{FF2B5EF4-FFF2-40B4-BE49-F238E27FC236}">
                <a16:creationId xmlns:a16="http://schemas.microsoft.com/office/drawing/2014/main" id="{E86C56AA-7CA0-40B3-BA0C-417ABA99E04A}"/>
              </a:ext>
            </a:extLst>
          </p:cNvPr>
          <p:cNvSpPr>
            <a:spLocks xmlns:a="http://schemas.openxmlformats.org/drawingml/2006/main" noGrp="1"/>
          </p:cNvSpPr>
          <p:nvPr/>
        </p:nvSpPr>
        <p:spPr>
          <a:xfrm xmlns:a="http://schemas.openxmlformats.org/drawingml/2006/main">
            <a:off x="7334250" y="2667000"/>
            <a:ext cx="1619250" cy="1123950"/>
          </a:xfrm>
          <a:prstGeom xmlns:a="http://schemas.openxmlformats.org/drawingml/2006/main" prst="roundRect">
            <a:avLst>
              <a:gd name="adj" fmla="val 6780"/>
            </a:avLst>
          </a:prstGeom>
          <a:solidFill xmlns:a="http://schemas.openxmlformats.org/drawingml/2006/main">
            <a:srgbClr val="245B79"/>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Enterprise</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data</a:t>
            </a:r>
          </a:p>
        </p:txBody>
      </p:sp>
      <p:sp>
        <p:nvSpPr>
          <p:cNvPr id="10" name="">
            <a:extLst xmlns:a="http://schemas.openxmlformats.org/drawingml/2006/main">
              <a:ext uri="{FF2B5EF4-FFF2-40B4-BE49-F238E27FC236}">
                <a16:creationId xmlns:a16="http://schemas.microsoft.com/office/drawing/2014/main" id="{6DB4352C-C821-4256-B340-8B20757048B3}"/>
              </a:ext>
            </a:extLst>
          </p:cNvPr>
          <p:cNvSpPr>
            <a:spLocks xmlns:a="http://schemas.openxmlformats.org/drawingml/2006/main" noGrp="1"/>
          </p:cNvSpPr>
          <p:nvPr/>
        </p:nvSpPr>
        <p:spPr>
          <a:xfrm xmlns:a="http://schemas.openxmlformats.org/drawingml/2006/main">
            <a:off x="9525000" y="2667000"/>
            <a:ext cx="1619250" cy="1123950"/>
          </a:xfrm>
          <a:prstGeom xmlns:a="http://schemas.openxmlformats.org/drawingml/2006/main" prst="roundRect">
            <a:avLst>
              <a:gd name="adj" fmla="val 6780"/>
            </a:avLst>
          </a:prstGeom>
          <a:solidFill xmlns:a="http://schemas.openxmlformats.org/drawingml/2006/main">
            <a:srgbClr val="E5484D"/>
          </a:solidFill>
          <a:ln xmlns:a="http://schemas.openxmlformats.org/drawingml/2006/main" w="0">
            <a:noFill/>
            <a:prstDash val="solid"/>
          </a:ln>
        </p:spPr>
        <p:txBody>
          <a:bodyPr xmlns:a="http://schemas.openxmlformats.org/drawingml/2006/main" lIns="76200" tIns="76200" rIns="76200" bIns="76200" anchor="ctr">
            <a:noAutofit/>
          </a:bodyPr>
          <a:lstStyle xmlns:a="http://schemas.openxmlformats.org/drawingml/2006/main"/>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Real-world</a:t>
            </a:r>
          </a:p>
          <a:p xmlns:a="http://schemas.openxmlformats.org/drawingml/2006/main">
            <a:pPr algn="ctr">
              <a:lnSpc>
                <a:spcPct val="95000"/>
              </a:lnSpc>
              <a:buNone/>
              <a:defRPr sz="1875" b="1">
                <a:solidFill>
                  <a:srgbClr val="FFFFFF"/>
                </a:solidFill>
                <a:latin typeface="Arial"/>
                <a:ea typeface="Arial"/>
                <a:cs typeface="Arial"/>
              </a:defRPr>
            </a:pPr>
            <a:r>
              <a:rPr sz="1875" b="1">
                <a:solidFill>
                  <a:srgbClr val="FFFFFF"/>
                </a:solidFill>
                <a:latin typeface="Arial"/>
                <a:ea typeface="Arial"/>
                <a:cs typeface="Arial"/>
              </a:rPr>
              <a:t>action</a:t>
            </a:r>
          </a:p>
        </p:txBody>
      </p:sp>
      <p:sp>
        <p:nvSpPr>
          <p:cNvPr id="11" name="">
            <a:extLst xmlns:a="http://schemas.openxmlformats.org/drawingml/2006/main">
              <a:ext uri="{FF2B5EF4-FFF2-40B4-BE49-F238E27FC236}">
                <a16:creationId xmlns:a16="http://schemas.microsoft.com/office/drawing/2014/main" id="{3CDDF35D-41F8-411B-970A-0A0F93F7B072}"/>
              </a:ext>
            </a:extLst>
          </p:cNvPr>
          <p:cNvSpPr>
            <a:spLocks xmlns:a="http://schemas.openxmlformats.org/drawingml/2006/main" noGrp="1"/>
          </p:cNvSpPr>
          <p:nvPr/>
        </p:nvSpPr>
        <p:spPr>
          <a:xfrm xmlns:a="http://schemas.openxmlformats.org/drawingml/2006/main">
            <a:off x="247650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287CA0-9478-4E49-A276-B4A07C4AA26F}"/>
              </a:ext>
            </a:extLst>
          </p:cNvPr>
          <p:cNvSpPr>
            <a:spLocks xmlns:a="http://schemas.openxmlformats.org/drawingml/2006/main" noGrp="1"/>
          </p:cNvSpPr>
          <p:nvPr/>
        </p:nvSpPr>
        <p:spPr>
          <a:xfrm xmlns:a="http://schemas.openxmlformats.org/drawingml/2006/main">
            <a:off x="466725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B5A4857-C803-41A3-96F6-0FA53B062F6A}"/>
              </a:ext>
            </a:extLst>
          </p:cNvPr>
          <p:cNvSpPr>
            <a:spLocks xmlns:a="http://schemas.openxmlformats.org/drawingml/2006/main" noGrp="1"/>
          </p:cNvSpPr>
          <p:nvPr/>
        </p:nvSpPr>
        <p:spPr>
          <a:xfrm xmlns:a="http://schemas.openxmlformats.org/drawingml/2006/main">
            <a:off x="685800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EAA6088-27DE-4852-8F38-DA55755552B1}"/>
              </a:ext>
            </a:extLst>
          </p:cNvPr>
          <p:cNvSpPr>
            <a:spLocks xmlns:a="http://schemas.openxmlformats.org/drawingml/2006/main" noGrp="1"/>
          </p:cNvSpPr>
          <p:nvPr/>
        </p:nvSpPr>
        <p:spPr>
          <a:xfrm xmlns:a="http://schemas.openxmlformats.org/drawingml/2006/main">
            <a:off x="9048750" y="3114675"/>
            <a:ext cx="361950" cy="209550"/>
          </a:xfrm>
          <a:prstGeom xmlns:a="http://schemas.openxmlformats.org/drawingml/2006/main" prst="rightArrow">
            <a:avLst/>
          </a:prstGeom>
          <a:solidFill xmlns:a="http://schemas.openxmlformats.org/drawingml/2006/main">
            <a:srgbClr val="9AA7B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0C98051-C651-4CE7-B007-88B8383063B7}"/>
              </a:ext>
            </a:extLst>
          </p:cNvPr>
          <p:cNvSpPr>
            <a:spLocks xmlns:a="http://schemas.openxmlformats.org/drawingml/2006/main" noGrp="1"/>
          </p:cNvSpPr>
          <p:nvPr/>
        </p:nvSpPr>
        <p:spPr>
          <a:xfrm xmlns:a="http://schemas.openxmlformats.org/drawingml/2006/main">
            <a:off x="1047750" y="4362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78DCFF"/>
                </a:solidFill>
                <a:latin typeface="Arial"/>
                <a:ea typeface="Arial"/>
                <a:cs typeface="Arial"/>
              </a:defRPr>
            </a:pPr>
            <a:r>
              <a:rPr sz="1725" b="1">
                <a:solidFill>
                  <a:srgbClr val="78DCFF"/>
                </a:solidFill>
                <a:latin typeface="Arial"/>
                <a:ea typeface="Arial"/>
                <a:cs typeface="Arial"/>
              </a:rPr>
              <a:t>Identity answers ‘may it act?’</a:t>
            </a:r>
          </a:p>
        </p:txBody>
      </p:sp>
      <p:sp>
        <p:nvSpPr>
          <p:cNvPr id="16" name="">
            <a:extLst xmlns:a="http://schemas.openxmlformats.org/drawingml/2006/main">
              <a:ext uri="{FF2B5EF4-FFF2-40B4-BE49-F238E27FC236}">
                <a16:creationId xmlns:a16="http://schemas.microsoft.com/office/drawing/2014/main" id="{F0911213-A39C-43C4-BFA7-852B825DA40E}"/>
              </a:ext>
            </a:extLst>
          </p:cNvPr>
          <p:cNvSpPr>
            <a:spLocks xmlns:a="http://schemas.openxmlformats.org/drawingml/2006/main" noGrp="1"/>
          </p:cNvSpPr>
          <p:nvPr/>
        </p:nvSpPr>
        <p:spPr>
          <a:xfrm xmlns:a="http://schemas.openxmlformats.org/drawingml/2006/main">
            <a:off x="4524375" y="4362450"/>
            <a:ext cx="657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2025" b="1">
                <a:solidFill>
                  <a:srgbClr val="00FFFF"/>
                </a:solidFill>
                <a:latin typeface="Arial"/>
                <a:ea typeface="Arial"/>
                <a:cs typeface="Arial"/>
              </a:defRPr>
            </a:pPr>
            <a:r>
              <a:rPr sz="2025" b="1">
                <a:solidFill>
                  <a:srgbClr val="00FFFF"/>
                </a:solidFill>
                <a:latin typeface="Arial"/>
                <a:ea typeface="Arial"/>
                <a:cs typeface="Arial"/>
              </a:rPr>
              <a:t>Governance must answer ‘should it act - here, now, for this purpose?’</a:t>
            </a:r>
          </a:p>
        </p:txBody>
      </p:sp>
    </p:spTree>
    <p:extLst>
      <p:ext uri="{BB962C8B-B14F-4D97-AF65-F5344CB8AC3E}">
        <p14:creationId xmlns:p14="http://schemas.microsoft.com/office/powerpoint/2010/main" val="1220176256"/>
      </p:ext>
    </p:extLst>
  </p:cSld>
</p:sld>
</file>

<file path=ppt/slides/slide5.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7246A9F-654E-43BD-AF81-2273F1FCA0A7}"/>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TWO</a:t>
            </a:r>
          </a:p>
        </p:txBody>
      </p:sp>
      <p:sp>
        <p:nvSpPr>
          <p:cNvPr id="2" name="">
            <a:extLst xmlns:a="http://schemas.openxmlformats.org/drawingml/2006/main">
              <a:ext uri="{FF2B5EF4-FFF2-40B4-BE49-F238E27FC236}">
                <a16:creationId xmlns:a16="http://schemas.microsoft.com/office/drawing/2014/main" id="{4F41C288-6602-44A4-A53F-B412EDB21558}"/>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workflow is the control boundary</a:t>
            </a:r>
          </a:p>
        </p:txBody>
      </p:sp>
      <p:sp>
        <p:nvSpPr>
          <p:cNvPr id="3" name="">
            <a:extLst xmlns:a="http://schemas.openxmlformats.org/drawingml/2006/main">
              <a:ext uri="{FF2B5EF4-FFF2-40B4-BE49-F238E27FC236}">
                <a16:creationId xmlns:a16="http://schemas.microsoft.com/office/drawing/2014/main" id="{A23B5E32-AD17-4C10-8B26-C6B903E81F7C}"/>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84C397E7-BB90-498C-98A2-69A478FBAF5D}"/>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D18D120-E206-498C-BBDF-6AB808C44DF2}"/>
              </a:ext>
            </a:extLst>
          </p:cNvPr>
          <p:cNvSpPr>
            <a:spLocks xmlns:a="http://schemas.openxmlformats.org/drawingml/2006/main" noGrp="1"/>
          </p:cNvSpPr>
          <p:nvPr/>
        </p:nvSpPr>
        <p:spPr>
          <a:xfrm xmlns:a="http://schemas.openxmlformats.org/drawingml/2006/main">
            <a:off x="628650" y="1266825"/>
            <a:ext cx="876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00FFFF"/>
                </a:solidFill>
                <a:latin typeface="Arial"/>
                <a:ea typeface="Arial"/>
                <a:cs typeface="Arial"/>
              </a:defRPr>
            </a:pPr>
            <a:r>
              <a:rPr sz="2175" b="1">
                <a:solidFill>
                  <a:srgbClr val="00FFFF"/>
                </a:solidFill>
                <a:latin typeface="Arial"/>
                <a:ea typeface="Arial"/>
                <a:cs typeface="Arial"/>
              </a:rPr>
              <a:t>Reviewing the model is too narrow. Map the whole path to action.</a:t>
            </a:r>
          </a:p>
        </p:txBody>
      </p:sp>
      <p:sp>
        <p:nvSpPr>
          <p:cNvPr id="6" name="">
            <a:extLst xmlns:a="http://schemas.openxmlformats.org/drawingml/2006/main">
              <a:ext uri="{FF2B5EF4-FFF2-40B4-BE49-F238E27FC236}">
                <a16:creationId xmlns:a16="http://schemas.microsoft.com/office/drawing/2014/main" id="{30BEAA05-FE9E-4E6D-9344-47D2AF7AE3E9}"/>
              </a:ext>
            </a:extLst>
          </p:cNvPr>
          <p:cNvSpPr>
            <a:spLocks xmlns:a="http://schemas.openxmlformats.org/drawingml/2006/main" noGrp="1"/>
          </p:cNvSpPr>
          <p:nvPr/>
        </p:nvSpPr>
        <p:spPr>
          <a:xfrm xmlns:a="http://schemas.openxmlformats.org/drawingml/2006/main">
            <a:off x="600075" y="2447925"/>
            <a:ext cx="1476375" cy="895350"/>
          </a:xfrm>
          <a:prstGeom xmlns:a="http://schemas.openxmlformats.org/drawingml/2006/main" prst="rightArrow">
            <a:avLst/>
          </a:prstGeom>
          <a:solidFill xmlns:a="http://schemas.openxmlformats.org/drawingml/2006/main">
            <a:srgbClr val="0B2448"/>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Instruction</a:t>
            </a:r>
          </a:p>
        </p:txBody>
      </p:sp>
      <p:sp>
        <p:nvSpPr>
          <p:cNvPr id="7" name="">
            <a:extLst xmlns:a="http://schemas.openxmlformats.org/drawingml/2006/main">
              <a:ext uri="{FF2B5EF4-FFF2-40B4-BE49-F238E27FC236}">
                <a16:creationId xmlns:a16="http://schemas.microsoft.com/office/drawing/2014/main" id="{C95650AC-3795-4AD4-A64B-221DF513B248}"/>
              </a:ext>
            </a:extLst>
          </p:cNvPr>
          <p:cNvSpPr>
            <a:spLocks xmlns:a="http://schemas.openxmlformats.org/drawingml/2006/main" noGrp="1"/>
          </p:cNvSpPr>
          <p:nvPr/>
        </p:nvSpPr>
        <p:spPr>
          <a:xfrm xmlns:a="http://schemas.openxmlformats.org/drawingml/2006/main">
            <a:off x="2228850" y="2447925"/>
            <a:ext cx="1476375" cy="895350"/>
          </a:xfrm>
          <a:prstGeom xmlns:a="http://schemas.openxmlformats.org/drawingml/2006/main" prst="rightArrow">
            <a:avLst/>
          </a:prstGeom>
          <a:solidFill xmlns:a="http://schemas.openxmlformats.org/drawingml/2006/main">
            <a:srgbClr val="007BC3"/>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Identity</a:t>
            </a:r>
          </a:p>
        </p:txBody>
      </p:sp>
      <p:sp>
        <p:nvSpPr>
          <p:cNvPr id="8" name="">
            <a:extLst xmlns:a="http://schemas.openxmlformats.org/drawingml/2006/main">
              <a:ext uri="{FF2B5EF4-FFF2-40B4-BE49-F238E27FC236}">
                <a16:creationId xmlns:a16="http://schemas.microsoft.com/office/drawing/2014/main" id="{F986D08A-3C15-4853-9E50-984145F673DF}"/>
              </a:ext>
            </a:extLst>
          </p:cNvPr>
          <p:cNvSpPr>
            <a:spLocks xmlns:a="http://schemas.openxmlformats.org/drawingml/2006/main" noGrp="1"/>
          </p:cNvSpPr>
          <p:nvPr/>
        </p:nvSpPr>
        <p:spPr>
          <a:xfrm xmlns:a="http://schemas.openxmlformats.org/drawingml/2006/main">
            <a:off x="3857625" y="2447925"/>
            <a:ext cx="1476375" cy="895350"/>
          </a:xfrm>
          <a:prstGeom xmlns:a="http://schemas.openxmlformats.org/drawingml/2006/main" prst="rightArrow">
            <a:avLst/>
          </a:prstGeom>
          <a:solidFill xmlns:a="http://schemas.openxmlformats.org/drawingml/2006/main">
            <a:srgbClr val="2B63A7"/>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Context</a:t>
            </a:r>
          </a:p>
        </p:txBody>
      </p:sp>
      <p:sp>
        <p:nvSpPr>
          <p:cNvPr id="9" name="">
            <a:extLst xmlns:a="http://schemas.openxmlformats.org/drawingml/2006/main">
              <a:ext uri="{FF2B5EF4-FFF2-40B4-BE49-F238E27FC236}">
                <a16:creationId xmlns:a16="http://schemas.microsoft.com/office/drawing/2014/main" id="{EFF65208-52CE-4B3B-A926-1ACA4769329A}"/>
              </a:ext>
            </a:extLst>
          </p:cNvPr>
          <p:cNvSpPr>
            <a:spLocks xmlns:a="http://schemas.openxmlformats.org/drawingml/2006/main" noGrp="1"/>
          </p:cNvSpPr>
          <p:nvPr/>
        </p:nvSpPr>
        <p:spPr>
          <a:xfrm xmlns:a="http://schemas.openxmlformats.org/drawingml/2006/main">
            <a:off x="5486400" y="2447925"/>
            <a:ext cx="1476375" cy="895350"/>
          </a:xfrm>
          <a:prstGeom xmlns:a="http://schemas.openxmlformats.org/drawingml/2006/main" prst="rightArrow">
            <a:avLst/>
          </a:prstGeom>
          <a:solidFill xmlns:a="http://schemas.openxmlformats.org/drawingml/2006/main">
            <a:srgbClr val="7C3AED"/>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Tools</a:t>
            </a:r>
          </a:p>
        </p:txBody>
      </p:sp>
      <p:sp>
        <p:nvSpPr>
          <p:cNvPr id="10" name="">
            <a:extLst xmlns:a="http://schemas.openxmlformats.org/drawingml/2006/main">
              <a:ext uri="{FF2B5EF4-FFF2-40B4-BE49-F238E27FC236}">
                <a16:creationId xmlns:a16="http://schemas.microsoft.com/office/drawing/2014/main" id="{168E1183-26AB-4B6C-99B5-95900B40C1FF}"/>
              </a:ext>
            </a:extLst>
          </p:cNvPr>
          <p:cNvSpPr>
            <a:spLocks xmlns:a="http://schemas.openxmlformats.org/drawingml/2006/main" noGrp="1"/>
          </p:cNvSpPr>
          <p:nvPr/>
        </p:nvSpPr>
        <p:spPr>
          <a:xfrm xmlns:a="http://schemas.openxmlformats.org/drawingml/2006/main">
            <a:off x="7115175" y="2447925"/>
            <a:ext cx="1476375" cy="895350"/>
          </a:xfrm>
          <a:prstGeom xmlns:a="http://schemas.openxmlformats.org/drawingml/2006/main" prst="rightArrow">
            <a:avLst/>
          </a:prstGeom>
          <a:solidFill xmlns:a="http://schemas.openxmlformats.org/drawingml/2006/main">
            <a:srgbClr val="5369B7"/>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Data</a:t>
            </a:r>
          </a:p>
        </p:txBody>
      </p:sp>
      <p:sp>
        <p:nvSpPr>
          <p:cNvPr id="11" name="">
            <a:extLst xmlns:a="http://schemas.openxmlformats.org/drawingml/2006/main">
              <a:ext uri="{FF2B5EF4-FFF2-40B4-BE49-F238E27FC236}">
                <a16:creationId xmlns:a16="http://schemas.microsoft.com/office/drawing/2014/main" id="{41D94850-0E84-48DE-8A8F-E1F039481451}"/>
              </a:ext>
            </a:extLst>
          </p:cNvPr>
          <p:cNvSpPr>
            <a:spLocks xmlns:a="http://schemas.openxmlformats.org/drawingml/2006/main" noGrp="1"/>
          </p:cNvSpPr>
          <p:nvPr/>
        </p:nvSpPr>
        <p:spPr>
          <a:xfrm xmlns:a="http://schemas.openxmlformats.org/drawingml/2006/main">
            <a:off x="8743950" y="2447925"/>
            <a:ext cx="1476375" cy="895350"/>
          </a:xfrm>
          <a:prstGeom xmlns:a="http://schemas.openxmlformats.org/drawingml/2006/main" prst="rightArrow">
            <a:avLst/>
          </a:prstGeom>
          <a:solidFill xmlns:a="http://schemas.openxmlformats.org/drawingml/2006/main">
            <a:srgbClr val="00AEFF"/>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Action</a:t>
            </a:r>
          </a:p>
        </p:txBody>
      </p:sp>
      <p:sp>
        <p:nvSpPr>
          <p:cNvPr id="12" name="">
            <a:extLst xmlns:a="http://schemas.openxmlformats.org/drawingml/2006/main">
              <a:ext uri="{FF2B5EF4-FFF2-40B4-BE49-F238E27FC236}">
                <a16:creationId xmlns:a16="http://schemas.microsoft.com/office/drawing/2014/main" id="{61E60C18-C08C-4ACE-8EEF-669C524062FC}"/>
              </a:ext>
            </a:extLst>
          </p:cNvPr>
          <p:cNvSpPr>
            <a:spLocks xmlns:a="http://schemas.openxmlformats.org/drawingml/2006/main" noGrp="1"/>
          </p:cNvSpPr>
          <p:nvPr/>
        </p:nvSpPr>
        <p:spPr>
          <a:xfrm xmlns:a="http://schemas.openxmlformats.org/drawingml/2006/main">
            <a:off x="10372725" y="2447925"/>
            <a:ext cx="1476375" cy="895350"/>
          </a:xfrm>
          <a:prstGeom xmlns:a="http://schemas.openxmlformats.org/drawingml/2006/main" prst="roundRect">
            <a:avLst>
              <a:gd name="adj" fmla="val 8511"/>
            </a:avLst>
          </a:prstGeom>
          <a:solidFill xmlns:a="http://schemas.openxmlformats.org/drawingml/2006/main">
            <a:srgbClr val="00FFFF"/>
          </a:solidFill>
          <a:ln xmlns:a="http://schemas.openxmlformats.org/drawingml/2006/main" w="0">
            <a:noFill/>
            <a:prstDash val="solid"/>
          </a:ln>
        </p:spPr>
        <p:txBody>
          <a:bodyPr xmlns:a="http://schemas.openxmlformats.org/drawingml/2006/main" lIns="76200" tIns="47625" rIns="133350" bIns="47625" anchor="ctr">
            <a:noAutofit/>
          </a:bodyPr>
          <a:lstStyle xmlns:a="http://schemas.openxmlformats.org/drawingml/2006/main"/>
          <a:p xmlns:a="http://schemas.openxmlformats.org/drawingml/2006/main">
            <a:pPr algn="ctr">
              <a:defRPr sz="1500" b="1">
                <a:solidFill>
                  <a:srgbClr val="000025"/>
                </a:solidFill>
                <a:latin typeface="Arial"/>
                <a:ea typeface="Arial"/>
                <a:cs typeface="Arial"/>
              </a:defRPr>
            </a:pPr>
            <a:r>
              <a:rPr sz="1500" b="1">
                <a:solidFill>
                  <a:srgbClr val="000025"/>
                </a:solidFill>
                <a:latin typeface="Arial"/>
                <a:ea typeface="Arial"/>
                <a:cs typeface="Arial"/>
              </a:rPr>
              <a:t>Evidence</a:t>
            </a:r>
          </a:p>
        </p:txBody>
      </p:sp>
      <p:sp>
        <p:nvSpPr>
          <p:cNvPr id="13" name="">
            <a:extLst xmlns:a="http://schemas.openxmlformats.org/drawingml/2006/main">
              <a:ext uri="{FF2B5EF4-FFF2-40B4-BE49-F238E27FC236}">
                <a16:creationId xmlns:a16="http://schemas.microsoft.com/office/drawing/2014/main" id="{ACE0A770-66A3-4A6D-BCEA-A44BFB06D3FF}"/>
              </a:ext>
            </a:extLst>
          </p:cNvPr>
          <p:cNvSpPr>
            <a:spLocks xmlns:a="http://schemas.openxmlformats.org/drawingml/2006/main" noGrp="1"/>
          </p:cNvSpPr>
          <p:nvPr/>
        </p:nvSpPr>
        <p:spPr>
          <a:xfrm xmlns:a="http://schemas.openxmlformats.org/drawingml/2006/main">
            <a:off x="60007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changed?</a:t>
            </a:r>
          </a:p>
        </p:txBody>
      </p:sp>
      <p:sp>
        <p:nvSpPr>
          <p:cNvPr id="14" name="">
            <a:extLst xmlns:a="http://schemas.openxmlformats.org/drawingml/2006/main">
              <a:ext uri="{FF2B5EF4-FFF2-40B4-BE49-F238E27FC236}">
                <a16:creationId xmlns:a16="http://schemas.microsoft.com/office/drawing/2014/main" id="{32CB2854-44DD-41DB-9246-4C922B721A0A}"/>
              </a:ext>
            </a:extLst>
          </p:cNvPr>
          <p:cNvSpPr>
            <a:spLocks xmlns:a="http://schemas.openxmlformats.org/drawingml/2006/main" noGrp="1"/>
          </p:cNvSpPr>
          <p:nvPr/>
        </p:nvSpPr>
        <p:spPr>
          <a:xfrm xmlns:a="http://schemas.openxmlformats.org/drawingml/2006/main">
            <a:off x="222885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Who acted?</a:t>
            </a:r>
          </a:p>
        </p:txBody>
      </p:sp>
      <p:sp>
        <p:nvSpPr>
          <p:cNvPr id="15" name="">
            <a:extLst xmlns:a="http://schemas.openxmlformats.org/drawingml/2006/main">
              <a:ext uri="{FF2B5EF4-FFF2-40B4-BE49-F238E27FC236}">
                <a16:creationId xmlns:a16="http://schemas.microsoft.com/office/drawing/2014/main" id="{C96B8C1E-DEC5-48FC-A332-C233140AD0A1}"/>
              </a:ext>
            </a:extLst>
          </p:cNvPr>
          <p:cNvSpPr>
            <a:spLocks xmlns:a="http://schemas.openxmlformats.org/drawingml/2006/main" noGrp="1"/>
          </p:cNvSpPr>
          <p:nvPr/>
        </p:nvSpPr>
        <p:spPr>
          <a:xfrm xmlns:a="http://schemas.openxmlformats.org/drawingml/2006/main">
            <a:off x="385762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could it see?</a:t>
            </a:r>
          </a:p>
        </p:txBody>
      </p:sp>
      <p:sp>
        <p:nvSpPr>
          <p:cNvPr id="16" name="">
            <a:extLst xmlns:a="http://schemas.openxmlformats.org/drawingml/2006/main">
              <a:ext uri="{FF2B5EF4-FFF2-40B4-BE49-F238E27FC236}">
                <a16:creationId xmlns:a16="http://schemas.microsoft.com/office/drawing/2014/main" id="{B4C61F20-FB9E-440B-A0EB-C55AB819312E}"/>
              </a:ext>
            </a:extLst>
          </p:cNvPr>
          <p:cNvSpPr>
            <a:spLocks xmlns:a="http://schemas.openxmlformats.org/drawingml/2006/main" noGrp="1"/>
          </p:cNvSpPr>
          <p:nvPr/>
        </p:nvSpPr>
        <p:spPr>
          <a:xfrm xmlns:a="http://schemas.openxmlformats.org/drawingml/2006/main">
            <a:off x="548640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could it call?</a:t>
            </a:r>
          </a:p>
        </p:txBody>
      </p:sp>
      <p:sp>
        <p:nvSpPr>
          <p:cNvPr id="17" name="">
            <a:extLst xmlns:a="http://schemas.openxmlformats.org/drawingml/2006/main">
              <a:ext uri="{FF2B5EF4-FFF2-40B4-BE49-F238E27FC236}">
                <a16:creationId xmlns:a16="http://schemas.microsoft.com/office/drawing/2014/main" id="{01885D20-E4B3-450F-8F2F-5B303B39F5F9}"/>
              </a:ext>
            </a:extLst>
          </p:cNvPr>
          <p:cNvSpPr>
            <a:spLocks xmlns:a="http://schemas.openxmlformats.org/drawingml/2006/main" noGrp="1"/>
          </p:cNvSpPr>
          <p:nvPr/>
        </p:nvSpPr>
        <p:spPr>
          <a:xfrm xmlns:a="http://schemas.openxmlformats.org/drawingml/2006/main">
            <a:off x="711517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crossed boundaries?</a:t>
            </a:r>
          </a:p>
        </p:txBody>
      </p:sp>
      <p:sp>
        <p:nvSpPr>
          <p:cNvPr id="18" name="">
            <a:extLst xmlns:a="http://schemas.openxmlformats.org/drawingml/2006/main">
              <a:ext uri="{FF2B5EF4-FFF2-40B4-BE49-F238E27FC236}">
                <a16:creationId xmlns:a16="http://schemas.microsoft.com/office/drawing/2014/main" id="{AA7CFB98-4E9F-46F2-81E2-D295959D86EE}"/>
              </a:ext>
            </a:extLst>
          </p:cNvPr>
          <p:cNvSpPr>
            <a:spLocks xmlns:a="http://schemas.openxmlformats.org/drawingml/2006/main" noGrp="1"/>
          </p:cNvSpPr>
          <p:nvPr/>
        </p:nvSpPr>
        <p:spPr>
          <a:xfrm xmlns:a="http://schemas.openxmlformats.org/drawingml/2006/main">
            <a:off x="8743950"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0">
                <a:solidFill>
                  <a:srgbClr val="9AA7B5"/>
                </a:solidFill>
                <a:latin typeface="Arial"/>
                <a:ea typeface="Arial"/>
                <a:cs typeface="Arial"/>
              </a:defRPr>
            </a:pPr>
            <a:r>
              <a:rPr sz="1275" b="0">
                <a:solidFill>
                  <a:srgbClr val="9AA7B5"/>
                </a:solidFill>
                <a:latin typeface="Arial"/>
                <a:ea typeface="Arial"/>
                <a:cs typeface="Arial"/>
              </a:rPr>
              <a:t>What became irreversible?</a:t>
            </a:r>
          </a:p>
        </p:txBody>
      </p:sp>
      <p:sp>
        <p:nvSpPr>
          <p:cNvPr id="19" name="">
            <a:extLst xmlns:a="http://schemas.openxmlformats.org/drawingml/2006/main">
              <a:ext uri="{FF2B5EF4-FFF2-40B4-BE49-F238E27FC236}">
                <a16:creationId xmlns:a16="http://schemas.microsoft.com/office/drawing/2014/main" id="{0DEB6A16-9372-4E6A-8CA2-363D4B097352}"/>
              </a:ext>
            </a:extLst>
          </p:cNvPr>
          <p:cNvSpPr>
            <a:spLocks xmlns:a="http://schemas.openxmlformats.org/drawingml/2006/main" noGrp="1"/>
          </p:cNvSpPr>
          <p:nvPr/>
        </p:nvSpPr>
        <p:spPr>
          <a:xfrm xmlns:a="http://schemas.openxmlformats.org/drawingml/2006/main">
            <a:off x="10372725" y="3638550"/>
            <a:ext cx="147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275" b="1">
                <a:solidFill>
                  <a:srgbClr val="00FFFF"/>
                </a:solidFill>
                <a:latin typeface="Arial"/>
                <a:ea typeface="Arial"/>
                <a:cs typeface="Arial"/>
              </a:defRPr>
            </a:pPr>
            <a:r>
              <a:rPr sz="1275" b="1">
                <a:solidFill>
                  <a:srgbClr val="00FFFF"/>
                </a:solidFill>
                <a:latin typeface="Arial"/>
                <a:ea typeface="Arial"/>
                <a:cs typeface="Arial"/>
              </a:rPr>
              <a:t>Can we prove why?</a:t>
            </a:r>
          </a:p>
        </p:txBody>
      </p:sp>
      <p:sp>
        <p:nvSpPr>
          <p:cNvPr id="20" name="">
            <a:extLst xmlns:a="http://schemas.openxmlformats.org/drawingml/2006/main">
              <a:ext uri="{FF2B5EF4-FFF2-40B4-BE49-F238E27FC236}">
                <a16:creationId xmlns:a16="http://schemas.microsoft.com/office/drawing/2014/main" id="{B7D6E564-9940-4AF7-9000-5A11C81C1556}"/>
              </a:ext>
            </a:extLst>
          </p:cNvPr>
          <p:cNvSpPr>
            <a:spLocks xmlns:a="http://schemas.openxmlformats.org/drawingml/2006/main" noGrp="1"/>
          </p:cNvSpPr>
          <p:nvPr/>
        </p:nvSpPr>
        <p:spPr>
          <a:xfrm xmlns:a="http://schemas.openxmlformats.org/drawingml/2006/main">
            <a:off x="1257300" y="4829175"/>
            <a:ext cx="9677400" cy="990600"/>
          </a:xfrm>
          <a:prstGeom xmlns:a="http://schemas.openxmlformats.org/drawingml/2006/main" prst="rect">
            <a:avLst/>
          </a:prstGeom>
          <a:solidFill xmlns:a="http://schemas.openxmlformats.org/drawingml/2006/main">
            <a:srgbClr val="00002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D22C24E-7DB3-4BD3-A828-413F2D108BF7}"/>
              </a:ext>
            </a:extLst>
          </p:cNvPr>
          <p:cNvSpPr>
            <a:spLocks xmlns:a="http://schemas.openxmlformats.org/drawingml/2006/main" noGrp="1"/>
          </p:cNvSpPr>
          <p:nvPr/>
        </p:nvSpPr>
        <p:spPr>
          <a:xfrm xmlns:a="http://schemas.openxmlformats.org/drawingml/2006/main">
            <a:off x="1257300" y="4829175"/>
            <a:ext cx="66675" cy="99060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224978F-50FE-4613-82EE-CA76DBFDA7E8}"/>
              </a:ext>
            </a:extLst>
          </p:cNvPr>
          <p:cNvSpPr>
            <a:spLocks xmlns:a="http://schemas.openxmlformats.org/drawingml/2006/main" noGrp="1"/>
          </p:cNvSpPr>
          <p:nvPr/>
        </p:nvSpPr>
        <p:spPr>
          <a:xfrm xmlns:a="http://schemas.openxmlformats.org/drawingml/2006/main">
            <a:off x="1466850" y="5000625"/>
            <a:ext cx="925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One workflow can span six control planes</a:t>
            </a:r>
          </a:p>
        </p:txBody>
      </p:sp>
      <p:sp>
        <p:nvSpPr>
          <p:cNvPr id="23" name="">
            <a:extLst xmlns:a="http://schemas.openxmlformats.org/drawingml/2006/main">
              <a:ext uri="{FF2B5EF4-FFF2-40B4-BE49-F238E27FC236}">
                <a16:creationId xmlns:a16="http://schemas.microsoft.com/office/drawing/2014/main" id="{63630F0A-2387-41F7-8CC2-736BB002118B}"/>
              </a:ext>
            </a:extLst>
          </p:cNvPr>
          <p:cNvSpPr>
            <a:spLocks xmlns:a="http://schemas.openxmlformats.org/drawingml/2006/main" noGrp="1"/>
          </p:cNvSpPr>
          <p:nvPr/>
        </p:nvSpPr>
        <p:spPr>
          <a:xfrm xmlns:a="http://schemas.openxmlformats.org/drawingml/2006/main">
            <a:off x="1466850" y="5381625"/>
            <a:ext cx="925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78DCFF"/>
                </a:solidFill>
                <a:latin typeface="Arial"/>
                <a:ea typeface="Arial"/>
                <a:cs typeface="Arial"/>
              </a:defRPr>
            </a:pPr>
            <a:r>
              <a:rPr sz="1500" b="0">
                <a:solidFill>
                  <a:srgbClr val="78DCFF"/>
                </a:solidFill>
                <a:latin typeface="Arial"/>
                <a:ea typeface="Arial"/>
                <a:cs typeface="Arial"/>
              </a:rPr>
              <a:t>Containment fails when each team sees its component but nobody owns the end-to-end decision.</a:t>
            </a:r>
          </a:p>
        </p:txBody>
      </p:sp>
    </p:spTree>
    <p:extLst>
      <p:ext uri="{BB962C8B-B14F-4D97-AF65-F5344CB8AC3E}">
        <p14:creationId xmlns:p14="http://schemas.microsoft.com/office/powerpoint/2010/main" val="845001737"/>
      </p:ext>
    </p:extLst>
  </p:cSld>
</p:sld>
</file>

<file path=ppt/slides/slide6.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BBFDFEB-8EA7-4A2A-B643-C7144CB83CEE}"/>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DEEP INSIGHT THREE</a:t>
            </a:r>
          </a:p>
        </p:txBody>
      </p:sp>
      <p:sp>
        <p:nvSpPr>
          <p:cNvPr id="2" name="">
            <a:extLst xmlns:a="http://schemas.openxmlformats.org/drawingml/2006/main">
              <a:ext uri="{FF2B5EF4-FFF2-40B4-BE49-F238E27FC236}">
                <a16:creationId xmlns:a16="http://schemas.microsoft.com/office/drawing/2014/main" id="{8FC9A3ED-F932-4CF9-B71A-F1C351EFDFFE}"/>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A manageable incident needs three things</a:t>
            </a:r>
          </a:p>
        </p:txBody>
      </p:sp>
      <p:sp>
        <p:nvSpPr>
          <p:cNvPr id="3" name="">
            <a:extLst xmlns:a="http://schemas.openxmlformats.org/drawingml/2006/main">
              <a:ext uri="{FF2B5EF4-FFF2-40B4-BE49-F238E27FC236}">
                <a16:creationId xmlns:a16="http://schemas.microsoft.com/office/drawing/2014/main" id="{2A95D9B3-8511-483A-A4C2-9521616889BB}"/>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10AA8A87-FE92-4791-A466-4AE76051576E}"/>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00F625A-BFD8-479D-9111-4D02EDB4A0B0}"/>
              </a:ext>
            </a:extLst>
          </p:cNvPr>
          <p:cNvSpPr>
            <a:spLocks xmlns:a="http://schemas.openxmlformats.org/drawingml/2006/main" noGrp="1"/>
          </p:cNvSpPr>
          <p:nvPr/>
        </p:nvSpPr>
        <p:spPr>
          <a:xfrm xmlns:a="http://schemas.openxmlformats.org/drawingml/2006/main">
            <a:off x="619125"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5D6271-DCFA-41C4-995B-790610355896}"/>
              </a:ext>
            </a:extLst>
          </p:cNvPr>
          <p:cNvSpPr>
            <a:spLocks xmlns:a="http://schemas.openxmlformats.org/drawingml/2006/main" noGrp="1"/>
          </p:cNvSpPr>
          <p:nvPr/>
        </p:nvSpPr>
        <p:spPr>
          <a:xfrm xmlns:a="http://schemas.openxmlformats.org/drawingml/2006/main">
            <a:off x="619125" y="1562100"/>
            <a:ext cx="3371850" cy="76200"/>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12DD06-30DD-4E3B-A383-4C8A0443A3A5}"/>
              </a:ext>
            </a:extLst>
          </p:cNvPr>
          <p:cNvSpPr>
            <a:spLocks xmlns:a="http://schemas.openxmlformats.org/drawingml/2006/main" noGrp="1"/>
          </p:cNvSpPr>
          <p:nvPr/>
        </p:nvSpPr>
        <p:spPr>
          <a:xfrm xmlns:a="http://schemas.openxmlformats.org/drawingml/2006/main">
            <a:off x="847725"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00AEFF"/>
                </a:solidFill>
                <a:latin typeface="Arial"/>
                <a:ea typeface="Arial"/>
                <a:cs typeface="Arial"/>
              </a:defRPr>
            </a:pPr>
            <a:r>
              <a:rPr sz="1875" b="1">
                <a:solidFill>
                  <a:srgbClr val="00AEFF"/>
                </a:solidFill>
                <a:latin typeface="Arial"/>
                <a:ea typeface="Arial"/>
                <a:cs typeface="Arial"/>
              </a:rPr>
              <a:t>OBSERVE</a:t>
            </a:r>
          </a:p>
        </p:txBody>
      </p:sp>
      <p:sp>
        <p:nvSpPr>
          <p:cNvPr id="8" name="">
            <a:extLst xmlns:a="http://schemas.openxmlformats.org/drawingml/2006/main">
              <a:ext uri="{FF2B5EF4-FFF2-40B4-BE49-F238E27FC236}">
                <a16:creationId xmlns:a16="http://schemas.microsoft.com/office/drawing/2014/main" id="{B78AECF9-51C9-4352-9E01-C1E092DDDCA5}"/>
              </a:ext>
            </a:extLst>
          </p:cNvPr>
          <p:cNvSpPr>
            <a:spLocks xmlns:a="http://schemas.openxmlformats.org/drawingml/2006/main" noGrp="1"/>
          </p:cNvSpPr>
          <p:nvPr/>
        </p:nvSpPr>
        <p:spPr>
          <a:xfrm xmlns:a="http://schemas.openxmlformats.org/drawingml/2006/main">
            <a:off x="847725"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Reconstruct the identity, context, tool calls and data path.</a:t>
            </a:r>
          </a:p>
        </p:txBody>
      </p:sp>
      <p:sp>
        <p:nvSpPr>
          <p:cNvPr id="9" name="">
            <a:extLst xmlns:a="http://schemas.openxmlformats.org/drawingml/2006/main">
              <a:ext uri="{FF2B5EF4-FFF2-40B4-BE49-F238E27FC236}">
                <a16:creationId xmlns:a16="http://schemas.microsoft.com/office/drawing/2014/main" id="{DD5A2400-8767-43BE-93E9-DF0BC27203AD}"/>
              </a:ext>
            </a:extLst>
          </p:cNvPr>
          <p:cNvSpPr>
            <a:spLocks xmlns:a="http://schemas.openxmlformats.org/drawingml/2006/main" noGrp="1"/>
          </p:cNvSpPr>
          <p:nvPr/>
        </p:nvSpPr>
        <p:spPr>
          <a:xfrm xmlns:a="http://schemas.openxmlformats.org/drawingml/2006/main">
            <a:off x="847725"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10" name="">
            <a:extLst xmlns:a="http://schemas.openxmlformats.org/drawingml/2006/main">
              <a:ext uri="{FF2B5EF4-FFF2-40B4-BE49-F238E27FC236}">
                <a16:creationId xmlns:a16="http://schemas.microsoft.com/office/drawing/2014/main" id="{17EE07AC-87E6-41C8-B2BC-5418FD36574A}"/>
              </a:ext>
            </a:extLst>
          </p:cNvPr>
          <p:cNvSpPr>
            <a:spLocks xmlns:a="http://schemas.openxmlformats.org/drawingml/2006/main" noGrp="1"/>
          </p:cNvSpPr>
          <p:nvPr/>
        </p:nvSpPr>
        <p:spPr>
          <a:xfrm xmlns:a="http://schemas.openxmlformats.org/drawingml/2006/main">
            <a:off x="847725"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Can we explain the decision, not just the API call?</a:t>
            </a:r>
          </a:p>
        </p:txBody>
      </p:sp>
      <p:sp>
        <p:nvSpPr>
          <p:cNvPr id="11" name="">
            <a:extLst xmlns:a="http://schemas.openxmlformats.org/drawingml/2006/main">
              <a:ext uri="{FF2B5EF4-FFF2-40B4-BE49-F238E27FC236}">
                <a16:creationId xmlns:a16="http://schemas.microsoft.com/office/drawing/2014/main" id="{1369F921-CEFA-468B-9308-20D46D453F99}"/>
              </a:ext>
            </a:extLst>
          </p:cNvPr>
          <p:cNvSpPr>
            <a:spLocks xmlns:a="http://schemas.openxmlformats.org/drawingml/2006/main" noGrp="1"/>
          </p:cNvSpPr>
          <p:nvPr/>
        </p:nvSpPr>
        <p:spPr>
          <a:xfrm xmlns:a="http://schemas.openxmlformats.org/drawingml/2006/main">
            <a:off x="4400550"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F67A15-0EB4-475F-9C38-19ED510F27BD}"/>
              </a:ext>
            </a:extLst>
          </p:cNvPr>
          <p:cNvSpPr>
            <a:spLocks xmlns:a="http://schemas.openxmlformats.org/drawingml/2006/main" noGrp="1"/>
          </p:cNvSpPr>
          <p:nvPr/>
        </p:nvSpPr>
        <p:spPr>
          <a:xfrm xmlns:a="http://schemas.openxmlformats.org/drawingml/2006/main">
            <a:off x="4400550" y="1562100"/>
            <a:ext cx="3371850" cy="7620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E568B02-A4C6-46A4-BE86-5279C5BC7625}"/>
              </a:ext>
            </a:extLst>
          </p:cNvPr>
          <p:cNvSpPr>
            <a:spLocks xmlns:a="http://schemas.openxmlformats.org/drawingml/2006/main" noGrp="1"/>
          </p:cNvSpPr>
          <p:nvPr/>
        </p:nvSpPr>
        <p:spPr>
          <a:xfrm xmlns:a="http://schemas.openxmlformats.org/drawingml/2006/main">
            <a:off x="4629150"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7C3AED"/>
                </a:solidFill>
                <a:latin typeface="Arial"/>
                <a:ea typeface="Arial"/>
                <a:cs typeface="Arial"/>
              </a:defRPr>
            </a:pPr>
            <a:r>
              <a:rPr sz="1875" b="1">
                <a:solidFill>
                  <a:srgbClr val="7C3AED"/>
                </a:solidFill>
                <a:latin typeface="Arial"/>
                <a:ea typeface="Arial"/>
                <a:cs typeface="Arial"/>
              </a:rPr>
              <a:t>GOVERN</a:t>
            </a:r>
          </a:p>
        </p:txBody>
      </p:sp>
      <p:sp>
        <p:nvSpPr>
          <p:cNvPr id="14" name="">
            <a:extLst xmlns:a="http://schemas.openxmlformats.org/drawingml/2006/main">
              <a:ext uri="{FF2B5EF4-FFF2-40B4-BE49-F238E27FC236}">
                <a16:creationId xmlns:a16="http://schemas.microsoft.com/office/drawing/2014/main" id="{A37F1084-DADB-43C3-982E-3136986A6E7F}"/>
              </a:ext>
            </a:extLst>
          </p:cNvPr>
          <p:cNvSpPr>
            <a:spLocks xmlns:a="http://schemas.openxmlformats.org/drawingml/2006/main" noGrp="1"/>
          </p:cNvSpPr>
          <p:nvPr/>
        </p:nvSpPr>
        <p:spPr>
          <a:xfrm xmlns:a="http://schemas.openxmlformats.org/drawingml/2006/main">
            <a:off x="4629150"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Give a named owner authority to stop, communicate and restart.</a:t>
            </a:r>
          </a:p>
        </p:txBody>
      </p:sp>
      <p:sp>
        <p:nvSpPr>
          <p:cNvPr id="15" name="">
            <a:extLst xmlns:a="http://schemas.openxmlformats.org/drawingml/2006/main">
              <a:ext uri="{FF2B5EF4-FFF2-40B4-BE49-F238E27FC236}">
                <a16:creationId xmlns:a16="http://schemas.microsoft.com/office/drawing/2014/main" id="{051F15C4-0FE0-40F9-B3A7-194AFDA713D8}"/>
              </a:ext>
            </a:extLst>
          </p:cNvPr>
          <p:cNvSpPr>
            <a:spLocks xmlns:a="http://schemas.openxmlformats.org/drawingml/2006/main" noGrp="1"/>
          </p:cNvSpPr>
          <p:nvPr/>
        </p:nvSpPr>
        <p:spPr>
          <a:xfrm xmlns:a="http://schemas.openxmlformats.org/drawingml/2006/main">
            <a:off x="4629150"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11D272AC-47F7-4C2C-8F93-F2BA075A3973}"/>
              </a:ext>
            </a:extLst>
          </p:cNvPr>
          <p:cNvSpPr>
            <a:spLocks xmlns:a="http://schemas.openxmlformats.org/drawingml/2006/main" noGrp="1"/>
          </p:cNvSpPr>
          <p:nvPr/>
        </p:nvSpPr>
        <p:spPr>
          <a:xfrm xmlns:a="http://schemas.openxmlformats.org/drawingml/2006/main">
            <a:off x="4629150"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Who decides when business and security trade-offs collide?</a:t>
            </a:r>
          </a:p>
        </p:txBody>
      </p:sp>
      <p:sp>
        <p:nvSpPr>
          <p:cNvPr id="17" name="">
            <a:extLst xmlns:a="http://schemas.openxmlformats.org/drawingml/2006/main">
              <a:ext uri="{FF2B5EF4-FFF2-40B4-BE49-F238E27FC236}">
                <a16:creationId xmlns:a16="http://schemas.microsoft.com/office/drawing/2014/main" id="{D37C3C1B-44DB-4530-B87E-4B6D254BAF54}"/>
              </a:ext>
            </a:extLst>
          </p:cNvPr>
          <p:cNvSpPr>
            <a:spLocks xmlns:a="http://schemas.openxmlformats.org/drawingml/2006/main" noGrp="1"/>
          </p:cNvSpPr>
          <p:nvPr/>
        </p:nvSpPr>
        <p:spPr>
          <a:xfrm xmlns:a="http://schemas.openxmlformats.org/drawingml/2006/main">
            <a:off x="8181975" y="1562100"/>
            <a:ext cx="3371850" cy="3219450"/>
          </a:xfrm>
          <a:prstGeom xmlns:a="http://schemas.openxmlformats.org/drawingml/2006/main" prst="rect">
            <a:avLst/>
          </a:prstGeom>
          <a:solidFill xmlns:a="http://schemas.openxmlformats.org/drawingml/2006/main">
            <a:srgbClr val="071B3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7DBAAEB-60EF-40D7-A5FB-FEB6D1900969}"/>
              </a:ext>
            </a:extLst>
          </p:cNvPr>
          <p:cNvSpPr>
            <a:spLocks xmlns:a="http://schemas.openxmlformats.org/drawingml/2006/main" noGrp="1"/>
          </p:cNvSpPr>
          <p:nvPr/>
        </p:nvSpPr>
        <p:spPr>
          <a:xfrm xmlns:a="http://schemas.openxmlformats.org/drawingml/2006/main">
            <a:off x="8181975" y="1562100"/>
            <a:ext cx="3371850" cy="76200"/>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800477A-8560-4DA5-9934-91321831FA01}"/>
              </a:ext>
            </a:extLst>
          </p:cNvPr>
          <p:cNvSpPr>
            <a:spLocks xmlns:a="http://schemas.openxmlformats.org/drawingml/2006/main" noGrp="1"/>
          </p:cNvSpPr>
          <p:nvPr/>
        </p:nvSpPr>
        <p:spPr>
          <a:xfrm xmlns:a="http://schemas.openxmlformats.org/drawingml/2006/main">
            <a:off x="8410575" y="18669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00FFFF"/>
                </a:solidFill>
                <a:latin typeface="Arial"/>
                <a:ea typeface="Arial"/>
                <a:cs typeface="Arial"/>
              </a:defRPr>
            </a:pPr>
            <a:r>
              <a:rPr sz="1875" b="1">
                <a:solidFill>
                  <a:srgbClr val="00FFFF"/>
                </a:solidFill>
                <a:latin typeface="Arial"/>
                <a:ea typeface="Arial"/>
                <a:cs typeface="Arial"/>
              </a:rPr>
              <a:t>SECURE</a:t>
            </a:r>
          </a:p>
        </p:txBody>
      </p:sp>
      <p:sp>
        <p:nvSpPr>
          <p:cNvPr id="20" name="">
            <a:extLst xmlns:a="http://schemas.openxmlformats.org/drawingml/2006/main">
              <a:ext uri="{FF2B5EF4-FFF2-40B4-BE49-F238E27FC236}">
                <a16:creationId xmlns:a16="http://schemas.microsoft.com/office/drawing/2014/main" id="{74482D14-FD66-4BA5-9F82-53C0F4A19981}"/>
              </a:ext>
            </a:extLst>
          </p:cNvPr>
          <p:cNvSpPr>
            <a:spLocks xmlns:a="http://schemas.openxmlformats.org/drawingml/2006/main" noGrp="1"/>
          </p:cNvSpPr>
          <p:nvPr/>
        </p:nvSpPr>
        <p:spPr>
          <a:xfrm xmlns:a="http://schemas.openxmlformats.org/drawingml/2006/main">
            <a:off x="8410575" y="2400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650" b="1">
                <a:solidFill>
                  <a:srgbClr val="FFFFFF"/>
                </a:solidFill>
                <a:latin typeface="Arial"/>
                <a:ea typeface="Arial"/>
                <a:cs typeface="Arial"/>
              </a:defRPr>
            </a:pPr>
            <a:r>
              <a:rPr sz="1650" b="1">
                <a:solidFill>
                  <a:srgbClr val="FFFFFF"/>
                </a:solidFill>
                <a:latin typeface="Arial"/>
                <a:ea typeface="Arial"/>
                <a:cs typeface="Arial"/>
              </a:rPr>
              <a:t>Bound privilege, propagation and irreversible actions.</a:t>
            </a:r>
          </a:p>
        </p:txBody>
      </p:sp>
      <p:sp>
        <p:nvSpPr>
          <p:cNvPr id="21" name="">
            <a:extLst xmlns:a="http://schemas.openxmlformats.org/drawingml/2006/main">
              <a:ext uri="{FF2B5EF4-FFF2-40B4-BE49-F238E27FC236}">
                <a16:creationId xmlns:a16="http://schemas.microsoft.com/office/drawing/2014/main" id="{7ADEFA3E-09D2-4D27-932E-8CCE38D1FECA}"/>
              </a:ext>
            </a:extLst>
          </p:cNvPr>
          <p:cNvSpPr>
            <a:spLocks xmlns:a="http://schemas.openxmlformats.org/drawingml/2006/main" noGrp="1"/>
          </p:cNvSpPr>
          <p:nvPr/>
        </p:nvSpPr>
        <p:spPr>
          <a:xfrm xmlns:a="http://schemas.openxmlformats.org/drawingml/2006/main">
            <a:off x="8410575" y="3495675"/>
            <a:ext cx="2857500" cy="9525"/>
          </a:xfrm>
          <a:prstGeom xmlns:a="http://schemas.openxmlformats.org/drawingml/2006/main" prst="line">
            <a:avLst/>
          </a:prstGeom>
          <a:noFill xmlns:a="http://schemas.openxmlformats.org/drawingml/2006/main"/>
          <a:ln xmlns:a="http://schemas.openxmlformats.org/drawingml/2006/main" w="9525">
            <a:solidFill>
              <a:srgbClr val="25466E"/>
            </a:solidFill>
            <a:prstDash val="solid"/>
          </a:ln>
        </p:spPr>
      </p:sp>
      <p:sp>
        <p:nvSpPr>
          <p:cNvPr id="22" name="">
            <a:extLst xmlns:a="http://schemas.openxmlformats.org/drawingml/2006/main">
              <a:ext uri="{FF2B5EF4-FFF2-40B4-BE49-F238E27FC236}">
                <a16:creationId xmlns:a16="http://schemas.microsoft.com/office/drawing/2014/main" id="{119E64B9-DF5B-4973-BE8E-FF62994CB5A5}"/>
              </a:ext>
            </a:extLst>
          </p:cNvPr>
          <p:cNvSpPr>
            <a:spLocks xmlns:a="http://schemas.openxmlformats.org/drawingml/2006/main" noGrp="1"/>
          </p:cNvSpPr>
          <p:nvPr/>
        </p:nvSpPr>
        <p:spPr>
          <a:xfrm xmlns:a="http://schemas.openxmlformats.org/drawingml/2006/main">
            <a:off x="8410575" y="37147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a:solidFill>
                  <a:srgbClr val="78DCFF"/>
                </a:solidFill>
                <a:latin typeface="Arial"/>
                <a:ea typeface="Arial"/>
                <a:cs typeface="Arial"/>
              </a:defRPr>
            </a:pPr>
            <a:r>
              <a:rPr sz="1350" b="0">
                <a:solidFill>
                  <a:srgbClr val="78DCFF"/>
                </a:solidFill>
                <a:latin typeface="Arial"/>
                <a:ea typeface="Arial"/>
                <a:cs typeface="Arial"/>
              </a:rPr>
              <a:t>What remains safe when the instruction is wrong?</a:t>
            </a:r>
          </a:p>
        </p:txBody>
      </p:sp>
      <p:sp>
        <p:nvSpPr>
          <p:cNvPr id="23" name="">
            <a:extLst xmlns:a="http://schemas.openxmlformats.org/drawingml/2006/main">
              <a:ext uri="{FF2B5EF4-FFF2-40B4-BE49-F238E27FC236}">
                <a16:creationId xmlns:a16="http://schemas.microsoft.com/office/drawing/2014/main" id="{8FA8775B-3DDB-49FE-9A48-0EA1C2A965B2}"/>
              </a:ext>
            </a:extLst>
          </p:cNvPr>
          <p:cNvSpPr>
            <a:spLocks xmlns:a="http://schemas.openxmlformats.org/drawingml/2006/main" noGrp="1"/>
          </p:cNvSpPr>
          <p:nvPr/>
        </p:nvSpPr>
        <p:spPr>
          <a:xfrm xmlns:a="http://schemas.openxmlformats.org/drawingml/2006/main">
            <a:off x="1428750" y="5381625"/>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The exercise tests the decision system around the technology.</a:t>
            </a:r>
          </a:p>
        </p:txBody>
      </p:sp>
    </p:spTree>
    <p:extLst>
      <p:ext uri="{BB962C8B-B14F-4D97-AF65-F5344CB8AC3E}">
        <p14:creationId xmlns:p14="http://schemas.microsoft.com/office/powerpoint/2010/main" val="93880830"/>
      </p:ext>
    </p:extLst>
  </p:cSld>
</p:sld>
</file>

<file path=ppt/slides/slide7.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3C04DF4-BE1D-4BA2-84ED-9272F5A297C4}"/>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EXERCISE</a:t>
            </a:r>
          </a:p>
        </p:txBody>
      </p:sp>
      <p:sp>
        <p:nvSpPr>
          <p:cNvPr id="2" name="">
            <a:extLst xmlns:a="http://schemas.openxmlformats.org/drawingml/2006/main">
              <a:ext uri="{FF2B5EF4-FFF2-40B4-BE49-F238E27FC236}">
                <a16:creationId xmlns:a16="http://schemas.microsoft.com/office/drawing/2014/main" id="{116B17FD-EAFC-43EF-9ACC-D4C745AC80AC}"/>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Make one defensible decision before the next reveal</a:t>
            </a:r>
          </a:p>
        </p:txBody>
      </p:sp>
      <p:sp>
        <p:nvSpPr>
          <p:cNvPr id="3" name="">
            <a:extLst xmlns:a="http://schemas.openxmlformats.org/drawingml/2006/main">
              <a:ext uri="{FF2B5EF4-FFF2-40B4-BE49-F238E27FC236}">
                <a16:creationId xmlns:a16="http://schemas.microsoft.com/office/drawing/2014/main" id="{873389BD-BD93-4A77-BDBB-F87296663FF8}"/>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D0E3868F-3874-4F5C-B3C4-52311117B5BA}"/>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2440A7AD-F379-4215-8BEB-BA0DD40B663F}"/>
              </a:ext>
            </a:extLst>
          </p:cNvPr>
          <p:cNvSpPr>
            <a:spLocks xmlns:a="http://schemas.openxmlformats.org/drawingml/2006/main" noGrp="1"/>
          </p:cNvSpPr>
          <p:nvPr/>
        </p:nvSpPr>
        <p:spPr>
          <a:xfrm xmlns:a="http://schemas.openxmlformats.org/drawingml/2006/main">
            <a:off x="628650" y="12573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75" b="1">
                <a:solidFill>
                  <a:srgbClr val="FFFFFF"/>
                </a:solidFill>
                <a:latin typeface="Arial"/>
                <a:ea typeface="Arial"/>
                <a:cs typeface="Arial"/>
              </a:defRPr>
            </a:pPr>
            <a:r>
              <a:rPr sz="1875" b="1">
                <a:solidFill>
                  <a:srgbClr val="FFFFFF"/>
                </a:solidFill>
                <a:latin typeface="Arial"/>
                <a:ea typeface="Arial"/>
                <a:cs typeface="Arial"/>
              </a:rPr>
              <a:t>No answer key. Adam facilitates; Richard, Security Counsel, listens for strong reasoning and recurring blind spots.</a:t>
            </a:r>
          </a:p>
        </p:txBody>
      </p:sp>
      <p:sp>
        <p:nvSpPr>
          <p:cNvPr id="6" name="">
            <a:extLst xmlns:a="http://schemas.openxmlformats.org/drawingml/2006/main">
              <a:ext uri="{FF2B5EF4-FFF2-40B4-BE49-F238E27FC236}">
                <a16:creationId xmlns:a16="http://schemas.microsoft.com/office/drawing/2014/main" id="{97980B41-6578-4ED7-9AD5-B12339C88D2E}"/>
              </a:ext>
            </a:extLst>
          </p:cNvPr>
          <p:cNvSpPr>
            <a:spLocks xmlns:a="http://schemas.openxmlformats.org/drawingml/2006/main" noGrp="1"/>
          </p:cNvSpPr>
          <p:nvPr/>
        </p:nvSpPr>
        <p:spPr>
          <a:xfrm xmlns:a="http://schemas.openxmlformats.org/drawingml/2006/main">
            <a:off x="742950" y="21717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AC98F3-BA33-4EBD-9352-875D25760BF7}"/>
              </a:ext>
            </a:extLst>
          </p:cNvPr>
          <p:cNvSpPr>
            <a:spLocks xmlns:a="http://schemas.openxmlformats.org/drawingml/2006/main" noGrp="1"/>
          </p:cNvSpPr>
          <p:nvPr/>
        </p:nvSpPr>
        <p:spPr>
          <a:xfrm xmlns:a="http://schemas.openxmlformats.org/drawingml/2006/main">
            <a:off x="742950" y="21812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C16356AD-AE7F-430D-9AA7-46BCD91FFD64}"/>
              </a:ext>
            </a:extLst>
          </p:cNvPr>
          <p:cNvSpPr>
            <a:spLocks xmlns:a="http://schemas.openxmlformats.org/drawingml/2006/main" noGrp="1"/>
          </p:cNvSpPr>
          <p:nvPr/>
        </p:nvSpPr>
        <p:spPr>
          <a:xfrm xmlns:a="http://schemas.openxmlformats.org/drawingml/2006/main">
            <a:off x="114300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Business or service owner</a:t>
            </a:r>
          </a:p>
        </p:txBody>
      </p:sp>
      <p:sp>
        <p:nvSpPr>
          <p:cNvPr id="9" name="">
            <a:extLst xmlns:a="http://schemas.openxmlformats.org/drawingml/2006/main">
              <a:ext uri="{FF2B5EF4-FFF2-40B4-BE49-F238E27FC236}">
                <a16:creationId xmlns:a16="http://schemas.microsoft.com/office/drawing/2014/main" id="{D90CBEA7-5373-4B84-AE9E-AF40A847595F}"/>
              </a:ext>
            </a:extLst>
          </p:cNvPr>
          <p:cNvSpPr>
            <a:spLocks xmlns:a="http://schemas.openxmlformats.org/drawingml/2006/main" noGrp="1"/>
          </p:cNvSpPr>
          <p:nvPr/>
        </p:nvSpPr>
        <p:spPr>
          <a:xfrm xmlns:a="http://schemas.openxmlformats.org/drawingml/2006/main">
            <a:off x="742950" y="276225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E74E076-B8EE-48D3-A480-6F12DB0EBE6B}"/>
              </a:ext>
            </a:extLst>
          </p:cNvPr>
          <p:cNvSpPr>
            <a:spLocks xmlns:a="http://schemas.openxmlformats.org/drawingml/2006/main" noGrp="1"/>
          </p:cNvSpPr>
          <p:nvPr/>
        </p:nvSpPr>
        <p:spPr>
          <a:xfrm xmlns:a="http://schemas.openxmlformats.org/drawingml/2006/main">
            <a:off x="742950" y="27717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C4DC5C18-2836-40D8-9A9E-435543565844}"/>
              </a:ext>
            </a:extLst>
          </p:cNvPr>
          <p:cNvSpPr>
            <a:spLocks xmlns:a="http://schemas.openxmlformats.org/drawingml/2006/main" noGrp="1"/>
          </p:cNvSpPr>
          <p:nvPr/>
        </p:nvSpPr>
        <p:spPr>
          <a:xfrm xmlns:a="http://schemas.openxmlformats.org/drawingml/2006/main">
            <a:off x="1143000" y="27432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Security incident commander</a:t>
            </a:r>
          </a:p>
        </p:txBody>
      </p:sp>
      <p:sp>
        <p:nvSpPr>
          <p:cNvPr id="12" name="">
            <a:extLst xmlns:a="http://schemas.openxmlformats.org/drawingml/2006/main">
              <a:ext uri="{FF2B5EF4-FFF2-40B4-BE49-F238E27FC236}">
                <a16:creationId xmlns:a16="http://schemas.microsoft.com/office/drawing/2014/main" id="{028841A7-DC0E-479C-BA97-84FC7AAB32C4}"/>
              </a:ext>
            </a:extLst>
          </p:cNvPr>
          <p:cNvSpPr>
            <a:spLocks xmlns:a="http://schemas.openxmlformats.org/drawingml/2006/main" noGrp="1"/>
          </p:cNvSpPr>
          <p:nvPr/>
        </p:nvSpPr>
        <p:spPr>
          <a:xfrm xmlns:a="http://schemas.openxmlformats.org/drawingml/2006/main">
            <a:off x="742950" y="33528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3BD943A-B747-440C-BA97-0D54D73ABF2B}"/>
              </a:ext>
            </a:extLst>
          </p:cNvPr>
          <p:cNvSpPr>
            <a:spLocks xmlns:a="http://schemas.openxmlformats.org/drawingml/2006/main" noGrp="1"/>
          </p:cNvSpPr>
          <p:nvPr/>
        </p:nvSpPr>
        <p:spPr>
          <a:xfrm xmlns:a="http://schemas.openxmlformats.org/drawingml/2006/main">
            <a:off x="742950" y="33623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0B128299-ECBF-427A-A17B-7B394ED0AEEC}"/>
              </a:ext>
            </a:extLst>
          </p:cNvPr>
          <p:cNvSpPr>
            <a:spLocks xmlns:a="http://schemas.openxmlformats.org/drawingml/2006/main" noGrp="1"/>
          </p:cNvSpPr>
          <p:nvPr/>
        </p:nvSpPr>
        <p:spPr>
          <a:xfrm xmlns:a="http://schemas.openxmlformats.org/drawingml/2006/main">
            <a:off x="1143000" y="3333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Identity and platform lead</a:t>
            </a:r>
          </a:p>
        </p:txBody>
      </p:sp>
      <p:sp>
        <p:nvSpPr>
          <p:cNvPr id="15" name="">
            <a:extLst xmlns:a="http://schemas.openxmlformats.org/drawingml/2006/main">
              <a:ext uri="{FF2B5EF4-FFF2-40B4-BE49-F238E27FC236}">
                <a16:creationId xmlns:a16="http://schemas.microsoft.com/office/drawing/2014/main" id="{38E9498B-3B24-43D5-9081-83EEECDE7EF5}"/>
              </a:ext>
            </a:extLst>
          </p:cNvPr>
          <p:cNvSpPr>
            <a:spLocks xmlns:a="http://schemas.openxmlformats.org/drawingml/2006/main" noGrp="1"/>
          </p:cNvSpPr>
          <p:nvPr/>
        </p:nvSpPr>
        <p:spPr>
          <a:xfrm xmlns:a="http://schemas.openxmlformats.org/drawingml/2006/main">
            <a:off x="6191250" y="217170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BF7A1B-3D36-4942-8006-7D087F8FDF98}"/>
              </a:ext>
            </a:extLst>
          </p:cNvPr>
          <p:cNvSpPr>
            <a:spLocks xmlns:a="http://schemas.openxmlformats.org/drawingml/2006/main" noGrp="1"/>
          </p:cNvSpPr>
          <p:nvPr/>
        </p:nvSpPr>
        <p:spPr>
          <a:xfrm xmlns:a="http://schemas.openxmlformats.org/drawingml/2006/main">
            <a:off x="6191250" y="21812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93B44EA7-2390-407A-880F-3334474C37A3}"/>
              </a:ext>
            </a:extLst>
          </p:cNvPr>
          <p:cNvSpPr>
            <a:spLocks xmlns:a="http://schemas.openxmlformats.org/drawingml/2006/main" noGrp="1"/>
          </p:cNvSpPr>
          <p:nvPr/>
        </p:nvSpPr>
        <p:spPr>
          <a:xfrm xmlns:a="http://schemas.openxmlformats.org/drawingml/2006/main">
            <a:off x="659130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Data, privacy or legal lead</a:t>
            </a:r>
          </a:p>
        </p:txBody>
      </p:sp>
      <p:sp>
        <p:nvSpPr>
          <p:cNvPr id="18" name="">
            <a:extLst xmlns:a="http://schemas.openxmlformats.org/drawingml/2006/main">
              <a:ext uri="{FF2B5EF4-FFF2-40B4-BE49-F238E27FC236}">
                <a16:creationId xmlns:a16="http://schemas.microsoft.com/office/drawing/2014/main" id="{CF0936DE-6C15-4B71-A4B1-BD1D023FEFEA}"/>
              </a:ext>
            </a:extLst>
          </p:cNvPr>
          <p:cNvSpPr>
            <a:spLocks xmlns:a="http://schemas.openxmlformats.org/drawingml/2006/main" noGrp="1"/>
          </p:cNvSpPr>
          <p:nvPr/>
        </p:nvSpPr>
        <p:spPr>
          <a:xfrm xmlns:a="http://schemas.openxmlformats.org/drawingml/2006/main">
            <a:off x="6191250" y="2762250"/>
            <a:ext cx="228600" cy="2286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73A9E69-9C4F-443D-89B3-B9E7F458E562}"/>
              </a:ext>
            </a:extLst>
          </p:cNvPr>
          <p:cNvSpPr>
            <a:spLocks xmlns:a="http://schemas.openxmlformats.org/drawingml/2006/main" noGrp="1"/>
          </p:cNvSpPr>
          <p:nvPr/>
        </p:nvSpPr>
        <p:spPr>
          <a:xfrm xmlns:a="http://schemas.openxmlformats.org/drawingml/2006/main">
            <a:off x="6191250" y="27717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000025"/>
                </a:solidFill>
                <a:latin typeface="Arial"/>
                <a:ea typeface="Arial"/>
                <a:cs typeface="Arial"/>
              </a:defRPr>
            </a:pPr>
            <a:r>
              <a:rPr sz="975" b="1">
                <a:solidFill>
                  <a:srgbClr val="000025"/>
                </a:solidFill>
                <a:latin typeface="Arial"/>
                <a:ea typeface="Arial"/>
                <a:cs typeface="Arial"/>
              </a:rPr>
              <a:t>5</a:t>
            </a:r>
          </a:p>
        </p:txBody>
      </p:sp>
      <p:sp>
        <p:nvSpPr>
          <p:cNvPr id="20" name="">
            <a:extLst xmlns:a="http://schemas.openxmlformats.org/drawingml/2006/main">
              <a:ext uri="{FF2B5EF4-FFF2-40B4-BE49-F238E27FC236}">
                <a16:creationId xmlns:a16="http://schemas.microsoft.com/office/drawing/2014/main" id="{A1E105B5-8880-49EB-BAE1-EEDDFFB89117}"/>
              </a:ext>
            </a:extLst>
          </p:cNvPr>
          <p:cNvSpPr>
            <a:spLocks xmlns:a="http://schemas.openxmlformats.org/drawingml/2006/main" noGrp="1"/>
          </p:cNvSpPr>
          <p:nvPr/>
        </p:nvSpPr>
        <p:spPr>
          <a:xfrm xmlns:a="http://schemas.openxmlformats.org/drawingml/2006/main">
            <a:off x="6591300" y="27432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Communications or executive liaison</a:t>
            </a:r>
          </a:p>
        </p:txBody>
      </p:sp>
      <p:sp>
        <p:nvSpPr>
          <p:cNvPr id="21" name="">
            <a:extLst xmlns:a="http://schemas.openxmlformats.org/drawingml/2006/main">
              <a:ext uri="{FF2B5EF4-FFF2-40B4-BE49-F238E27FC236}">
                <a16:creationId xmlns:a16="http://schemas.microsoft.com/office/drawing/2014/main" id="{5F5364CF-CCC1-476E-929D-9DE43E8EF473}"/>
              </a:ext>
            </a:extLst>
          </p:cNvPr>
          <p:cNvSpPr>
            <a:spLocks xmlns:a="http://schemas.openxmlformats.org/drawingml/2006/main" noGrp="1"/>
          </p:cNvSpPr>
          <p:nvPr/>
        </p:nvSpPr>
        <p:spPr>
          <a:xfrm xmlns:a="http://schemas.openxmlformats.org/drawingml/2006/main">
            <a:off x="6191250" y="3352800"/>
            <a:ext cx="228600" cy="228600"/>
          </a:xfrm>
          <a:prstGeom xmlns:a="http://schemas.openxmlformats.org/drawingml/2006/main" prst="ellipse">
            <a:avLst/>
          </a:prstGeom>
          <a:solidFill xmlns:a="http://schemas.openxmlformats.org/drawingml/2006/main">
            <a:srgbClr val="7C3AE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2BD2DCE-9A48-4474-826C-A6C2311E7D4E}"/>
              </a:ext>
            </a:extLst>
          </p:cNvPr>
          <p:cNvSpPr>
            <a:spLocks xmlns:a="http://schemas.openxmlformats.org/drawingml/2006/main" noGrp="1"/>
          </p:cNvSpPr>
          <p:nvPr/>
        </p:nvSpPr>
        <p:spPr>
          <a:xfrm xmlns:a="http://schemas.openxmlformats.org/drawingml/2006/main">
            <a:off x="6191250" y="336232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6</a:t>
            </a:r>
          </a:p>
        </p:txBody>
      </p:sp>
      <p:sp>
        <p:nvSpPr>
          <p:cNvPr id="23" name="">
            <a:extLst xmlns:a="http://schemas.openxmlformats.org/drawingml/2006/main">
              <a:ext uri="{FF2B5EF4-FFF2-40B4-BE49-F238E27FC236}">
                <a16:creationId xmlns:a16="http://schemas.microsoft.com/office/drawing/2014/main" id="{EC57E800-DCA9-42A3-BE6D-45FCD79A13BD}"/>
              </a:ext>
            </a:extLst>
          </p:cNvPr>
          <p:cNvSpPr>
            <a:spLocks xmlns:a="http://schemas.openxmlformats.org/drawingml/2006/main" noGrp="1"/>
          </p:cNvSpPr>
          <p:nvPr/>
        </p:nvSpPr>
        <p:spPr>
          <a:xfrm xmlns:a="http://schemas.openxmlformats.org/drawingml/2006/main">
            <a:off x="6591300" y="3333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Scribe / constructive challenger</a:t>
            </a:r>
          </a:p>
        </p:txBody>
      </p:sp>
      <p:sp>
        <p:nvSpPr>
          <p:cNvPr id="24" name="">
            <a:extLst xmlns:a="http://schemas.openxmlformats.org/drawingml/2006/main">
              <a:ext uri="{FF2B5EF4-FFF2-40B4-BE49-F238E27FC236}">
                <a16:creationId xmlns:a16="http://schemas.microsoft.com/office/drawing/2014/main" id="{65AD7040-24F9-4413-B701-55F9530B1CF8}"/>
              </a:ext>
            </a:extLst>
          </p:cNvPr>
          <p:cNvSpPr>
            <a:spLocks xmlns:a="http://schemas.openxmlformats.org/drawingml/2006/main" noGrp="1"/>
          </p:cNvSpPr>
          <p:nvPr/>
        </p:nvSpPr>
        <p:spPr>
          <a:xfrm xmlns:a="http://schemas.openxmlformats.org/drawingml/2006/main">
            <a:off x="76200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78DCFF"/>
                </a:solidFill>
                <a:latin typeface="Arial"/>
                <a:ea typeface="Arial"/>
                <a:cs typeface="Arial"/>
              </a:defRPr>
            </a:pPr>
            <a:r>
              <a:rPr sz="3600" b="1">
                <a:solidFill>
                  <a:srgbClr val="78DCFF"/>
                </a:solidFill>
                <a:latin typeface="Arial"/>
                <a:ea typeface="Arial"/>
                <a:cs typeface="Arial"/>
              </a:rPr>
              <a:t>15</a:t>
            </a:r>
          </a:p>
        </p:txBody>
      </p:sp>
      <p:sp>
        <p:nvSpPr>
          <p:cNvPr id="25" name="">
            <a:extLst xmlns:a="http://schemas.openxmlformats.org/drawingml/2006/main">
              <a:ext uri="{FF2B5EF4-FFF2-40B4-BE49-F238E27FC236}">
                <a16:creationId xmlns:a16="http://schemas.microsoft.com/office/drawing/2014/main" id="{034E1D10-6D30-460F-A372-2E5F3BAE19D0}"/>
              </a:ext>
            </a:extLst>
          </p:cNvPr>
          <p:cNvSpPr>
            <a:spLocks xmlns:a="http://schemas.openxmlformats.org/drawingml/2006/main" noGrp="1"/>
          </p:cNvSpPr>
          <p:nvPr/>
        </p:nvSpPr>
        <p:spPr>
          <a:xfrm xmlns:a="http://schemas.openxmlformats.org/drawingml/2006/main">
            <a:off x="762000"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INTRO</a:t>
            </a:r>
          </a:p>
        </p:txBody>
      </p:sp>
      <p:sp>
        <p:nvSpPr>
          <p:cNvPr id="26" name="">
            <a:extLst xmlns:a="http://schemas.openxmlformats.org/drawingml/2006/main">
              <a:ext uri="{FF2B5EF4-FFF2-40B4-BE49-F238E27FC236}">
                <a16:creationId xmlns:a16="http://schemas.microsoft.com/office/drawing/2014/main" id="{27563477-87A4-4683-B752-D787D99E9650}"/>
              </a:ext>
            </a:extLst>
          </p:cNvPr>
          <p:cNvSpPr>
            <a:spLocks xmlns:a="http://schemas.openxmlformats.org/drawingml/2006/main" noGrp="1"/>
          </p:cNvSpPr>
          <p:nvPr/>
        </p:nvSpPr>
        <p:spPr>
          <a:xfrm xmlns:a="http://schemas.openxmlformats.org/drawingml/2006/main">
            <a:off x="3095625"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7C3AED"/>
                </a:solidFill>
                <a:latin typeface="Arial"/>
                <a:ea typeface="Arial"/>
                <a:cs typeface="Arial"/>
              </a:defRPr>
            </a:pPr>
            <a:r>
              <a:rPr sz="3600" b="1">
                <a:solidFill>
                  <a:srgbClr val="7C3AED"/>
                </a:solidFill>
                <a:latin typeface="Arial"/>
                <a:ea typeface="Arial"/>
                <a:cs typeface="Arial"/>
              </a:rPr>
              <a:t>40</a:t>
            </a:r>
          </a:p>
        </p:txBody>
      </p:sp>
      <p:sp>
        <p:nvSpPr>
          <p:cNvPr id="27" name="">
            <a:extLst xmlns:a="http://schemas.openxmlformats.org/drawingml/2006/main">
              <a:ext uri="{FF2B5EF4-FFF2-40B4-BE49-F238E27FC236}">
                <a16:creationId xmlns:a16="http://schemas.microsoft.com/office/drawing/2014/main" id="{59DB7635-50BC-4CC7-9C64-A5577D800C27}"/>
              </a:ext>
            </a:extLst>
          </p:cNvPr>
          <p:cNvSpPr>
            <a:spLocks xmlns:a="http://schemas.openxmlformats.org/drawingml/2006/main" noGrp="1"/>
          </p:cNvSpPr>
          <p:nvPr/>
        </p:nvSpPr>
        <p:spPr>
          <a:xfrm xmlns:a="http://schemas.openxmlformats.org/drawingml/2006/main">
            <a:off x="3095625"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DECIDE</a:t>
            </a:r>
          </a:p>
        </p:txBody>
      </p:sp>
      <p:sp>
        <p:nvSpPr>
          <p:cNvPr id="28" name="">
            <a:extLst xmlns:a="http://schemas.openxmlformats.org/drawingml/2006/main">
              <a:ext uri="{FF2B5EF4-FFF2-40B4-BE49-F238E27FC236}">
                <a16:creationId xmlns:a16="http://schemas.microsoft.com/office/drawing/2014/main" id="{0955672C-9ECF-4250-91E8-57D2E3E9ABCF}"/>
              </a:ext>
            </a:extLst>
          </p:cNvPr>
          <p:cNvSpPr>
            <a:spLocks xmlns:a="http://schemas.openxmlformats.org/drawingml/2006/main" noGrp="1"/>
          </p:cNvSpPr>
          <p:nvPr/>
        </p:nvSpPr>
        <p:spPr>
          <a:xfrm xmlns:a="http://schemas.openxmlformats.org/drawingml/2006/main">
            <a:off x="542925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00AEFF"/>
                </a:solidFill>
                <a:latin typeface="Arial"/>
                <a:ea typeface="Arial"/>
                <a:cs typeface="Arial"/>
              </a:defRPr>
            </a:pPr>
            <a:r>
              <a:rPr sz="3600" b="1">
                <a:solidFill>
                  <a:srgbClr val="00AEFF"/>
                </a:solidFill>
                <a:latin typeface="Arial"/>
                <a:ea typeface="Arial"/>
                <a:cs typeface="Arial"/>
              </a:rPr>
              <a:t>6</a:t>
            </a:r>
          </a:p>
        </p:txBody>
      </p:sp>
      <p:sp>
        <p:nvSpPr>
          <p:cNvPr id="29" name="">
            <a:extLst xmlns:a="http://schemas.openxmlformats.org/drawingml/2006/main">
              <a:ext uri="{FF2B5EF4-FFF2-40B4-BE49-F238E27FC236}">
                <a16:creationId xmlns:a16="http://schemas.microsoft.com/office/drawing/2014/main" id="{AB61F401-7DFA-474D-AA14-A8ECA0BF9FC6}"/>
              </a:ext>
            </a:extLst>
          </p:cNvPr>
          <p:cNvSpPr>
            <a:spLocks xmlns:a="http://schemas.openxmlformats.org/drawingml/2006/main" noGrp="1"/>
          </p:cNvSpPr>
          <p:nvPr/>
        </p:nvSpPr>
        <p:spPr>
          <a:xfrm xmlns:a="http://schemas.openxmlformats.org/drawingml/2006/main">
            <a:off x="5429250"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LOCK</a:t>
            </a:r>
          </a:p>
        </p:txBody>
      </p:sp>
      <p:sp>
        <p:nvSpPr>
          <p:cNvPr id="30" name="">
            <a:extLst xmlns:a="http://schemas.openxmlformats.org/drawingml/2006/main">
              <a:ext uri="{FF2B5EF4-FFF2-40B4-BE49-F238E27FC236}">
                <a16:creationId xmlns:a16="http://schemas.microsoft.com/office/drawing/2014/main" id="{3FC148C1-38C7-4F55-AD57-810FAB8C4267}"/>
              </a:ext>
            </a:extLst>
          </p:cNvPr>
          <p:cNvSpPr>
            <a:spLocks xmlns:a="http://schemas.openxmlformats.org/drawingml/2006/main" noGrp="1"/>
          </p:cNvSpPr>
          <p:nvPr/>
        </p:nvSpPr>
        <p:spPr>
          <a:xfrm xmlns:a="http://schemas.openxmlformats.org/drawingml/2006/main">
            <a:off x="7762875"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E5484D"/>
                </a:solidFill>
                <a:latin typeface="Arial"/>
                <a:ea typeface="Arial"/>
                <a:cs typeface="Arial"/>
              </a:defRPr>
            </a:pPr>
            <a:r>
              <a:rPr sz="3600" b="1">
                <a:solidFill>
                  <a:srgbClr val="E5484D"/>
                </a:solidFill>
                <a:latin typeface="Arial"/>
                <a:ea typeface="Arial"/>
                <a:cs typeface="Arial"/>
              </a:rPr>
              <a:t>22</a:t>
            </a:r>
          </a:p>
        </p:txBody>
      </p:sp>
      <p:sp>
        <p:nvSpPr>
          <p:cNvPr id="31" name="">
            <a:extLst xmlns:a="http://schemas.openxmlformats.org/drawingml/2006/main">
              <a:ext uri="{FF2B5EF4-FFF2-40B4-BE49-F238E27FC236}">
                <a16:creationId xmlns:a16="http://schemas.microsoft.com/office/drawing/2014/main" id="{9C365D7E-4C4B-4207-A0B7-FF63A9D99EF4}"/>
              </a:ext>
            </a:extLst>
          </p:cNvPr>
          <p:cNvSpPr>
            <a:spLocks xmlns:a="http://schemas.openxmlformats.org/drawingml/2006/main" noGrp="1"/>
          </p:cNvSpPr>
          <p:nvPr/>
        </p:nvSpPr>
        <p:spPr>
          <a:xfrm xmlns:a="http://schemas.openxmlformats.org/drawingml/2006/main">
            <a:off x="7762875" y="52863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REPORT</a:t>
            </a:r>
          </a:p>
        </p:txBody>
      </p:sp>
      <p:sp>
        <p:nvSpPr>
          <p:cNvPr id="32" name="">
            <a:extLst xmlns:a="http://schemas.openxmlformats.org/drawingml/2006/main">
              <a:ext uri="{FF2B5EF4-FFF2-40B4-BE49-F238E27FC236}">
                <a16:creationId xmlns:a16="http://schemas.microsoft.com/office/drawing/2014/main" id="{D4FF8F2B-9C92-424F-95AE-5D8F4795FD18}"/>
              </a:ext>
            </a:extLst>
          </p:cNvPr>
          <p:cNvSpPr>
            <a:spLocks xmlns:a="http://schemas.openxmlformats.org/drawingml/2006/main" noGrp="1"/>
          </p:cNvSpPr>
          <p:nvPr/>
        </p:nvSpPr>
        <p:spPr>
          <a:xfrm xmlns:a="http://schemas.openxmlformats.org/drawingml/2006/main">
            <a:off x="10096500" y="4762500"/>
            <a:ext cx="85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3600" b="1">
                <a:solidFill>
                  <a:srgbClr val="00FFFF"/>
                </a:solidFill>
                <a:latin typeface="Arial"/>
                <a:ea typeface="Arial"/>
                <a:cs typeface="Arial"/>
              </a:defRPr>
            </a:pPr>
            <a:r>
              <a:rPr sz="3600" b="1">
                <a:solidFill>
                  <a:srgbClr val="00FFFF"/>
                </a:solidFill>
                <a:latin typeface="Arial"/>
                <a:ea typeface="Arial"/>
                <a:cs typeface="Arial"/>
              </a:rPr>
              <a:t>7</a:t>
            </a:r>
          </a:p>
        </p:txBody>
      </p:sp>
      <p:sp>
        <p:nvSpPr>
          <p:cNvPr id="33" name="">
            <a:extLst xmlns:a="http://schemas.openxmlformats.org/drawingml/2006/main">
              <a:ext uri="{FF2B5EF4-FFF2-40B4-BE49-F238E27FC236}">
                <a16:creationId xmlns:a16="http://schemas.microsoft.com/office/drawing/2014/main" id="{24E62890-CBD4-4E2C-92B1-9246060659DB}"/>
              </a:ext>
            </a:extLst>
          </p:cNvPr>
          <p:cNvSpPr>
            <a:spLocks xmlns:a="http://schemas.openxmlformats.org/drawingml/2006/main" noGrp="1"/>
          </p:cNvSpPr>
          <p:nvPr/>
        </p:nvSpPr>
        <p:spPr>
          <a:xfrm xmlns:a="http://schemas.openxmlformats.org/drawingml/2006/main">
            <a:off x="9982200" y="5286375"/>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900" b="1">
                <a:solidFill>
                  <a:srgbClr val="9AA7B5"/>
                </a:solidFill>
                <a:latin typeface="Arial"/>
                <a:ea typeface="Arial"/>
                <a:cs typeface="Arial"/>
              </a:defRPr>
            </a:pPr>
            <a:r>
              <a:rPr sz="900" b="1">
                <a:solidFill>
                  <a:srgbClr val="9AA7B5"/>
                </a:solidFill>
                <a:latin typeface="Arial"/>
                <a:ea typeface="Arial"/>
                <a:cs typeface="Arial"/>
              </a:rPr>
              <a:t>SYNTHESISE</a:t>
            </a:r>
          </a:p>
        </p:txBody>
      </p:sp>
      <p:sp>
        <p:nvSpPr>
          <p:cNvPr id="34" name="">
            <a:extLst xmlns:a="http://schemas.openxmlformats.org/drawingml/2006/main">
              <a:ext uri="{FF2B5EF4-FFF2-40B4-BE49-F238E27FC236}">
                <a16:creationId xmlns:a16="http://schemas.microsoft.com/office/drawing/2014/main" id="{0A84288A-5774-4E4C-9CA1-80311DE7A520}"/>
              </a:ext>
            </a:extLst>
          </p:cNvPr>
          <p:cNvSpPr>
            <a:spLocks xmlns:a="http://schemas.openxmlformats.org/drawingml/2006/main" noGrp="1"/>
          </p:cNvSpPr>
          <p:nvPr/>
        </p:nvSpPr>
        <p:spPr>
          <a:xfrm xmlns:a="http://schemas.openxmlformats.org/drawingml/2006/main">
            <a:off x="1381125" y="5010150"/>
            <a:ext cx="8905875" cy="9525"/>
          </a:xfrm>
          <a:prstGeom xmlns:a="http://schemas.openxmlformats.org/drawingml/2006/main" prst="line">
            <a:avLst/>
          </a:prstGeom>
          <a:noFill xmlns:a="http://schemas.openxmlformats.org/drawingml/2006/main"/>
          <a:ln xmlns:a="http://schemas.openxmlformats.org/drawingml/2006/main" w="38100">
            <a:solidFill>
              <a:srgbClr val="25466E"/>
            </a:solidFill>
            <a:prstDash val="solid"/>
          </a:ln>
        </p:spPr>
      </p:sp>
    </p:spTree>
    <p:extLst>
      <p:ext uri="{BB962C8B-B14F-4D97-AF65-F5344CB8AC3E}">
        <p14:creationId xmlns:p14="http://schemas.microsoft.com/office/powerpoint/2010/main" val="1562176468"/>
      </p:ext>
    </p:extLst>
  </p:cSld>
</p:sld>
</file>

<file path=ppt/slides/slide8.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A8F512B-406D-4E92-B208-4A72A62B4D8C}"/>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FICTIONAL SYSTEM · REAL CONTROL PATTERNS</a:t>
            </a:r>
          </a:p>
        </p:txBody>
      </p:sp>
      <p:sp>
        <p:nvSpPr>
          <p:cNvPr id="2" name="">
            <a:extLst xmlns:a="http://schemas.openxmlformats.org/drawingml/2006/main">
              <a:ext uri="{FF2B5EF4-FFF2-40B4-BE49-F238E27FC236}">
                <a16:creationId xmlns:a16="http://schemas.microsoft.com/office/drawing/2014/main" id="{09DC3769-0B3E-49D8-AEB7-BC64D7E0ECD7}"/>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Your scenario</a:t>
            </a:r>
          </a:p>
        </p:txBody>
      </p:sp>
      <p:sp>
        <p:nvSpPr>
          <p:cNvPr id="3" name="">
            <a:extLst xmlns:a="http://schemas.openxmlformats.org/drawingml/2006/main">
              <a:ext uri="{FF2B5EF4-FFF2-40B4-BE49-F238E27FC236}">
                <a16:creationId xmlns:a16="http://schemas.microsoft.com/office/drawing/2014/main" id="{94C38ECE-2450-4316-AD7E-22CBB72A79B9}"/>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40912625-FF9E-47BD-B011-A8114CF42280}"/>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0FAE05F-0DF4-45CF-8CC9-F6424F9D8F62}"/>
              </a:ext>
            </a:extLst>
          </p:cNvPr>
          <p:cNvSpPr>
            <a:spLocks xmlns:a="http://schemas.openxmlformats.org/drawingml/2006/main" noGrp="1"/>
          </p:cNvSpPr>
          <p:nvPr/>
        </p:nvSpPr>
        <p:spPr>
          <a:xfrm xmlns:a="http://schemas.openxmlformats.org/drawingml/2006/main">
            <a:off x="666750" y="1438275"/>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300" b="1">
                <a:solidFill>
                  <a:srgbClr val="00FFFF"/>
                </a:solidFill>
                <a:latin typeface="Arial"/>
                <a:ea typeface="Arial"/>
                <a:cs typeface="Arial"/>
              </a:defRPr>
            </a:pPr>
            <a:r>
              <a:rPr sz="3300" b="1">
                <a:solidFill>
                  <a:srgbClr val="00FFFF"/>
                </a:solidFill>
                <a:latin typeface="Arial"/>
                <a:ea typeface="Arial"/>
                <a:cs typeface="Arial"/>
              </a:rPr>
              <a:t>CIVIC ASSIST</a:t>
            </a:r>
          </a:p>
        </p:txBody>
      </p:sp>
      <p:sp>
        <p:nvSpPr>
          <p:cNvPr id="6" name="">
            <a:extLst xmlns:a="http://schemas.openxmlformats.org/drawingml/2006/main">
              <a:ext uri="{FF2B5EF4-FFF2-40B4-BE49-F238E27FC236}">
                <a16:creationId xmlns:a16="http://schemas.microsoft.com/office/drawing/2014/main" id="{7810E593-E51E-4CDE-A68F-387319823DBA}"/>
              </a:ext>
            </a:extLst>
          </p:cNvPr>
          <p:cNvSpPr>
            <a:spLocks xmlns:a="http://schemas.openxmlformats.org/drawingml/2006/main" noGrp="1"/>
          </p:cNvSpPr>
          <p:nvPr/>
        </p:nvSpPr>
        <p:spPr>
          <a:xfrm xmlns:a="http://schemas.openxmlformats.org/drawingml/2006/main">
            <a:off x="685800" y="20574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0">
                <a:solidFill>
                  <a:srgbClr val="FFFFFF"/>
                </a:solidFill>
                <a:latin typeface="Arial"/>
                <a:ea typeface="Arial"/>
                <a:cs typeface="Arial"/>
              </a:defRPr>
            </a:pPr>
            <a:r>
              <a:rPr sz="1800" b="0">
                <a:solidFill>
                  <a:srgbClr val="FFFFFF"/>
                </a:solidFill>
                <a:latin typeface="Arial"/>
                <a:ea typeface="Arial"/>
                <a:cs typeface="Arial"/>
              </a:rPr>
              <a:t>Community recovery grants · high-volume service</a:t>
            </a:r>
          </a:p>
        </p:txBody>
      </p:sp>
      <p:sp>
        <p:nvSpPr>
          <p:cNvPr id="7" name="">
            <a:extLst xmlns:a="http://schemas.openxmlformats.org/drawingml/2006/main">
              <a:ext uri="{FF2B5EF4-FFF2-40B4-BE49-F238E27FC236}">
                <a16:creationId xmlns:a16="http://schemas.microsoft.com/office/drawing/2014/main" id="{E2324A1A-8E92-4BC0-9C37-E543B64074D4}"/>
              </a:ext>
            </a:extLst>
          </p:cNvPr>
          <p:cNvSpPr>
            <a:spLocks xmlns:a="http://schemas.openxmlformats.org/drawingml/2006/main" noGrp="1"/>
          </p:cNvSpPr>
          <p:nvPr/>
        </p:nvSpPr>
        <p:spPr>
          <a:xfrm xmlns:a="http://schemas.openxmlformats.org/drawingml/2006/main">
            <a:off x="704850" y="280035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PURPOSE</a:t>
            </a:r>
          </a:p>
        </p:txBody>
      </p:sp>
      <p:sp>
        <p:nvSpPr>
          <p:cNvPr id="8" name="">
            <a:extLst xmlns:a="http://schemas.openxmlformats.org/drawingml/2006/main">
              <a:ext uri="{FF2B5EF4-FFF2-40B4-BE49-F238E27FC236}">
                <a16:creationId xmlns:a16="http://schemas.microsoft.com/office/drawing/2014/main" id="{71488BA2-71DF-4930-97A2-623F1504BC1C}"/>
              </a:ext>
            </a:extLst>
          </p:cNvPr>
          <p:cNvSpPr>
            <a:spLocks xmlns:a="http://schemas.openxmlformats.org/drawingml/2006/main" noGrp="1"/>
          </p:cNvSpPr>
          <p:nvPr/>
        </p:nvSpPr>
        <p:spPr>
          <a:xfrm xmlns:a="http://schemas.openxmlformats.org/drawingml/2006/main">
            <a:off x="2476500" y="278130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Triages cases, checks duplicate claims and drafts applicant updates.</a:t>
            </a:r>
          </a:p>
        </p:txBody>
      </p:sp>
      <p:sp>
        <p:nvSpPr>
          <p:cNvPr id="9" name="">
            <a:extLst xmlns:a="http://schemas.openxmlformats.org/drawingml/2006/main">
              <a:ext uri="{FF2B5EF4-FFF2-40B4-BE49-F238E27FC236}">
                <a16:creationId xmlns:a16="http://schemas.microsoft.com/office/drawing/2014/main" id="{CBFB3399-DA02-43B6-B79E-B7861A0D281C}"/>
              </a:ext>
            </a:extLst>
          </p:cNvPr>
          <p:cNvSpPr>
            <a:spLocks xmlns:a="http://schemas.openxmlformats.org/drawingml/2006/main" noGrp="1"/>
          </p:cNvSpPr>
          <p:nvPr/>
        </p:nvSpPr>
        <p:spPr>
          <a:xfrm xmlns:a="http://schemas.openxmlformats.org/drawingml/2006/main">
            <a:off x="704850" y="354330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CONNECTIONS</a:t>
            </a:r>
          </a:p>
        </p:txBody>
      </p:sp>
      <p:sp>
        <p:nvSpPr>
          <p:cNvPr id="10" name="">
            <a:extLst xmlns:a="http://schemas.openxmlformats.org/drawingml/2006/main">
              <a:ext uri="{FF2B5EF4-FFF2-40B4-BE49-F238E27FC236}">
                <a16:creationId xmlns:a16="http://schemas.microsoft.com/office/drawing/2014/main" id="{9BDCD344-7163-4688-8ECF-B216EAB5A70B}"/>
              </a:ext>
            </a:extLst>
          </p:cNvPr>
          <p:cNvSpPr>
            <a:spLocks xmlns:a="http://schemas.openxmlformats.org/drawingml/2006/main" noGrp="1"/>
          </p:cNvSpPr>
          <p:nvPr/>
        </p:nvSpPr>
        <p:spPr>
          <a:xfrm xmlns:a="http://schemas.openxmlformats.org/drawingml/2006/main">
            <a:off x="2476500" y="35242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Case system, SharePoint, mail, Fabric analytics and notification workflow.</a:t>
            </a:r>
          </a:p>
        </p:txBody>
      </p:sp>
      <p:sp>
        <p:nvSpPr>
          <p:cNvPr id="11" name="">
            <a:extLst xmlns:a="http://schemas.openxmlformats.org/drawingml/2006/main">
              <a:ext uri="{FF2B5EF4-FFF2-40B4-BE49-F238E27FC236}">
                <a16:creationId xmlns:a16="http://schemas.microsoft.com/office/drawing/2014/main" id="{A349D552-D65E-4253-87E3-C9217F099C7C}"/>
              </a:ext>
            </a:extLst>
          </p:cNvPr>
          <p:cNvSpPr>
            <a:spLocks xmlns:a="http://schemas.openxmlformats.org/drawingml/2006/main" noGrp="1"/>
          </p:cNvSpPr>
          <p:nvPr/>
        </p:nvSpPr>
        <p:spPr>
          <a:xfrm xmlns:a="http://schemas.openxmlformats.org/drawingml/2006/main">
            <a:off x="704850" y="428625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AUTHORITY</a:t>
            </a:r>
          </a:p>
        </p:txBody>
      </p:sp>
      <p:sp>
        <p:nvSpPr>
          <p:cNvPr id="12" name="">
            <a:extLst xmlns:a="http://schemas.openxmlformats.org/drawingml/2006/main">
              <a:ext uri="{FF2B5EF4-FFF2-40B4-BE49-F238E27FC236}">
                <a16:creationId xmlns:a16="http://schemas.microsoft.com/office/drawing/2014/main" id="{57C52FEB-8560-41F7-A17E-D715B817338C}"/>
              </a:ext>
            </a:extLst>
          </p:cNvPr>
          <p:cNvSpPr>
            <a:spLocks xmlns:a="http://schemas.openxmlformats.org/drawingml/2006/main" noGrp="1"/>
          </p:cNvSpPr>
          <p:nvPr/>
        </p:nvSpPr>
        <p:spPr>
          <a:xfrm xmlns:a="http://schemas.openxmlformats.org/drawingml/2006/main">
            <a:off x="2476500" y="426720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0">
                <a:solidFill>
                  <a:srgbClr val="FFFFFF"/>
                </a:solidFill>
                <a:latin typeface="Arial"/>
                <a:ea typeface="Arial"/>
                <a:cs typeface="Arial"/>
              </a:defRPr>
            </a:pPr>
            <a:r>
              <a:rPr sz="1575" b="0">
                <a:solidFill>
                  <a:srgbClr val="FFFFFF"/>
                </a:solidFill>
                <a:latin typeface="Arial"/>
                <a:ea typeface="Arial"/>
                <a:cs typeface="Arial"/>
              </a:rPr>
              <a:t>May query production records, produce extracts and trigger notifications.</a:t>
            </a:r>
          </a:p>
        </p:txBody>
      </p:sp>
      <p:sp>
        <p:nvSpPr>
          <p:cNvPr id="13" name="">
            <a:extLst xmlns:a="http://schemas.openxmlformats.org/drawingml/2006/main">
              <a:ext uri="{FF2B5EF4-FFF2-40B4-BE49-F238E27FC236}">
                <a16:creationId xmlns:a16="http://schemas.microsoft.com/office/drawing/2014/main" id="{5370F7F2-2DD7-43F3-901A-4E8B3B115110}"/>
              </a:ext>
            </a:extLst>
          </p:cNvPr>
          <p:cNvSpPr>
            <a:spLocks xmlns:a="http://schemas.openxmlformats.org/drawingml/2006/main" noGrp="1"/>
          </p:cNvSpPr>
          <p:nvPr/>
        </p:nvSpPr>
        <p:spPr>
          <a:xfrm xmlns:a="http://schemas.openxmlformats.org/drawingml/2006/main">
            <a:off x="704850" y="5029200"/>
            <a:ext cx="1762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00FFFF"/>
                </a:solidFill>
                <a:latin typeface="Arial"/>
                <a:ea typeface="Arial"/>
                <a:cs typeface="Arial"/>
              </a:defRPr>
            </a:pPr>
            <a:r>
              <a:rPr sz="975" b="1">
                <a:solidFill>
                  <a:srgbClr val="00FFFF"/>
                </a:solidFill>
                <a:latin typeface="Arial"/>
                <a:ea typeface="Arial"/>
                <a:cs typeface="Arial"/>
              </a:rPr>
              <a:t>YOUR OBJECTIVE</a:t>
            </a:r>
          </a:p>
        </p:txBody>
      </p:sp>
      <p:sp>
        <p:nvSpPr>
          <p:cNvPr id="14" name="">
            <a:extLst xmlns:a="http://schemas.openxmlformats.org/drawingml/2006/main">
              <a:ext uri="{FF2B5EF4-FFF2-40B4-BE49-F238E27FC236}">
                <a16:creationId xmlns:a16="http://schemas.microsoft.com/office/drawing/2014/main" id="{58AFCAA3-2D16-4DEE-8E19-654EDD31DBD0}"/>
              </a:ext>
            </a:extLst>
          </p:cNvPr>
          <p:cNvSpPr>
            <a:spLocks xmlns:a="http://schemas.openxmlformats.org/drawingml/2006/main" noGrp="1"/>
          </p:cNvSpPr>
          <p:nvPr/>
        </p:nvSpPr>
        <p:spPr>
          <a:xfrm xmlns:a="http://schemas.openxmlformats.org/drawingml/2006/main">
            <a:off x="2476500" y="50101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Contain harm, sustain essential services and make a defensible public-sector decision.</a:t>
            </a:r>
          </a:p>
        </p:txBody>
      </p:sp>
    </p:spTree>
    <p:extLst>
      <p:ext uri="{BB962C8B-B14F-4D97-AF65-F5344CB8AC3E}">
        <p14:creationId xmlns:p14="http://schemas.microsoft.com/office/powerpoint/2010/main" val="2065793094"/>
      </p:ext>
    </p:extLst>
  </p:cSld>
</p:sld>
</file>

<file path=ppt/slides/slide9.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D34DF40-75D3-4542-8E14-5ABCDDA5A469}"/>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ROUND ONE · 12 MINUTES</a:t>
            </a:r>
          </a:p>
        </p:txBody>
      </p:sp>
      <p:sp>
        <p:nvSpPr>
          <p:cNvPr id="2" name="">
            <a:extLst xmlns:a="http://schemas.openxmlformats.org/drawingml/2006/main">
              <a:ext uri="{FF2B5EF4-FFF2-40B4-BE49-F238E27FC236}">
                <a16:creationId xmlns:a16="http://schemas.microsoft.com/office/drawing/2014/main" id="{4C6B00C4-5D50-4486-B9FB-C0ABC0188F41}"/>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11:06 · Approved task, abnormal data path</a:t>
            </a:r>
          </a:p>
        </p:txBody>
      </p:sp>
      <p:sp>
        <p:nvSpPr>
          <p:cNvPr id="3" name="">
            <a:extLst xmlns:a="http://schemas.openxmlformats.org/drawingml/2006/main">
              <a:ext uri="{FF2B5EF4-FFF2-40B4-BE49-F238E27FC236}">
                <a16:creationId xmlns:a16="http://schemas.microsoft.com/office/drawing/2014/main" id="{DC74C81F-11E5-49FE-A7E7-D12F7BF95ADD}"/>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C1A66B5D-43B1-4FBD-B63C-69CB177FE1C2}"/>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F1B513BE-76B1-4E1A-A83C-F19807A09AFA}"/>
              </a:ext>
            </a:extLst>
          </p:cNvPr>
          <p:cNvSpPr>
            <a:spLocks xmlns:a="http://schemas.openxmlformats.org/drawingml/2006/main" noGrp="1"/>
          </p:cNvSpPr>
          <p:nvPr/>
        </p:nvSpPr>
        <p:spPr>
          <a:xfrm xmlns:a="http://schemas.openxmlformats.org/drawingml/2006/main">
            <a:off x="638175" y="1257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400" b="1">
                <a:solidFill>
                  <a:srgbClr val="00FFFF"/>
                </a:solidFill>
                <a:latin typeface="Arial"/>
                <a:ea typeface="Arial"/>
                <a:cs typeface="Arial"/>
              </a:defRPr>
            </a:pPr>
            <a:r>
              <a:rPr sz="2400" b="1">
                <a:solidFill>
                  <a:srgbClr val="00FFFF"/>
                </a:solidFill>
                <a:latin typeface="Arial"/>
                <a:ea typeface="Arial"/>
                <a:cs typeface="Arial"/>
              </a:rPr>
              <a:t>What do you stop first?</a:t>
            </a:r>
          </a:p>
        </p:txBody>
      </p:sp>
      <p:sp>
        <p:nvSpPr>
          <p:cNvPr id="6" name="">
            <a:extLst xmlns:a="http://schemas.openxmlformats.org/drawingml/2006/main">
              <a:ext uri="{FF2B5EF4-FFF2-40B4-BE49-F238E27FC236}">
                <a16:creationId xmlns:a16="http://schemas.microsoft.com/office/drawing/2014/main" id="{769DE473-5491-4B1D-A5D6-B88B5E70EA9B}"/>
              </a:ext>
            </a:extLst>
          </p:cNvPr>
          <p:cNvSpPr>
            <a:spLocks xmlns:a="http://schemas.openxmlformats.org/drawingml/2006/main" noGrp="1"/>
          </p:cNvSpPr>
          <p:nvPr/>
        </p:nvSpPr>
        <p:spPr>
          <a:xfrm xmlns:a="http://schemas.openxmlformats.org/drawingml/2006/main">
            <a:off x="723900" y="1971675"/>
            <a:ext cx="190500" cy="190500"/>
          </a:xfrm>
          <a:prstGeom xmlns:a="http://schemas.openxmlformats.org/drawingml/2006/main" prst="ellipse">
            <a:avLst/>
          </a:prstGeom>
          <a:solidFill xmlns:a="http://schemas.openxmlformats.org/drawingml/2006/main">
            <a:srgbClr val="E548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2AB6359-4D0C-4B4A-9E78-34AB4382F2CE}"/>
              </a:ext>
            </a:extLst>
          </p:cNvPr>
          <p:cNvSpPr>
            <a:spLocks xmlns:a="http://schemas.openxmlformats.org/drawingml/2006/main" noGrp="1"/>
          </p:cNvSpPr>
          <p:nvPr/>
        </p:nvSpPr>
        <p:spPr>
          <a:xfrm xmlns:a="http://schemas.openxmlformats.org/drawingml/2006/main">
            <a:off x="1104900" y="18859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11,000 citizen records queried; an export endpoint was called</a:t>
            </a:r>
          </a:p>
        </p:txBody>
      </p:sp>
      <p:sp>
        <p:nvSpPr>
          <p:cNvPr id="8" name="">
            <a:extLst xmlns:a="http://schemas.openxmlformats.org/drawingml/2006/main">
              <a:ext uri="{FF2B5EF4-FFF2-40B4-BE49-F238E27FC236}">
                <a16:creationId xmlns:a16="http://schemas.microsoft.com/office/drawing/2014/main" id="{640ED018-6F69-46B9-A51B-3E4B9359E575}"/>
              </a:ext>
            </a:extLst>
          </p:cNvPr>
          <p:cNvSpPr>
            <a:spLocks xmlns:a="http://schemas.openxmlformats.org/drawingml/2006/main" noGrp="1"/>
          </p:cNvSpPr>
          <p:nvPr/>
        </p:nvSpPr>
        <p:spPr>
          <a:xfrm xmlns:a="http://schemas.openxmlformats.org/drawingml/2006/main">
            <a:off x="723900" y="2514600"/>
            <a:ext cx="190500" cy="1905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DBE8648-B4D1-46AF-8369-BACCC4003D62}"/>
              </a:ext>
            </a:extLst>
          </p:cNvPr>
          <p:cNvSpPr>
            <a:spLocks xmlns:a="http://schemas.openxmlformats.org/drawingml/2006/main" noGrp="1"/>
          </p:cNvSpPr>
          <p:nvPr/>
        </p:nvSpPr>
        <p:spPr>
          <a:xfrm xmlns:a="http://schemas.openxmlformats.org/drawingml/2006/main">
            <a:off x="1104900" y="242887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An approved contractor requested duplicate-claim analysis</a:t>
            </a:r>
          </a:p>
        </p:txBody>
      </p:sp>
      <p:sp>
        <p:nvSpPr>
          <p:cNvPr id="10" name="">
            <a:extLst xmlns:a="http://schemas.openxmlformats.org/drawingml/2006/main">
              <a:ext uri="{FF2B5EF4-FFF2-40B4-BE49-F238E27FC236}">
                <a16:creationId xmlns:a16="http://schemas.microsoft.com/office/drawing/2014/main" id="{CB2EC116-BCF4-45C7-A185-86E9664712F9}"/>
              </a:ext>
            </a:extLst>
          </p:cNvPr>
          <p:cNvSpPr>
            <a:spLocks xmlns:a="http://schemas.openxmlformats.org/drawingml/2006/main" noGrp="1"/>
          </p:cNvSpPr>
          <p:nvPr/>
        </p:nvSpPr>
        <p:spPr>
          <a:xfrm xmlns:a="http://schemas.openxmlformats.org/drawingml/2006/main">
            <a:off x="723900" y="3057525"/>
            <a:ext cx="190500" cy="1905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BBBD876-6531-413D-8F4C-75BFB424EF29}"/>
              </a:ext>
            </a:extLst>
          </p:cNvPr>
          <p:cNvSpPr>
            <a:spLocks xmlns:a="http://schemas.openxmlformats.org/drawingml/2006/main" noGrp="1"/>
          </p:cNvSpPr>
          <p:nvPr/>
        </p:nvSpPr>
        <p:spPr>
          <a:xfrm xmlns:a="http://schemas.openxmlformats.org/drawingml/2006/main">
            <a:off x="1104900" y="297180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No visible service failure and the agent output looks normal</a:t>
            </a:r>
          </a:p>
        </p:txBody>
      </p:sp>
      <p:sp>
        <p:nvSpPr>
          <p:cNvPr id="12" name="">
            <a:extLst xmlns:a="http://schemas.openxmlformats.org/drawingml/2006/main">
              <a:ext uri="{FF2B5EF4-FFF2-40B4-BE49-F238E27FC236}">
                <a16:creationId xmlns:a16="http://schemas.microsoft.com/office/drawing/2014/main" id="{1634E346-58BC-40A5-8CDE-A15ABA7F4B99}"/>
              </a:ext>
            </a:extLst>
          </p:cNvPr>
          <p:cNvSpPr>
            <a:spLocks xmlns:a="http://schemas.openxmlformats.org/drawingml/2006/main" noGrp="1"/>
          </p:cNvSpPr>
          <p:nvPr/>
        </p:nvSpPr>
        <p:spPr>
          <a:xfrm xmlns:a="http://schemas.openxmlformats.org/drawingml/2006/main">
            <a:off x="62865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BFB6B725-3DE0-4B60-AF96-472DC74D6A8D}"/>
              </a:ext>
            </a:extLst>
          </p:cNvPr>
          <p:cNvSpPr>
            <a:spLocks xmlns:a="http://schemas.openxmlformats.org/drawingml/2006/main" noGrp="1"/>
          </p:cNvSpPr>
          <p:nvPr/>
        </p:nvSpPr>
        <p:spPr>
          <a:xfrm xmlns:a="http://schemas.openxmlformats.org/drawingml/2006/main">
            <a:off x="80010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A</a:t>
            </a:r>
          </a:p>
        </p:txBody>
      </p:sp>
      <p:sp>
        <p:nvSpPr>
          <p:cNvPr id="14" name="">
            <a:extLst xmlns:a="http://schemas.openxmlformats.org/drawingml/2006/main">
              <a:ext uri="{FF2B5EF4-FFF2-40B4-BE49-F238E27FC236}">
                <a16:creationId xmlns:a16="http://schemas.microsoft.com/office/drawing/2014/main" id="{8F4AA85F-9F03-4389-8547-EA99F2AC48A8}"/>
              </a:ext>
            </a:extLst>
          </p:cNvPr>
          <p:cNvSpPr>
            <a:spLocks xmlns:a="http://schemas.openxmlformats.org/drawingml/2006/main" noGrp="1"/>
          </p:cNvSpPr>
          <p:nvPr/>
        </p:nvSpPr>
        <p:spPr>
          <a:xfrm xmlns:a="http://schemas.openxmlformats.org/drawingml/2006/main">
            <a:off x="126682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Pause Civic Assist completely</a:t>
            </a:r>
          </a:p>
        </p:txBody>
      </p:sp>
      <p:sp>
        <p:nvSpPr>
          <p:cNvPr id="15" name="">
            <a:extLst xmlns:a="http://schemas.openxmlformats.org/drawingml/2006/main">
              <a:ext uri="{FF2B5EF4-FFF2-40B4-BE49-F238E27FC236}">
                <a16:creationId xmlns:a16="http://schemas.microsoft.com/office/drawing/2014/main" id="{60536EE9-2861-4595-B687-23EFCAB29E65}"/>
              </a:ext>
            </a:extLst>
          </p:cNvPr>
          <p:cNvSpPr>
            <a:spLocks xmlns:a="http://schemas.openxmlformats.org/drawingml/2006/main" noGrp="1"/>
          </p:cNvSpPr>
          <p:nvPr/>
        </p:nvSpPr>
        <p:spPr>
          <a:xfrm xmlns:a="http://schemas.openxmlformats.org/drawingml/2006/main">
            <a:off x="342900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1AE8F0FF-2540-48CE-9802-E33C43CA6DB0}"/>
              </a:ext>
            </a:extLst>
          </p:cNvPr>
          <p:cNvSpPr>
            <a:spLocks xmlns:a="http://schemas.openxmlformats.org/drawingml/2006/main" noGrp="1"/>
          </p:cNvSpPr>
          <p:nvPr/>
        </p:nvSpPr>
        <p:spPr>
          <a:xfrm xmlns:a="http://schemas.openxmlformats.org/drawingml/2006/main">
            <a:off x="360045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B</a:t>
            </a:r>
          </a:p>
        </p:txBody>
      </p:sp>
      <p:sp>
        <p:nvSpPr>
          <p:cNvPr id="17" name="">
            <a:extLst xmlns:a="http://schemas.openxmlformats.org/drawingml/2006/main">
              <a:ext uri="{FF2B5EF4-FFF2-40B4-BE49-F238E27FC236}">
                <a16:creationId xmlns:a16="http://schemas.microsoft.com/office/drawing/2014/main" id="{281D587E-E3A5-4DDA-8C27-15FFE1E1E79B}"/>
              </a:ext>
            </a:extLst>
          </p:cNvPr>
          <p:cNvSpPr>
            <a:spLocks xmlns:a="http://schemas.openxmlformats.org/drawingml/2006/main" noGrp="1"/>
          </p:cNvSpPr>
          <p:nvPr/>
        </p:nvSpPr>
        <p:spPr>
          <a:xfrm xmlns:a="http://schemas.openxmlformats.org/drawingml/2006/main">
            <a:off x="406717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Remove export and write privileges; retain scoped read access</a:t>
            </a:r>
          </a:p>
        </p:txBody>
      </p:sp>
      <p:sp>
        <p:nvSpPr>
          <p:cNvPr id="18" name="">
            <a:extLst xmlns:a="http://schemas.openxmlformats.org/drawingml/2006/main">
              <a:ext uri="{FF2B5EF4-FFF2-40B4-BE49-F238E27FC236}">
                <a16:creationId xmlns:a16="http://schemas.microsoft.com/office/drawing/2014/main" id="{26EB8A4C-E088-49B4-86D5-1E5AD8C755AE}"/>
              </a:ext>
            </a:extLst>
          </p:cNvPr>
          <p:cNvSpPr>
            <a:spLocks xmlns:a="http://schemas.openxmlformats.org/drawingml/2006/main" noGrp="1"/>
          </p:cNvSpPr>
          <p:nvPr/>
        </p:nvSpPr>
        <p:spPr>
          <a:xfrm xmlns:a="http://schemas.openxmlformats.org/drawingml/2006/main">
            <a:off x="622935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19" name="">
            <a:extLst xmlns:a="http://schemas.openxmlformats.org/drawingml/2006/main">
              <a:ext uri="{FF2B5EF4-FFF2-40B4-BE49-F238E27FC236}">
                <a16:creationId xmlns:a16="http://schemas.microsoft.com/office/drawing/2014/main" id="{EB30A002-17B6-45AF-9C51-988F19DD31BB}"/>
              </a:ext>
            </a:extLst>
          </p:cNvPr>
          <p:cNvSpPr>
            <a:spLocks xmlns:a="http://schemas.openxmlformats.org/drawingml/2006/main" noGrp="1"/>
          </p:cNvSpPr>
          <p:nvPr/>
        </p:nvSpPr>
        <p:spPr>
          <a:xfrm xmlns:a="http://schemas.openxmlformats.org/drawingml/2006/main">
            <a:off x="640080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C</a:t>
            </a:r>
          </a:p>
        </p:txBody>
      </p:sp>
      <p:sp>
        <p:nvSpPr>
          <p:cNvPr id="20" name="">
            <a:extLst xmlns:a="http://schemas.openxmlformats.org/drawingml/2006/main">
              <a:ext uri="{FF2B5EF4-FFF2-40B4-BE49-F238E27FC236}">
                <a16:creationId xmlns:a16="http://schemas.microsoft.com/office/drawing/2014/main" id="{9CED8601-D06E-421B-BB54-51443BED1B3D}"/>
              </a:ext>
            </a:extLst>
          </p:cNvPr>
          <p:cNvSpPr>
            <a:spLocks xmlns:a="http://schemas.openxmlformats.org/drawingml/2006/main" noGrp="1"/>
          </p:cNvSpPr>
          <p:nvPr/>
        </p:nvSpPr>
        <p:spPr>
          <a:xfrm xmlns:a="http://schemas.openxmlformats.org/drawingml/2006/main">
            <a:off x="686752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Observe for ten more minutes while capturing telemetry</a:t>
            </a:r>
          </a:p>
        </p:txBody>
      </p:sp>
      <p:sp>
        <p:nvSpPr>
          <p:cNvPr id="21" name="">
            <a:extLst xmlns:a="http://schemas.openxmlformats.org/drawingml/2006/main">
              <a:ext uri="{FF2B5EF4-FFF2-40B4-BE49-F238E27FC236}">
                <a16:creationId xmlns:a16="http://schemas.microsoft.com/office/drawing/2014/main" id="{3C8F0B1E-8179-4584-A374-343611F3A5E1}"/>
              </a:ext>
            </a:extLst>
          </p:cNvPr>
          <p:cNvSpPr>
            <a:spLocks xmlns:a="http://schemas.openxmlformats.org/drawingml/2006/main" noGrp="1"/>
          </p:cNvSpPr>
          <p:nvPr/>
        </p:nvSpPr>
        <p:spPr>
          <a:xfrm xmlns:a="http://schemas.openxmlformats.org/drawingml/2006/main">
            <a:off x="9029700" y="3971925"/>
            <a:ext cx="2571750" cy="1419225"/>
          </a:xfrm>
          <a:prstGeom xmlns:a="http://schemas.openxmlformats.org/drawingml/2006/main" prst="roundRect">
            <a:avLst>
              <a:gd name="adj" fmla="val 5369"/>
            </a:avLst>
          </a:prstGeom>
          <a:solidFill xmlns:a="http://schemas.openxmlformats.org/drawingml/2006/main">
            <a:srgbClr val="071B3A"/>
          </a:solidFill>
          <a:ln xmlns:a="http://schemas.openxmlformats.org/drawingml/2006/main" w="9525">
            <a:solidFill>
              <a:srgbClr val="25466E"/>
            </a:solidFill>
            <a:prstDash val="solid"/>
          </a:ln>
        </p:spPr>
      </p:sp>
      <p:sp>
        <p:nvSpPr>
          <p:cNvPr id="22" name="">
            <a:extLst xmlns:a="http://schemas.openxmlformats.org/drawingml/2006/main">
              <a:ext uri="{FF2B5EF4-FFF2-40B4-BE49-F238E27FC236}">
                <a16:creationId xmlns:a16="http://schemas.microsoft.com/office/drawing/2014/main" id="{1FE94313-1B64-45CB-927A-1679A1383CD1}"/>
              </a:ext>
            </a:extLst>
          </p:cNvPr>
          <p:cNvSpPr>
            <a:spLocks xmlns:a="http://schemas.openxmlformats.org/drawingml/2006/main" noGrp="1"/>
          </p:cNvSpPr>
          <p:nvPr/>
        </p:nvSpPr>
        <p:spPr>
          <a:xfrm xmlns:a="http://schemas.openxmlformats.org/drawingml/2006/main">
            <a:off x="9201150" y="41243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325" b="1">
                <a:solidFill>
                  <a:srgbClr val="00AEFF"/>
                </a:solidFill>
                <a:latin typeface="Arial"/>
                <a:ea typeface="Arial"/>
                <a:cs typeface="Arial"/>
              </a:defRPr>
            </a:pPr>
            <a:r>
              <a:rPr sz="2325" b="1">
                <a:solidFill>
                  <a:srgbClr val="00AEFF"/>
                </a:solidFill>
                <a:latin typeface="Arial"/>
                <a:ea typeface="Arial"/>
                <a:cs typeface="Arial"/>
              </a:rPr>
              <a:t>D</a:t>
            </a:r>
          </a:p>
        </p:txBody>
      </p:sp>
      <p:sp>
        <p:nvSpPr>
          <p:cNvPr id="23" name="">
            <a:extLst xmlns:a="http://schemas.openxmlformats.org/drawingml/2006/main">
              <a:ext uri="{FF2B5EF4-FFF2-40B4-BE49-F238E27FC236}">
                <a16:creationId xmlns:a16="http://schemas.microsoft.com/office/drawing/2014/main" id="{82351D03-4CE1-42A8-9AA5-C5C27BBFB2B1}"/>
              </a:ext>
            </a:extLst>
          </p:cNvPr>
          <p:cNvSpPr>
            <a:spLocks xmlns:a="http://schemas.openxmlformats.org/drawingml/2006/main" noGrp="1"/>
          </p:cNvSpPr>
          <p:nvPr/>
        </p:nvSpPr>
        <p:spPr>
          <a:xfrm xmlns:a="http://schemas.openxmlformats.org/drawingml/2006/main">
            <a:off x="9667875" y="4133850"/>
            <a:ext cx="17240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Take another action and state it precisely</a:t>
            </a:r>
          </a:p>
        </p:txBody>
      </p:sp>
      <p:sp>
        <p:nvSpPr>
          <p:cNvPr id="24" name="">
            <a:extLst xmlns:a="http://schemas.openxmlformats.org/drawingml/2006/main">
              <a:ext uri="{FF2B5EF4-FFF2-40B4-BE49-F238E27FC236}">
                <a16:creationId xmlns:a16="http://schemas.microsoft.com/office/drawing/2014/main" id="{E30AAA3A-BB07-4CE3-9884-34630038364E}"/>
              </a:ext>
            </a:extLst>
          </p:cNvPr>
          <p:cNvSpPr>
            <a:spLocks xmlns:a="http://schemas.openxmlformats.org/drawingml/2006/main" noGrp="1"/>
          </p:cNvSpPr>
          <p:nvPr/>
        </p:nvSpPr>
        <p:spPr>
          <a:xfrm xmlns:a="http://schemas.openxmlformats.org/drawingml/2006/main">
            <a:off x="638175" y="583882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75" b="1">
                <a:solidFill>
                  <a:srgbClr val="78DCFF"/>
                </a:solidFill>
                <a:latin typeface="Arial"/>
                <a:ea typeface="Arial"/>
                <a:cs typeface="Arial"/>
              </a:defRPr>
            </a:pPr>
            <a:r>
              <a:rPr sz="1575" b="1">
                <a:solidFill>
                  <a:srgbClr val="78DCFF"/>
                </a:solidFill>
                <a:latin typeface="Arial"/>
                <a:ea typeface="Arial"/>
                <a:cs typeface="Arial"/>
              </a:rPr>
              <a:t>Lock: option · confidence 1–5 · one-sentence rationale</a:t>
            </a:r>
          </a:p>
        </p:txBody>
      </p:sp>
    </p:spTree>
    <p:extLst>
      <p:ext uri="{BB962C8B-B14F-4D97-AF65-F5344CB8AC3E}">
        <p14:creationId xmlns:p14="http://schemas.microsoft.com/office/powerpoint/2010/main" val="1188917185"/>
      </p:ext>
    </p:extLst>
  </p:cSld>
</p:sld>
</file>

<file path=ppt/slides/slide10.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34C21D3-B3EB-4B61-8B77-139C6EE3FA7A}"/>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REVEAL ONE · ROUND TWO · 12 MINUTES</a:t>
            </a:r>
          </a:p>
        </p:txBody>
      </p:sp>
      <p:sp>
        <p:nvSpPr>
          <p:cNvPr id="2" name="">
            <a:extLst xmlns:a="http://schemas.openxmlformats.org/drawingml/2006/main">
              <a:ext uri="{FF2B5EF4-FFF2-40B4-BE49-F238E27FC236}">
                <a16:creationId xmlns:a16="http://schemas.microsoft.com/office/drawing/2014/main" id="{F8DF67E6-C3B1-4871-87D2-8FD86D9924A3}"/>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The instruction was inside the data</a:t>
            </a:r>
          </a:p>
        </p:txBody>
      </p:sp>
      <p:sp>
        <p:nvSpPr>
          <p:cNvPr id="3" name="">
            <a:extLst xmlns:a="http://schemas.openxmlformats.org/drawingml/2006/main">
              <a:ext uri="{FF2B5EF4-FFF2-40B4-BE49-F238E27FC236}">
                <a16:creationId xmlns:a16="http://schemas.microsoft.com/office/drawing/2014/main" id="{ED759FF0-BE3B-4EF5-9CC0-D2FA417DF448}"/>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AC3BB3F1-844F-49BA-B661-9573A98EBF66}"/>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8C4BADB9-8363-49DC-BE9A-113D394955DE}"/>
              </a:ext>
            </a:extLst>
          </p:cNvPr>
          <p:cNvSpPr>
            <a:spLocks xmlns:a="http://schemas.openxmlformats.org/drawingml/2006/main" noGrp="1"/>
          </p:cNvSpPr>
          <p:nvPr/>
        </p:nvSpPr>
        <p:spPr>
          <a:xfrm xmlns:a="http://schemas.openxmlformats.org/drawingml/2006/main">
            <a:off x="647700" y="13716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00FFFF"/>
                </a:solidFill>
                <a:latin typeface="Arial"/>
                <a:ea typeface="Arial"/>
                <a:cs typeface="Arial"/>
              </a:defRPr>
            </a:pPr>
            <a:r>
              <a:rPr sz="1050" b="1">
                <a:solidFill>
                  <a:srgbClr val="00FFFF"/>
                </a:solidFill>
                <a:latin typeface="Arial"/>
                <a:ea typeface="Arial"/>
                <a:cs typeface="Arial"/>
              </a:rPr>
              <a:t>REVEAL</a:t>
            </a:r>
          </a:p>
        </p:txBody>
      </p:sp>
      <p:sp>
        <p:nvSpPr>
          <p:cNvPr id="6" name="">
            <a:extLst xmlns:a="http://schemas.openxmlformats.org/drawingml/2006/main">
              <a:ext uri="{FF2B5EF4-FFF2-40B4-BE49-F238E27FC236}">
                <a16:creationId xmlns:a16="http://schemas.microsoft.com/office/drawing/2014/main" id="{54252621-666D-4192-91D9-E6DDB9C2599A}"/>
              </a:ext>
            </a:extLst>
          </p:cNvPr>
          <p:cNvSpPr>
            <a:spLocks xmlns:a="http://schemas.openxmlformats.org/drawingml/2006/main" noGrp="1"/>
          </p:cNvSpPr>
          <p:nvPr/>
        </p:nvSpPr>
        <p:spPr>
          <a:xfrm xmlns:a="http://schemas.openxmlformats.org/drawingml/2006/main">
            <a:off x="685800" y="18669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D4D3607-660B-4030-BD72-2A7C6486EA26}"/>
              </a:ext>
            </a:extLst>
          </p:cNvPr>
          <p:cNvSpPr>
            <a:spLocks xmlns:a="http://schemas.openxmlformats.org/drawingml/2006/main" noGrp="1"/>
          </p:cNvSpPr>
          <p:nvPr/>
        </p:nvSpPr>
        <p:spPr>
          <a:xfrm xmlns:a="http://schemas.openxmlformats.org/drawingml/2006/main">
            <a:off x="1238250" y="181927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A partner document contained hidden instructions and reached the workflow as trusted content.</a:t>
            </a:r>
          </a:p>
        </p:txBody>
      </p:sp>
      <p:sp>
        <p:nvSpPr>
          <p:cNvPr id="8" name="">
            <a:extLst xmlns:a="http://schemas.openxmlformats.org/drawingml/2006/main">
              <a:ext uri="{FF2B5EF4-FFF2-40B4-BE49-F238E27FC236}">
                <a16:creationId xmlns:a16="http://schemas.microsoft.com/office/drawing/2014/main" id="{7EAC8100-21CE-4293-8760-CAA6FD690FAE}"/>
              </a:ext>
            </a:extLst>
          </p:cNvPr>
          <p:cNvSpPr>
            <a:spLocks xmlns:a="http://schemas.openxmlformats.org/drawingml/2006/main" noGrp="1"/>
          </p:cNvSpPr>
          <p:nvPr/>
        </p:nvSpPr>
        <p:spPr>
          <a:xfrm xmlns:a="http://schemas.openxmlformats.org/drawingml/2006/main">
            <a:off x="685800" y="25717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6AF987C-32C2-435A-A007-D76C2099282A}"/>
              </a:ext>
            </a:extLst>
          </p:cNvPr>
          <p:cNvSpPr>
            <a:spLocks xmlns:a="http://schemas.openxmlformats.org/drawingml/2006/main" noGrp="1"/>
          </p:cNvSpPr>
          <p:nvPr/>
        </p:nvSpPr>
        <p:spPr>
          <a:xfrm xmlns:a="http://schemas.openxmlformats.org/drawingml/2006/main">
            <a:off x="1238250" y="252412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The agent inherited broad read access to the Fabric workspace and case files.</a:t>
            </a:r>
          </a:p>
        </p:txBody>
      </p:sp>
      <p:sp>
        <p:nvSpPr>
          <p:cNvPr id="10" name="">
            <a:extLst xmlns:a="http://schemas.openxmlformats.org/drawingml/2006/main">
              <a:ext uri="{FF2B5EF4-FFF2-40B4-BE49-F238E27FC236}">
                <a16:creationId xmlns:a16="http://schemas.microsoft.com/office/drawing/2014/main" id="{54A97604-15C7-4D68-8F18-96798ACE2433}"/>
              </a:ext>
            </a:extLst>
          </p:cNvPr>
          <p:cNvSpPr>
            <a:spLocks xmlns:a="http://schemas.openxmlformats.org/drawingml/2006/main" noGrp="1"/>
          </p:cNvSpPr>
          <p:nvPr/>
        </p:nvSpPr>
        <p:spPr>
          <a:xfrm xmlns:a="http://schemas.openxmlformats.org/drawingml/2006/main">
            <a:off x="685800" y="327660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9A3556A-B448-44EF-BED0-3C59B16634B5}"/>
              </a:ext>
            </a:extLst>
          </p:cNvPr>
          <p:cNvSpPr>
            <a:spLocks xmlns:a="http://schemas.openxmlformats.org/drawingml/2006/main" noGrp="1"/>
          </p:cNvSpPr>
          <p:nvPr/>
        </p:nvSpPr>
        <p:spPr>
          <a:xfrm xmlns:a="http://schemas.openxmlformats.org/drawingml/2006/main">
            <a:off x="1238250" y="3228975"/>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Detailed prompt logging had been disabled for privacy. An external recipient reports an unexpected spreadsheet.</a:t>
            </a:r>
          </a:p>
        </p:txBody>
      </p:sp>
      <p:sp>
        <p:nvSpPr>
          <p:cNvPr id="12" name="">
            <a:extLst xmlns:a="http://schemas.openxmlformats.org/drawingml/2006/main">
              <a:ext uri="{FF2B5EF4-FFF2-40B4-BE49-F238E27FC236}">
                <a16:creationId xmlns:a16="http://schemas.microsoft.com/office/drawing/2014/main" id="{41388A3C-6055-4FFB-B850-B97F60419EDB}"/>
              </a:ext>
            </a:extLst>
          </p:cNvPr>
          <p:cNvSpPr>
            <a:spLocks xmlns:a="http://schemas.openxmlformats.org/drawingml/2006/main" noGrp="1"/>
          </p:cNvSpPr>
          <p:nvPr/>
        </p:nvSpPr>
        <p:spPr>
          <a:xfrm xmlns:a="http://schemas.openxmlformats.org/drawingml/2006/main">
            <a:off x="666750" y="4114800"/>
            <a:ext cx="10572750" cy="9525"/>
          </a:xfrm>
          <a:prstGeom xmlns:a="http://schemas.openxmlformats.org/drawingml/2006/main" prst="line">
            <a:avLst/>
          </a:prstGeom>
          <a:noFill xmlns:a="http://schemas.openxmlformats.org/drawingml/2006/main"/>
          <a:ln xmlns:a="http://schemas.openxmlformats.org/drawingml/2006/main" w="19050">
            <a:solidFill>
              <a:srgbClr val="25466E"/>
            </a:solidFill>
            <a:prstDash val="solid"/>
          </a:ln>
        </p:spPr>
      </p:sp>
      <p:sp>
        <p:nvSpPr>
          <p:cNvPr id="13" name="">
            <a:extLst xmlns:a="http://schemas.openxmlformats.org/drawingml/2006/main">
              <a:ext uri="{FF2B5EF4-FFF2-40B4-BE49-F238E27FC236}">
                <a16:creationId xmlns:a16="http://schemas.microsoft.com/office/drawing/2014/main" id="{4A8F8B30-9BDA-4D3E-A9AB-41BA220953ED}"/>
              </a:ext>
            </a:extLst>
          </p:cNvPr>
          <p:cNvSpPr>
            <a:spLocks xmlns:a="http://schemas.openxmlformats.org/drawingml/2006/main" noGrp="1"/>
          </p:cNvSpPr>
          <p:nvPr/>
        </p:nvSpPr>
        <p:spPr>
          <a:xfrm xmlns:a="http://schemas.openxmlformats.org/drawingml/2006/main">
            <a:off x="685800" y="4419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7C3AED"/>
                </a:solidFill>
                <a:latin typeface="Arial"/>
                <a:ea typeface="Arial"/>
                <a:cs typeface="Arial"/>
              </a:defRPr>
            </a:pPr>
            <a:r>
              <a:rPr sz="1050" b="1">
                <a:solidFill>
                  <a:srgbClr val="7C3AED"/>
                </a:solidFill>
                <a:latin typeface="Arial"/>
                <a:ea typeface="Arial"/>
                <a:cs typeface="Arial"/>
              </a:rPr>
              <a:t>YOUR NEXT DECISION</a:t>
            </a:r>
          </a:p>
        </p:txBody>
      </p:sp>
      <p:sp>
        <p:nvSpPr>
          <p:cNvPr id="14" name="">
            <a:extLst xmlns:a="http://schemas.openxmlformats.org/drawingml/2006/main">
              <a:ext uri="{FF2B5EF4-FFF2-40B4-BE49-F238E27FC236}">
                <a16:creationId xmlns:a16="http://schemas.microsoft.com/office/drawing/2014/main" id="{A833E604-2B59-4C96-B129-E13338500BF3}"/>
              </a:ext>
            </a:extLst>
          </p:cNvPr>
          <p:cNvSpPr>
            <a:spLocks xmlns:a="http://schemas.openxmlformats.org/drawingml/2006/main" noGrp="1"/>
          </p:cNvSpPr>
          <p:nvPr/>
        </p:nvSpPr>
        <p:spPr>
          <a:xfrm xmlns:a="http://schemas.openxmlformats.org/drawingml/2006/main">
            <a:off x="685800" y="480060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2175" b="1">
                <a:solidFill>
                  <a:srgbClr val="FFFFFF"/>
                </a:solidFill>
                <a:latin typeface="Arial"/>
                <a:ea typeface="Arial"/>
                <a:cs typeface="Arial"/>
              </a:defRPr>
            </a:pPr>
            <a:r>
              <a:rPr sz="2175" b="1">
                <a:solidFill>
                  <a:srgbClr val="FFFFFF"/>
                </a:solidFill>
                <a:latin typeface="Arial"/>
                <a:ea typeface="Arial"/>
                <a:cs typeface="Arial"/>
              </a:rPr>
              <a:t>Declare the response structure. Reconstruct the data path. Decide what evidence is good enough to act before full certainty.</a:t>
            </a:r>
          </a:p>
        </p:txBody>
      </p:sp>
    </p:spTree>
    <p:extLst>
      <p:ext uri="{BB962C8B-B14F-4D97-AF65-F5344CB8AC3E}">
        <p14:creationId xmlns:p14="http://schemas.microsoft.com/office/powerpoint/2010/main" val="1759254441"/>
      </p:ext>
    </p:extLst>
  </p:cSld>
</p:sld>
</file>

<file path=ppt/slides/slide11.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45BE843-CBA9-4256-AA96-F5ADEC932266}"/>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REVEAL TWO · ROUND THREE · 12 MINUTES</a:t>
            </a:r>
          </a:p>
        </p:txBody>
      </p:sp>
      <p:sp>
        <p:nvSpPr>
          <p:cNvPr id="2" name="">
            <a:extLst xmlns:a="http://schemas.openxmlformats.org/drawingml/2006/main">
              <a:ext uri="{FF2B5EF4-FFF2-40B4-BE49-F238E27FC236}">
                <a16:creationId xmlns:a16="http://schemas.microsoft.com/office/drawing/2014/main" id="{2D8FAD3A-6273-4804-A267-6008C6FAF19A}"/>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Containment is now a continuity decision</a:t>
            </a:r>
          </a:p>
        </p:txBody>
      </p:sp>
      <p:sp>
        <p:nvSpPr>
          <p:cNvPr id="3" name="">
            <a:extLst xmlns:a="http://schemas.openxmlformats.org/drawingml/2006/main">
              <a:ext uri="{FF2B5EF4-FFF2-40B4-BE49-F238E27FC236}">
                <a16:creationId xmlns:a16="http://schemas.microsoft.com/office/drawing/2014/main" id="{F9F46E5D-3D8E-462C-ABDD-8B7F24B6C28A}"/>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A46726F3-2B6C-4391-8DFF-F83ABA75E2FF}"/>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18169D34-E558-4983-8BFF-0FB798183CE3}"/>
              </a:ext>
            </a:extLst>
          </p:cNvPr>
          <p:cNvSpPr>
            <a:spLocks xmlns:a="http://schemas.openxmlformats.org/drawingml/2006/main" noGrp="1"/>
          </p:cNvSpPr>
          <p:nvPr/>
        </p:nvSpPr>
        <p:spPr>
          <a:xfrm xmlns:a="http://schemas.openxmlformats.org/drawingml/2006/main">
            <a:off x="647700" y="13620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E5484D"/>
                </a:solidFill>
                <a:latin typeface="Arial"/>
                <a:ea typeface="Arial"/>
                <a:cs typeface="Arial"/>
              </a:defRPr>
            </a:pPr>
            <a:r>
              <a:rPr sz="1050" b="1">
                <a:solidFill>
                  <a:srgbClr val="E5484D"/>
                </a:solidFill>
                <a:latin typeface="Arial"/>
                <a:ea typeface="Arial"/>
                <a:cs typeface="Arial"/>
              </a:rPr>
              <a:t>THE LOOP</a:t>
            </a:r>
          </a:p>
        </p:txBody>
      </p:sp>
      <p:sp>
        <p:nvSpPr>
          <p:cNvPr id="6" name="">
            <a:extLst xmlns:a="http://schemas.openxmlformats.org/drawingml/2006/main">
              <a:ext uri="{FF2B5EF4-FFF2-40B4-BE49-F238E27FC236}">
                <a16:creationId xmlns:a16="http://schemas.microsoft.com/office/drawing/2014/main" id="{C706F493-C6BC-4801-8206-3F5DE176535D}"/>
              </a:ext>
            </a:extLst>
          </p:cNvPr>
          <p:cNvSpPr>
            <a:spLocks xmlns:a="http://schemas.openxmlformats.org/drawingml/2006/main" noGrp="1"/>
          </p:cNvSpPr>
          <p:nvPr/>
        </p:nvSpPr>
        <p:spPr>
          <a:xfrm xmlns:a="http://schemas.openxmlformats.org/drawingml/2006/main">
            <a:off x="666750" y="1847850"/>
            <a:ext cx="76200" cy="552450"/>
          </a:xfrm>
          <a:prstGeom xmlns:a="http://schemas.openxmlformats.org/drawingml/2006/main" prst="rect">
            <a:avLst/>
          </a:prstGeom>
          <a:solidFill xmlns:a="http://schemas.openxmlformats.org/drawingml/2006/main">
            <a:srgbClr val="E548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099C23A-3DAD-4DDC-A8FF-312AE1CE9D05}"/>
              </a:ext>
            </a:extLst>
          </p:cNvPr>
          <p:cNvSpPr>
            <a:spLocks xmlns:a="http://schemas.openxmlformats.org/drawingml/2006/main" noGrp="1"/>
          </p:cNvSpPr>
          <p:nvPr/>
        </p:nvSpPr>
        <p:spPr>
          <a:xfrm xmlns:a="http://schemas.openxmlformats.org/drawingml/2006/main">
            <a:off x="971550" y="1790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1">
                <a:solidFill>
                  <a:srgbClr val="FFFFFF"/>
                </a:solidFill>
                <a:latin typeface="Arial"/>
                <a:ea typeface="Arial"/>
                <a:cs typeface="Arial"/>
              </a:defRPr>
            </a:pPr>
            <a:r>
              <a:rPr sz="1650" b="1">
                <a:solidFill>
                  <a:srgbClr val="FFFFFF"/>
                </a:solidFill>
                <a:latin typeface="Arial"/>
                <a:ea typeface="Arial"/>
                <a:cs typeface="Arial"/>
              </a:rPr>
              <a:t>The same service identity powers the emergency-notification workflow.</a:t>
            </a:r>
          </a:p>
        </p:txBody>
      </p:sp>
      <p:sp>
        <p:nvSpPr>
          <p:cNvPr id="8" name="">
            <a:extLst xmlns:a="http://schemas.openxmlformats.org/drawingml/2006/main">
              <a:ext uri="{FF2B5EF4-FFF2-40B4-BE49-F238E27FC236}">
                <a16:creationId xmlns:a16="http://schemas.microsoft.com/office/drawing/2014/main" id="{79706D76-47F1-495F-A249-1837B06F52F6}"/>
              </a:ext>
            </a:extLst>
          </p:cNvPr>
          <p:cNvSpPr>
            <a:spLocks xmlns:a="http://schemas.openxmlformats.org/drawingml/2006/main" noGrp="1"/>
          </p:cNvSpPr>
          <p:nvPr/>
        </p:nvSpPr>
        <p:spPr>
          <a:xfrm xmlns:a="http://schemas.openxmlformats.org/drawingml/2006/main">
            <a:off x="666750" y="2609850"/>
            <a:ext cx="76200" cy="552450"/>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DF34C30-C23E-4A18-B375-4356F102D208}"/>
              </a:ext>
            </a:extLst>
          </p:cNvPr>
          <p:cNvSpPr>
            <a:spLocks xmlns:a="http://schemas.openxmlformats.org/drawingml/2006/main" noGrp="1"/>
          </p:cNvSpPr>
          <p:nvPr/>
        </p:nvSpPr>
        <p:spPr>
          <a:xfrm xmlns:a="http://schemas.openxmlformats.org/drawingml/2006/main">
            <a:off x="971550" y="2552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Revocation stops alerts. The vendor says the system acted as configured; the service owner says emergency access was approved.</a:t>
            </a:r>
          </a:p>
        </p:txBody>
      </p:sp>
      <p:sp>
        <p:nvSpPr>
          <p:cNvPr id="10" name="">
            <a:extLst xmlns:a="http://schemas.openxmlformats.org/drawingml/2006/main">
              <a:ext uri="{FF2B5EF4-FFF2-40B4-BE49-F238E27FC236}">
                <a16:creationId xmlns:a16="http://schemas.microsoft.com/office/drawing/2014/main" id="{0538DBDB-79CB-4509-A18E-8FB208066E6C}"/>
              </a:ext>
            </a:extLst>
          </p:cNvPr>
          <p:cNvSpPr>
            <a:spLocks xmlns:a="http://schemas.openxmlformats.org/drawingml/2006/main" noGrp="1"/>
          </p:cNvSpPr>
          <p:nvPr/>
        </p:nvSpPr>
        <p:spPr>
          <a:xfrm xmlns:a="http://schemas.openxmlformats.org/drawingml/2006/main">
            <a:off x="666750" y="3371850"/>
            <a:ext cx="76200" cy="552450"/>
          </a:xfrm>
          <a:prstGeom xmlns:a="http://schemas.openxmlformats.org/drawingml/2006/main" prst="rect">
            <a:avLst/>
          </a:prstGeom>
          <a:solidFill xmlns:a="http://schemas.openxmlformats.org/drawingml/2006/main">
            <a:srgbClr val="007BC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9361E1B-45DA-4FE6-9F99-973E2E48B6E8}"/>
              </a:ext>
            </a:extLst>
          </p:cNvPr>
          <p:cNvSpPr>
            <a:spLocks xmlns:a="http://schemas.openxmlformats.org/drawingml/2006/main" noGrp="1"/>
          </p:cNvSpPr>
          <p:nvPr/>
        </p:nvSpPr>
        <p:spPr>
          <a:xfrm xmlns:a="http://schemas.openxmlformats.org/drawingml/2006/main">
            <a:off x="971550" y="331470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650" b="0">
                <a:solidFill>
                  <a:srgbClr val="FFFFFF"/>
                </a:solidFill>
                <a:latin typeface="Arial"/>
                <a:ea typeface="Arial"/>
                <a:cs typeface="Arial"/>
              </a:defRPr>
            </a:pPr>
            <a:r>
              <a:rPr sz="1650" b="0">
                <a:solidFill>
                  <a:srgbClr val="FFFFFF"/>
                </a:solidFill>
                <a:latin typeface="Arial"/>
                <a:ea typeface="Arial"/>
                <a:cs typeface="Arial"/>
              </a:rPr>
              <a:t>The document exists in three locations. Media and the ministerial office want a response in 12 minutes.</a:t>
            </a:r>
          </a:p>
        </p:txBody>
      </p:sp>
      <p:sp>
        <p:nvSpPr>
          <p:cNvPr id="12" name="">
            <a:extLst xmlns:a="http://schemas.openxmlformats.org/drawingml/2006/main">
              <a:ext uri="{FF2B5EF4-FFF2-40B4-BE49-F238E27FC236}">
                <a16:creationId xmlns:a16="http://schemas.microsoft.com/office/drawing/2014/main" id="{A73B5473-D11D-4C7C-AB48-281622363425}"/>
              </a:ext>
            </a:extLst>
          </p:cNvPr>
          <p:cNvSpPr>
            <a:spLocks xmlns:a="http://schemas.openxmlformats.org/drawingml/2006/main" noGrp="1"/>
          </p:cNvSpPr>
          <p:nvPr/>
        </p:nvSpPr>
        <p:spPr>
          <a:xfrm xmlns:a="http://schemas.openxmlformats.org/drawingml/2006/main">
            <a:off x="666750" y="4333875"/>
            <a:ext cx="10572750" cy="1276350"/>
          </a:xfrm>
          <a:prstGeom xmlns:a="http://schemas.openxmlformats.org/drawingml/2006/main" prst="roundRect">
            <a:avLst>
              <a:gd name="adj" fmla="val 5970"/>
            </a:avLst>
          </a:prstGeom>
          <a:solidFill xmlns:a="http://schemas.openxmlformats.org/drawingml/2006/main">
            <a:srgbClr val="0B2448"/>
          </a:solidFill>
          <a:ln xmlns:a="http://schemas.openxmlformats.org/drawingml/2006/main" w="9525">
            <a:solidFill>
              <a:srgbClr val="25466E"/>
            </a:solidFill>
            <a:prstDash val="solid"/>
          </a:ln>
        </p:spPr>
      </p:sp>
      <p:sp>
        <p:nvSpPr>
          <p:cNvPr id="13" name="">
            <a:extLst xmlns:a="http://schemas.openxmlformats.org/drawingml/2006/main">
              <a:ext uri="{FF2B5EF4-FFF2-40B4-BE49-F238E27FC236}">
                <a16:creationId xmlns:a16="http://schemas.microsoft.com/office/drawing/2014/main" id="{AE107D56-C247-454F-8DE5-71D4916ED11C}"/>
              </a:ext>
            </a:extLst>
          </p:cNvPr>
          <p:cNvSpPr>
            <a:spLocks xmlns:a="http://schemas.openxmlformats.org/drawingml/2006/main" noGrp="1"/>
          </p:cNvSpPr>
          <p:nvPr/>
        </p:nvSpPr>
        <p:spPr>
          <a:xfrm xmlns:a="http://schemas.openxmlformats.org/drawingml/2006/main">
            <a:off x="895350" y="4572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00FFFF"/>
                </a:solidFill>
                <a:latin typeface="Arial"/>
                <a:ea typeface="Arial"/>
                <a:cs typeface="Arial"/>
              </a:defRPr>
            </a:pPr>
            <a:r>
              <a:rPr sz="1050" b="1">
                <a:solidFill>
                  <a:srgbClr val="00FFFF"/>
                </a:solidFill>
                <a:latin typeface="Arial"/>
                <a:ea typeface="Arial"/>
                <a:cs typeface="Arial"/>
              </a:rPr>
              <a:t>YOUR FINAL CALL</a:t>
            </a:r>
          </a:p>
        </p:txBody>
      </p:sp>
      <p:sp>
        <p:nvSpPr>
          <p:cNvPr id="14" name="">
            <a:extLst xmlns:a="http://schemas.openxmlformats.org/drawingml/2006/main">
              <a:ext uri="{FF2B5EF4-FFF2-40B4-BE49-F238E27FC236}">
                <a16:creationId xmlns:a16="http://schemas.microsoft.com/office/drawing/2014/main" id="{2F7A842C-9839-4181-ACE8-22E5169A6BC2}"/>
              </a:ext>
            </a:extLst>
          </p:cNvPr>
          <p:cNvSpPr>
            <a:spLocks xmlns:a="http://schemas.openxmlformats.org/drawingml/2006/main" noGrp="1"/>
          </p:cNvSpPr>
          <p:nvPr/>
        </p:nvSpPr>
        <p:spPr>
          <a:xfrm xmlns:a="http://schemas.openxmlformats.org/drawingml/2006/main">
            <a:off x="895350" y="4924425"/>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950" b="1">
                <a:solidFill>
                  <a:srgbClr val="FFFFFF"/>
                </a:solidFill>
                <a:latin typeface="Arial"/>
                <a:ea typeface="Arial"/>
                <a:cs typeface="Arial"/>
              </a:defRPr>
            </a:pPr>
            <a:r>
              <a:rPr sz="1950" b="1">
                <a:solidFill>
                  <a:srgbClr val="FFFFFF"/>
                </a:solidFill>
                <a:latin typeface="Arial"/>
                <a:ea typeface="Arial"/>
                <a:cs typeface="Arial"/>
              </a:rPr>
              <a:t>Set incident leadership, containment scope, continuity measures and the first public line. Define the authority to restart.</a:t>
            </a:r>
          </a:p>
        </p:txBody>
      </p:sp>
    </p:spTree>
    <p:extLst>
      <p:ext uri="{BB962C8B-B14F-4D97-AF65-F5344CB8AC3E}">
        <p14:creationId xmlns:p14="http://schemas.microsoft.com/office/powerpoint/2010/main" val="69910612"/>
      </p:ext>
    </p:extLst>
  </p:cSld>
</p:sld>
</file>

<file path=ppt/slides/slide12.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91A7E3B-573D-4F96-BDBE-780EC6B8C6E3}"/>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SIX MINUTES</a:t>
            </a:r>
          </a:p>
        </p:txBody>
      </p:sp>
      <p:sp>
        <p:nvSpPr>
          <p:cNvPr id="2" name="">
            <a:extLst xmlns:a="http://schemas.openxmlformats.org/drawingml/2006/main">
              <a:ext uri="{FF2B5EF4-FFF2-40B4-BE49-F238E27FC236}">
                <a16:creationId xmlns:a16="http://schemas.microsoft.com/office/drawing/2014/main" id="{A92DFC62-CEFC-41C9-AA95-038766E03447}"/>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Lock the response</a:t>
            </a:r>
          </a:p>
        </p:txBody>
      </p:sp>
      <p:sp>
        <p:nvSpPr>
          <p:cNvPr id="3" name="">
            <a:extLst xmlns:a="http://schemas.openxmlformats.org/drawingml/2006/main">
              <a:ext uri="{FF2B5EF4-FFF2-40B4-BE49-F238E27FC236}">
                <a16:creationId xmlns:a16="http://schemas.microsoft.com/office/drawing/2014/main" id="{2591FAE4-15FF-4BCE-B093-7C539F90E4B4}"/>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5E6165E4-B90A-4F09-9E95-13C72E96202F}"/>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D05F9E46-7703-4BAD-AD08-A5617DB8DC1C}"/>
              </a:ext>
            </a:extLst>
          </p:cNvPr>
          <p:cNvSpPr>
            <a:spLocks xmlns:a="http://schemas.openxmlformats.org/drawingml/2006/main" noGrp="1"/>
          </p:cNvSpPr>
          <p:nvPr/>
        </p:nvSpPr>
        <p:spPr>
          <a:xfrm xmlns:a="http://schemas.openxmlformats.org/drawingml/2006/main">
            <a:off x="647700" y="1285875"/>
            <a:ext cx="800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250" b="1">
                <a:solidFill>
                  <a:srgbClr val="00FFFF"/>
                </a:solidFill>
                <a:latin typeface="Arial"/>
                <a:ea typeface="Arial"/>
                <a:cs typeface="Arial"/>
              </a:defRPr>
            </a:pPr>
            <a:r>
              <a:rPr sz="2250" b="1">
                <a:solidFill>
                  <a:srgbClr val="00FFFF"/>
                </a:solidFill>
                <a:latin typeface="Arial"/>
                <a:ea typeface="Arial"/>
                <a:cs typeface="Arial"/>
              </a:rPr>
              <a:t>One page. No caveats hidden in the margins.</a:t>
            </a:r>
          </a:p>
        </p:txBody>
      </p:sp>
      <p:sp>
        <p:nvSpPr>
          <p:cNvPr id="6" name="">
            <a:extLst xmlns:a="http://schemas.openxmlformats.org/drawingml/2006/main">
              <a:ext uri="{FF2B5EF4-FFF2-40B4-BE49-F238E27FC236}">
                <a16:creationId xmlns:a16="http://schemas.microsoft.com/office/drawing/2014/main" id="{35C510F8-B1A0-4D83-A1C0-43BF0EC34717}"/>
              </a:ext>
            </a:extLst>
          </p:cNvPr>
          <p:cNvSpPr>
            <a:spLocks xmlns:a="http://schemas.openxmlformats.org/drawingml/2006/main" noGrp="1"/>
          </p:cNvSpPr>
          <p:nvPr/>
        </p:nvSpPr>
        <p:spPr>
          <a:xfrm xmlns:a="http://schemas.openxmlformats.org/drawingml/2006/main">
            <a:off x="666750" y="20383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710C53-9E49-4132-87E6-D08234BFBC8C}"/>
              </a:ext>
            </a:extLst>
          </p:cNvPr>
          <p:cNvSpPr>
            <a:spLocks xmlns:a="http://schemas.openxmlformats.org/drawingml/2006/main" noGrp="1"/>
          </p:cNvSpPr>
          <p:nvPr/>
        </p:nvSpPr>
        <p:spPr>
          <a:xfrm xmlns:a="http://schemas.openxmlformats.org/drawingml/2006/main">
            <a:off x="666750" y="21050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4E44C372-5B69-453F-9E53-C9F2E97C1A10}"/>
              </a:ext>
            </a:extLst>
          </p:cNvPr>
          <p:cNvSpPr>
            <a:spLocks xmlns:a="http://schemas.openxmlformats.org/drawingml/2006/main" noGrp="1"/>
          </p:cNvSpPr>
          <p:nvPr/>
        </p:nvSpPr>
        <p:spPr>
          <a:xfrm xmlns:a="http://schemas.openxmlformats.org/drawingml/2006/main">
            <a:off x="1171575" y="2019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Decision</a:t>
            </a:r>
          </a:p>
        </p:txBody>
      </p:sp>
      <p:sp>
        <p:nvSpPr>
          <p:cNvPr id="9" name="">
            <a:extLst xmlns:a="http://schemas.openxmlformats.org/drawingml/2006/main">
              <a:ext uri="{FF2B5EF4-FFF2-40B4-BE49-F238E27FC236}">
                <a16:creationId xmlns:a16="http://schemas.microsoft.com/office/drawing/2014/main" id="{AAA40D75-1E4E-4C17-A313-6197677029B0}"/>
              </a:ext>
            </a:extLst>
          </p:cNvPr>
          <p:cNvSpPr>
            <a:spLocks xmlns:a="http://schemas.openxmlformats.org/drawingml/2006/main" noGrp="1"/>
          </p:cNvSpPr>
          <p:nvPr/>
        </p:nvSpPr>
        <p:spPr>
          <a:xfrm xmlns:a="http://schemas.openxmlformats.org/drawingml/2006/main">
            <a:off x="1171575" y="23622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are you doing now?</a:t>
            </a:r>
          </a:p>
        </p:txBody>
      </p:sp>
      <p:sp>
        <p:nvSpPr>
          <p:cNvPr id="10" name="">
            <a:extLst xmlns:a="http://schemas.openxmlformats.org/drawingml/2006/main">
              <a:ext uri="{FF2B5EF4-FFF2-40B4-BE49-F238E27FC236}">
                <a16:creationId xmlns:a16="http://schemas.microsoft.com/office/drawing/2014/main" id="{5E51AD6B-5D36-4BD7-9B08-640EBBAE5FB9}"/>
              </a:ext>
            </a:extLst>
          </p:cNvPr>
          <p:cNvSpPr>
            <a:spLocks xmlns:a="http://schemas.openxmlformats.org/drawingml/2006/main" noGrp="1"/>
          </p:cNvSpPr>
          <p:nvPr/>
        </p:nvSpPr>
        <p:spPr>
          <a:xfrm xmlns:a="http://schemas.openxmlformats.org/drawingml/2006/main">
            <a:off x="6153150" y="20383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85B63A-E7BF-472E-91DC-FF2CA5924A10}"/>
              </a:ext>
            </a:extLst>
          </p:cNvPr>
          <p:cNvSpPr>
            <a:spLocks xmlns:a="http://schemas.openxmlformats.org/drawingml/2006/main" noGrp="1"/>
          </p:cNvSpPr>
          <p:nvPr/>
        </p:nvSpPr>
        <p:spPr>
          <a:xfrm xmlns:a="http://schemas.openxmlformats.org/drawingml/2006/main">
            <a:off x="6153150" y="21050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C7F5D43D-79D4-43A2-AF38-888676AA3F71}"/>
              </a:ext>
            </a:extLst>
          </p:cNvPr>
          <p:cNvSpPr>
            <a:spLocks xmlns:a="http://schemas.openxmlformats.org/drawingml/2006/main" noGrp="1"/>
          </p:cNvSpPr>
          <p:nvPr/>
        </p:nvSpPr>
        <p:spPr>
          <a:xfrm xmlns:a="http://schemas.openxmlformats.org/drawingml/2006/main">
            <a:off x="6657975" y="2019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Trade-off</a:t>
            </a:r>
          </a:p>
        </p:txBody>
      </p:sp>
      <p:sp>
        <p:nvSpPr>
          <p:cNvPr id="13" name="">
            <a:extLst xmlns:a="http://schemas.openxmlformats.org/drawingml/2006/main">
              <a:ext uri="{FF2B5EF4-FFF2-40B4-BE49-F238E27FC236}">
                <a16:creationId xmlns:a16="http://schemas.microsoft.com/office/drawing/2014/main" id="{B0B86196-3ACC-4CDC-AE17-4F31E0DF61CA}"/>
              </a:ext>
            </a:extLst>
          </p:cNvPr>
          <p:cNvSpPr>
            <a:spLocks xmlns:a="http://schemas.openxmlformats.org/drawingml/2006/main" noGrp="1"/>
          </p:cNvSpPr>
          <p:nvPr/>
        </p:nvSpPr>
        <p:spPr>
          <a:xfrm xmlns:a="http://schemas.openxmlformats.org/drawingml/2006/main">
            <a:off x="6657975" y="23622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consequence are you accepting?</a:t>
            </a:r>
          </a:p>
        </p:txBody>
      </p:sp>
      <p:sp>
        <p:nvSpPr>
          <p:cNvPr id="14" name="">
            <a:extLst xmlns:a="http://schemas.openxmlformats.org/drawingml/2006/main">
              <a:ext uri="{FF2B5EF4-FFF2-40B4-BE49-F238E27FC236}">
                <a16:creationId xmlns:a16="http://schemas.microsoft.com/office/drawing/2014/main" id="{EA314E77-6DFE-429F-821B-3CC624F187E3}"/>
              </a:ext>
            </a:extLst>
          </p:cNvPr>
          <p:cNvSpPr>
            <a:spLocks xmlns:a="http://schemas.openxmlformats.org/drawingml/2006/main" noGrp="1"/>
          </p:cNvSpPr>
          <p:nvPr/>
        </p:nvSpPr>
        <p:spPr>
          <a:xfrm xmlns:a="http://schemas.openxmlformats.org/drawingml/2006/main">
            <a:off x="666750" y="32575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6FD4183-ED29-4C5D-869F-7387C77022A3}"/>
              </a:ext>
            </a:extLst>
          </p:cNvPr>
          <p:cNvSpPr>
            <a:spLocks xmlns:a="http://schemas.openxmlformats.org/drawingml/2006/main" noGrp="1"/>
          </p:cNvSpPr>
          <p:nvPr/>
        </p:nvSpPr>
        <p:spPr>
          <a:xfrm xmlns:a="http://schemas.openxmlformats.org/drawingml/2006/main">
            <a:off x="666750" y="33242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BCB4E8E2-8CB8-48BB-8E10-8263F1380A5F}"/>
              </a:ext>
            </a:extLst>
          </p:cNvPr>
          <p:cNvSpPr>
            <a:spLocks xmlns:a="http://schemas.openxmlformats.org/drawingml/2006/main" noGrp="1"/>
          </p:cNvSpPr>
          <p:nvPr/>
        </p:nvSpPr>
        <p:spPr>
          <a:xfrm xmlns:a="http://schemas.openxmlformats.org/drawingml/2006/main">
            <a:off x="1171575" y="3238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Evidence</a:t>
            </a:r>
          </a:p>
        </p:txBody>
      </p:sp>
      <p:sp>
        <p:nvSpPr>
          <p:cNvPr id="17" name="">
            <a:extLst xmlns:a="http://schemas.openxmlformats.org/drawingml/2006/main">
              <a:ext uri="{FF2B5EF4-FFF2-40B4-BE49-F238E27FC236}">
                <a16:creationId xmlns:a16="http://schemas.microsoft.com/office/drawing/2014/main" id="{53538E62-A676-4D2C-9017-BCF9EA3C7CAC}"/>
              </a:ext>
            </a:extLst>
          </p:cNvPr>
          <p:cNvSpPr>
            <a:spLocks xmlns:a="http://schemas.openxmlformats.org/drawingml/2006/main" noGrp="1"/>
          </p:cNvSpPr>
          <p:nvPr/>
        </p:nvSpPr>
        <p:spPr>
          <a:xfrm xmlns:a="http://schemas.openxmlformats.org/drawingml/2006/main">
            <a:off x="1171575" y="35814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must be preserved before action changes it?</a:t>
            </a:r>
          </a:p>
        </p:txBody>
      </p:sp>
      <p:sp>
        <p:nvSpPr>
          <p:cNvPr id="18" name="">
            <a:extLst xmlns:a="http://schemas.openxmlformats.org/drawingml/2006/main">
              <a:ext uri="{FF2B5EF4-FFF2-40B4-BE49-F238E27FC236}">
                <a16:creationId xmlns:a16="http://schemas.microsoft.com/office/drawing/2014/main" id="{FEDBEEA8-D65F-4EF1-8226-330AF0357436}"/>
              </a:ext>
            </a:extLst>
          </p:cNvPr>
          <p:cNvSpPr>
            <a:spLocks xmlns:a="http://schemas.openxmlformats.org/drawingml/2006/main" noGrp="1"/>
          </p:cNvSpPr>
          <p:nvPr/>
        </p:nvSpPr>
        <p:spPr>
          <a:xfrm xmlns:a="http://schemas.openxmlformats.org/drawingml/2006/main">
            <a:off x="6153150" y="32575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BC334FC-3188-4435-8C04-302B2CAC5B84}"/>
              </a:ext>
            </a:extLst>
          </p:cNvPr>
          <p:cNvSpPr>
            <a:spLocks xmlns:a="http://schemas.openxmlformats.org/drawingml/2006/main" noGrp="1"/>
          </p:cNvSpPr>
          <p:nvPr/>
        </p:nvSpPr>
        <p:spPr>
          <a:xfrm xmlns:a="http://schemas.openxmlformats.org/drawingml/2006/main">
            <a:off x="6153150" y="33242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29E6EB68-3707-4883-B590-0A9DB355E932}"/>
              </a:ext>
            </a:extLst>
          </p:cNvPr>
          <p:cNvSpPr>
            <a:spLocks xmlns:a="http://schemas.openxmlformats.org/drawingml/2006/main" noGrp="1"/>
          </p:cNvSpPr>
          <p:nvPr/>
        </p:nvSpPr>
        <p:spPr>
          <a:xfrm xmlns:a="http://schemas.openxmlformats.org/drawingml/2006/main">
            <a:off x="6657975" y="32385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Authority</a:t>
            </a:r>
          </a:p>
        </p:txBody>
      </p:sp>
      <p:sp>
        <p:nvSpPr>
          <p:cNvPr id="21" name="">
            <a:extLst xmlns:a="http://schemas.openxmlformats.org/drawingml/2006/main">
              <a:ext uri="{FF2B5EF4-FFF2-40B4-BE49-F238E27FC236}">
                <a16:creationId xmlns:a16="http://schemas.microsoft.com/office/drawing/2014/main" id="{A3031932-CF03-444F-9F9D-08428C99FB5C}"/>
              </a:ext>
            </a:extLst>
          </p:cNvPr>
          <p:cNvSpPr>
            <a:spLocks xmlns:a="http://schemas.openxmlformats.org/drawingml/2006/main" noGrp="1"/>
          </p:cNvSpPr>
          <p:nvPr/>
        </p:nvSpPr>
        <p:spPr>
          <a:xfrm xmlns:a="http://schemas.openxmlformats.org/drawingml/2006/main">
            <a:off x="6657975" y="35814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Who owns containment and who may restart?</a:t>
            </a:r>
          </a:p>
        </p:txBody>
      </p:sp>
      <p:sp>
        <p:nvSpPr>
          <p:cNvPr id="22" name="">
            <a:extLst xmlns:a="http://schemas.openxmlformats.org/drawingml/2006/main">
              <a:ext uri="{FF2B5EF4-FFF2-40B4-BE49-F238E27FC236}">
                <a16:creationId xmlns:a16="http://schemas.microsoft.com/office/drawing/2014/main" id="{3B7BF5C5-2573-477B-8E4F-170B1D614D99}"/>
              </a:ext>
            </a:extLst>
          </p:cNvPr>
          <p:cNvSpPr>
            <a:spLocks xmlns:a="http://schemas.openxmlformats.org/drawingml/2006/main" noGrp="1"/>
          </p:cNvSpPr>
          <p:nvPr/>
        </p:nvSpPr>
        <p:spPr>
          <a:xfrm xmlns:a="http://schemas.openxmlformats.org/drawingml/2006/main">
            <a:off x="666750" y="4476750"/>
            <a:ext cx="342900" cy="342900"/>
          </a:xfrm>
          <a:prstGeom xmlns:a="http://schemas.openxmlformats.org/drawingml/2006/main" prst="ellipse">
            <a:avLst/>
          </a:prstGeom>
          <a:solidFill xmlns:a="http://schemas.openxmlformats.org/drawingml/2006/main">
            <a:srgbClr val="00AE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895A6CD-5E01-45AB-877C-9048C6569E50}"/>
              </a:ext>
            </a:extLst>
          </p:cNvPr>
          <p:cNvSpPr>
            <a:spLocks xmlns:a="http://schemas.openxmlformats.org/drawingml/2006/main" noGrp="1"/>
          </p:cNvSpPr>
          <p:nvPr/>
        </p:nvSpPr>
        <p:spPr>
          <a:xfrm xmlns:a="http://schemas.openxmlformats.org/drawingml/2006/main">
            <a:off x="666750" y="45434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84E3D01E-2DD6-4CAA-8C7B-994F6263C784}"/>
              </a:ext>
            </a:extLst>
          </p:cNvPr>
          <p:cNvSpPr>
            <a:spLocks xmlns:a="http://schemas.openxmlformats.org/drawingml/2006/main" noGrp="1"/>
          </p:cNvSpPr>
          <p:nvPr/>
        </p:nvSpPr>
        <p:spPr>
          <a:xfrm xmlns:a="http://schemas.openxmlformats.org/drawingml/2006/main">
            <a:off x="1171575" y="44577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Communication</a:t>
            </a:r>
          </a:p>
        </p:txBody>
      </p:sp>
      <p:sp>
        <p:nvSpPr>
          <p:cNvPr id="25" name="">
            <a:extLst xmlns:a="http://schemas.openxmlformats.org/drawingml/2006/main">
              <a:ext uri="{FF2B5EF4-FFF2-40B4-BE49-F238E27FC236}">
                <a16:creationId xmlns:a16="http://schemas.microsoft.com/office/drawing/2014/main" id="{272B6284-2CE5-4348-BA05-B2D16A160F31}"/>
              </a:ext>
            </a:extLst>
          </p:cNvPr>
          <p:cNvSpPr>
            <a:spLocks xmlns:a="http://schemas.openxmlformats.org/drawingml/2006/main" noGrp="1"/>
          </p:cNvSpPr>
          <p:nvPr/>
        </p:nvSpPr>
        <p:spPr>
          <a:xfrm xmlns:a="http://schemas.openxmlformats.org/drawingml/2006/main">
            <a:off x="1171575" y="48006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Who needs to know, when and with what certainty?</a:t>
            </a:r>
          </a:p>
        </p:txBody>
      </p:sp>
      <p:sp>
        <p:nvSpPr>
          <p:cNvPr id="26" name="">
            <a:extLst xmlns:a="http://schemas.openxmlformats.org/drawingml/2006/main">
              <a:ext uri="{FF2B5EF4-FFF2-40B4-BE49-F238E27FC236}">
                <a16:creationId xmlns:a16="http://schemas.microsoft.com/office/drawing/2014/main" id="{58CE76E9-F879-4BC9-8FF7-0DE5962BC572}"/>
              </a:ext>
            </a:extLst>
          </p:cNvPr>
          <p:cNvSpPr>
            <a:spLocks xmlns:a="http://schemas.openxmlformats.org/drawingml/2006/main" noGrp="1"/>
          </p:cNvSpPr>
          <p:nvPr/>
        </p:nvSpPr>
        <p:spPr>
          <a:xfrm xmlns:a="http://schemas.openxmlformats.org/drawingml/2006/main">
            <a:off x="6153150" y="4476750"/>
            <a:ext cx="342900" cy="342900"/>
          </a:xfrm>
          <a:prstGeom xmlns:a="http://schemas.openxmlformats.org/drawingml/2006/main" prst="ellipse">
            <a:avLst/>
          </a:prstGeom>
          <a:solidFill xmlns:a="http://schemas.openxmlformats.org/drawingml/2006/main">
            <a:srgbClr val="00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5D36963-1860-4453-8022-9ECB84A2B54A}"/>
              </a:ext>
            </a:extLst>
          </p:cNvPr>
          <p:cNvSpPr>
            <a:spLocks xmlns:a="http://schemas.openxmlformats.org/drawingml/2006/main" noGrp="1"/>
          </p:cNvSpPr>
          <p:nvPr/>
        </p:nvSpPr>
        <p:spPr>
          <a:xfrm xmlns:a="http://schemas.openxmlformats.org/drawingml/2006/main">
            <a:off x="6153150" y="45434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000025"/>
                </a:solidFill>
                <a:latin typeface="Arial"/>
                <a:ea typeface="Arial"/>
                <a:cs typeface="Arial"/>
              </a:defRPr>
            </a:pPr>
            <a:r>
              <a:rPr sz="1125" b="1">
                <a:solidFill>
                  <a:srgbClr val="000025"/>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9C55D415-BFB1-47EF-AC03-C4BE00606D98}"/>
              </a:ext>
            </a:extLst>
          </p:cNvPr>
          <p:cNvSpPr>
            <a:spLocks xmlns:a="http://schemas.openxmlformats.org/drawingml/2006/main" noGrp="1"/>
          </p:cNvSpPr>
          <p:nvPr/>
        </p:nvSpPr>
        <p:spPr>
          <a:xfrm xmlns:a="http://schemas.openxmlformats.org/drawingml/2006/main">
            <a:off x="6657975" y="44577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725" b="1">
                <a:solidFill>
                  <a:srgbClr val="FFFFFF"/>
                </a:solidFill>
                <a:latin typeface="Arial"/>
                <a:ea typeface="Arial"/>
                <a:cs typeface="Arial"/>
              </a:defRPr>
            </a:pPr>
            <a:r>
              <a:rPr sz="1725" b="1">
                <a:solidFill>
                  <a:srgbClr val="FFFFFF"/>
                </a:solidFill>
                <a:latin typeface="Arial"/>
                <a:ea typeface="Arial"/>
                <a:cs typeface="Arial"/>
              </a:rPr>
              <a:t>Restart gate</a:t>
            </a:r>
          </a:p>
        </p:txBody>
      </p:sp>
      <p:sp>
        <p:nvSpPr>
          <p:cNvPr id="29" name="">
            <a:extLst xmlns:a="http://schemas.openxmlformats.org/drawingml/2006/main">
              <a:ext uri="{FF2B5EF4-FFF2-40B4-BE49-F238E27FC236}">
                <a16:creationId xmlns:a16="http://schemas.microsoft.com/office/drawing/2014/main" id="{60BFB8A6-F09A-4BA4-AD52-E793129FC259}"/>
              </a:ext>
            </a:extLst>
          </p:cNvPr>
          <p:cNvSpPr>
            <a:spLocks xmlns:a="http://schemas.openxmlformats.org/drawingml/2006/main" noGrp="1"/>
          </p:cNvSpPr>
          <p:nvPr/>
        </p:nvSpPr>
        <p:spPr>
          <a:xfrm xmlns:a="http://schemas.openxmlformats.org/drawingml/2006/main">
            <a:off x="6657975" y="48006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78DCFF"/>
                </a:solidFill>
                <a:latin typeface="Arial"/>
                <a:ea typeface="Arial"/>
                <a:cs typeface="Arial"/>
              </a:defRPr>
            </a:pPr>
            <a:r>
              <a:rPr sz="1350" b="0">
                <a:solidFill>
                  <a:srgbClr val="78DCFF"/>
                </a:solidFill>
                <a:latin typeface="Arial"/>
                <a:ea typeface="Arial"/>
                <a:cs typeface="Arial"/>
              </a:rPr>
              <a:t>What must be true before authority returns?</a:t>
            </a:r>
          </a:p>
        </p:txBody>
      </p:sp>
    </p:spTree>
    <p:extLst>
      <p:ext uri="{BB962C8B-B14F-4D97-AF65-F5344CB8AC3E}">
        <p14:creationId xmlns:p14="http://schemas.microsoft.com/office/powerpoint/2010/main" val="1429213554"/>
      </p:ext>
    </p:extLst>
  </p:cSld>
</p:sld>
</file>

<file path=ppt/slides/slide13.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737FCE7-E021-4090-9D57-688FA6E8045C}"/>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TABLE REPORTS + SECURITY COUNSEL · 22 MINUTES</a:t>
            </a:r>
          </a:p>
        </p:txBody>
      </p:sp>
      <p:sp>
        <p:nvSpPr>
          <p:cNvPr id="2" name="">
            <a:extLst xmlns:a="http://schemas.openxmlformats.org/drawingml/2006/main">
              <a:ext uri="{FF2B5EF4-FFF2-40B4-BE49-F238E27FC236}">
                <a16:creationId xmlns:a16="http://schemas.microsoft.com/office/drawing/2014/main" id="{657A9EAB-A56D-426D-82A2-CFB65435D81A}"/>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Report the decision, not the discussion</a:t>
            </a:r>
          </a:p>
        </p:txBody>
      </p:sp>
      <p:sp>
        <p:nvSpPr>
          <p:cNvPr id="3" name="">
            <a:extLst xmlns:a="http://schemas.openxmlformats.org/drawingml/2006/main">
              <a:ext uri="{FF2B5EF4-FFF2-40B4-BE49-F238E27FC236}">
                <a16:creationId xmlns:a16="http://schemas.microsoft.com/office/drawing/2014/main" id="{E2CF69CE-939F-48C3-93B0-F53CBE18464B}"/>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46B2F282-9F36-453A-8E45-22AA236CE2BD}"/>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FF4F25E3-9A24-4EE2-81C5-2A3ED2B04646}"/>
              </a:ext>
            </a:extLst>
          </p:cNvPr>
          <p:cNvSpPr>
            <a:spLocks xmlns:a="http://schemas.openxmlformats.org/drawingml/2006/main" noGrp="1"/>
          </p:cNvSpPr>
          <p:nvPr/>
        </p:nvSpPr>
        <p:spPr>
          <a:xfrm xmlns:a="http://schemas.openxmlformats.org/drawingml/2006/main">
            <a:off x="714375" y="1524000"/>
            <a:ext cx="1714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7800" b="1">
                <a:solidFill>
                  <a:srgbClr val="00FFFF"/>
                </a:solidFill>
                <a:latin typeface="Arial"/>
                <a:ea typeface="Arial"/>
                <a:cs typeface="Arial"/>
              </a:defRPr>
            </a:pPr>
            <a:r>
              <a:rPr sz="7800" b="1">
                <a:solidFill>
                  <a:srgbClr val="00FFFF"/>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4F1DEF85-3EF3-442D-ACAC-EC7A348BEE7D}"/>
              </a:ext>
            </a:extLst>
          </p:cNvPr>
          <p:cNvSpPr>
            <a:spLocks xmlns:a="http://schemas.openxmlformats.org/drawingml/2006/main" noGrp="1"/>
          </p:cNvSpPr>
          <p:nvPr/>
        </p:nvSpPr>
        <p:spPr>
          <a:xfrm xmlns:a="http://schemas.openxmlformats.org/drawingml/2006/main">
            <a:off x="714375" y="2714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9AA7B5"/>
                </a:solidFill>
                <a:latin typeface="Arial"/>
                <a:ea typeface="Arial"/>
                <a:cs typeface="Arial"/>
              </a:defRPr>
            </a:pPr>
            <a:r>
              <a:rPr sz="1125" b="1">
                <a:solidFill>
                  <a:srgbClr val="9AA7B5"/>
                </a:solidFill>
                <a:latin typeface="Arial"/>
                <a:ea typeface="Arial"/>
                <a:cs typeface="Arial"/>
              </a:rPr>
              <a:t>MINUTES</a:t>
            </a:r>
          </a:p>
        </p:txBody>
      </p:sp>
      <p:sp>
        <p:nvSpPr>
          <p:cNvPr id="7" name="">
            <a:extLst xmlns:a="http://schemas.openxmlformats.org/drawingml/2006/main">
              <a:ext uri="{FF2B5EF4-FFF2-40B4-BE49-F238E27FC236}">
                <a16:creationId xmlns:a16="http://schemas.microsoft.com/office/drawing/2014/main" id="{C6D413D2-1BE6-48FA-B71B-52FCDB0ACCD2}"/>
              </a:ext>
            </a:extLst>
          </p:cNvPr>
          <p:cNvSpPr>
            <a:spLocks xmlns:a="http://schemas.openxmlformats.org/drawingml/2006/main" noGrp="1"/>
          </p:cNvSpPr>
          <p:nvPr/>
        </p:nvSpPr>
        <p:spPr>
          <a:xfrm xmlns:a="http://schemas.openxmlformats.org/drawingml/2006/main">
            <a:off x="3038475" y="1524000"/>
            <a:ext cx="1714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7800" b="1">
                <a:solidFill>
                  <a:srgbClr val="7C3AED"/>
                </a:solidFill>
                <a:latin typeface="Arial"/>
                <a:ea typeface="Arial"/>
                <a:cs typeface="Arial"/>
              </a:defRPr>
            </a:pPr>
            <a:r>
              <a:rPr sz="7800" b="1">
                <a:solidFill>
                  <a:srgbClr val="7C3AED"/>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DAA8C0EE-74FE-4547-BFD4-23B5B59E8FE3}"/>
              </a:ext>
            </a:extLst>
          </p:cNvPr>
          <p:cNvSpPr>
            <a:spLocks xmlns:a="http://schemas.openxmlformats.org/drawingml/2006/main" noGrp="1"/>
          </p:cNvSpPr>
          <p:nvPr/>
        </p:nvSpPr>
        <p:spPr>
          <a:xfrm xmlns:a="http://schemas.openxmlformats.org/drawingml/2006/main">
            <a:off x="3038475" y="2714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5000"/>
              </a:lnSpc>
              <a:buNone/>
              <a:defRPr sz="1125" b="1">
                <a:solidFill>
                  <a:srgbClr val="9AA7B5"/>
                </a:solidFill>
                <a:latin typeface="Arial"/>
                <a:ea typeface="Arial"/>
                <a:cs typeface="Arial"/>
              </a:defRPr>
            </a:pPr>
            <a:r>
              <a:rPr sz="1125" b="1">
                <a:solidFill>
                  <a:srgbClr val="9AA7B5"/>
                </a:solidFill>
                <a:latin typeface="Arial"/>
                <a:ea typeface="Arial"/>
                <a:cs typeface="Arial"/>
              </a:rPr>
              <a:t>LINES</a:t>
            </a:r>
          </a:p>
        </p:txBody>
      </p:sp>
      <p:sp>
        <p:nvSpPr>
          <p:cNvPr id="9" name="">
            <a:extLst xmlns:a="http://schemas.openxmlformats.org/drawingml/2006/main">
              <a:ext uri="{FF2B5EF4-FFF2-40B4-BE49-F238E27FC236}">
                <a16:creationId xmlns:a16="http://schemas.microsoft.com/office/drawing/2014/main" id="{92B99F2B-5635-4594-BDCE-D597D1BF48F7}"/>
              </a:ext>
            </a:extLst>
          </p:cNvPr>
          <p:cNvSpPr>
            <a:spLocks xmlns:a="http://schemas.openxmlformats.org/drawingml/2006/main" noGrp="1"/>
          </p:cNvSpPr>
          <p:nvPr/>
        </p:nvSpPr>
        <p:spPr>
          <a:xfrm xmlns:a="http://schemas.openxmlformats.org/drawingml/2006/main">
            <a:off x="5619750" y="15335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9F52E4F1-CDC9-4D16-B9EC-01F5FDEBC334}"/>
              </a:ext>
            </a:extLst>
          </p:cNvPr>
          <p:cNvSpPr>
            <a:spLocks xmlns:a="http://schemas.openxmlformats.org/drawingml/2006/main" noGrp="1"/>
          </p:cNvSpPr>
          <p:nvPr/>
        </p:nvSpPr>
        <p:spPr>
          <a:xfrm xmlns:a="http://schemas.openxmlformats.org/drawingml/2006/main">
            <a:off x="6334125" y="15144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call</a:t>
            </a:r>
          </a:p>
        </p:txBody>
      </p:sp>
      <p:sp>
        <p:nvSpPr>
          <p:cNvPr id="11" name="">
            <a:extLst xmlns:a="http://schemas.openxmlformats.org/drawingml/2006/main">
              <a:ext uri="{FF2B5EF4-FFF2-40B4-BE49-F238E27FC236}">
                <a16:creationId xmlns:a16="http://schemas.microsoft.com/office/drawing/2014/main" id="{7FB553B9-7185-416D-9175-A3C142D26787}"/>
              </a:ext>
            </a:extLst>
          </p:cNvPr>
          <p:cNvSpPr>
            <a:spLocks xmlns:a="http://schemas.openxmlformats.org/drawingml/2006/main" noGrp="1"/>
          </p:cNvSpPr>
          <p:nvPr/>
        </p:nvSpPr>
        <p:spPr>
          <a:xfrm xmlns:a="http://schemas.openxmlformats.org/drawingml/2006/main">
            <a:off x="6334125" y="19335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action we take now</a:t>
            </a:r>
          </a:p>
        </p:txBody>
      </p:sp>
      <p:sp>
        <p:nvSpPr>
          <p:cNvPr id="12" name="">
            <a:extLst xmlns:a="http://schemas.openxmlformats.org/drawingml/2006/main">
              <a:ext uri="{FF2B5EF4-FFF2-40B4-BE49-F238E27FC236}">
                <a16:creationId xmlns:a16="http://schemas.microsoft.com/office/drawing/2014/main" id="{6D13DA45-E57B-470D-8E52-E6D5E92D6890}"/>
              </a:ext>
            </a:extLst>
          </p:cNvPr>
          <p:cNvSpPr>
            <a:spLocks xmlns:a="http://schemas.openxmlformats.org/drawingml/2006/main" noGrp="1"/>
          </p:cNvSpPr>
          <p:nvPr/>
        </p:nvSpPr>
        <p:spPr>
          <a:xfrm xmlns:a="http://schemas.openxmlformats.org/drawingml/2006/main">
            <a:off x="5619750" y="27908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00AEFF"/>
                </a:solidFill>
                <a:latin typeface="Arial"/>
                <a:ea typeface="Arial"/>
                <a:cs typeface="Arial"/>
              </a:defRPr>
            </a:pPr>
            <a:r>
              <a:rPr sz="1350" b="1">
                <a:solidFill>
                  <a:srgbClr val="00AE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8477B86B-B8E5-4B96-B5CD-8D1F5D20F91D}"/>
              </a:ext>
            </a:extLst>
          </p:cNvPr>
          <p:cNvSpPr>
            <a:spLocks xmlns:a="http://schemas.openxmlformats.org/drawingml/2006/main" noGrp="1"/>
          </p:cNvSpPr>
          <p:nvPr/>
        </p:nvSpPr>
        <p:spPr>
          <a:xfrm xmlns:a="http://schemas.openxmlformats.org/drawingml/2006/main">
            <a:off x="6334125" y="27717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trade-off</a:t>
            </a:r>
          </a:p>
        </p:txBody>
      </p:sp>
      <p:sp>
        <p:nvSpPr>
          <p:cNvPr id="14" name="">
            <a:extLst xmlns:a="http://schemas.openxmlformats.org/drawingml/2006/main">
              <a:ext uri="{FF2B5EF4-FFF2-40B4-BE49-F238E27FC236}">
                <a16:creationId xmlns:a16="http://schemas.microsoft.com/office/drawing/2014/main" id="{3B3859AB-A415-4775-A1B3-0C510928BB54}"/>
              </a:ext>
            </a:extLst>
          </p:cNvPr>
          <p:cNvSpPr>
            <a:spLocks xmlns:a="http://schemas.openxmlformats.org/drawingml/2006/main" noGrp="1"/>
          </p:cNvSpPr>
          <p:nvPr/>
        </p:nvSpPr>
        <p:spPr>
          <a:xfrm xmlns:a="http://schemas.openxmlformats.org/drawingml/2006/main">
            <a:off x="6334125" y="31908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consequence we knowingly accept</a:t>
            </a:r>
          </a:p>
        </p:txBody>
      </p:sp>
      <p:sp>
        <p:nvSpPr>
          <p:cNvPr id="15" name="">
            <a:extLst xmlns:a="http://schemas.openxmlformats.org/drawingml/2006/main">
              <a:ext uri="{FF2B5EF4-FFF2-40B4-BE49-F238E27FC236}">
                <a16:creationId xmlns:a16="http://schemas.microsoft.com/office/drawing/2014/main" id="{8EDA6067-D556-4793-95E6-F07D76A08E08}"/>
              </a:ext>
            </a:extLst>
          </p:cNvPr>
          <p:cNvSpPr>
            <a:spLocks xmlns:a="http://schemas.openxmlformats.org/drawingml/2006/main" noGrp="1"/>
          </p:cNvSpPr>
          <p:nvPr/>
        </p:nvSpPr>
        <p:spPr>
          <a:xfrm xmlns:a="http://schemas.openxmlformats.org/drawingml/2006/main">
            <a:off x="5619750" y="4048125"/>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E5484D"/>
                </a:solidFill>
                <a:latin typeface="Arial"/>
                <a:ea typeface="Arial"/>
                <a:cs typeface="Arial"/>
              </a:defRPr>
            </a:pPr>
            <a:r>
              <a:rPr sz="1350" b="1">
                <a:solidFill>
                  <a:srgbClr val="E5484D"/>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590B6C41-5705-42D3-962F-47F28D27E40E}"/>
              </a:ext>
            </a:extLst>
          </p:cNvPr>
          <p:cNvSpPr>
            <a:spLocks xmlns:a="http://schemas.openxmlformats.org/drawingml/2006/main" noGrp="1"/>
          </p:cNvSpPr>
          <p:nvPr/>
        </p:nvSpPr>
        <p:spPr>
          <a:xfrm xmlns:a="http://schemas.openxmlformats.org/drawingml/2006/main">
            <a:off x="6334125" y="40290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Our restart gate</a:t>
            </a:r>
          </a:p>
        </p:txBody>
      </p:sp>
      <p:sp>
        <p:nvSpPr>
          <p:cNvPr id="17" name="">
            <a:extLst xmlns:a="http://schemas.openxmlformats.org/drawingml/2006/main">
              <a:ext uri="{FF2B5EF4-FFF2-40B4-BE49-F238E27FC236}">
                <a16:creationId xmlns:a16="http://schemas.microsoft.com/office/drawing/2014/main" id="{91B4233C-5B26-4007-8836-D171E1E0F6A6}"/>
              </a:ext>
            </a:extLst>
          </p:cNvPr>
          <p:cNvSpPr>
            <a:spLocks xmlns:a="http://schemas.openxmlformats.org/drawingml/2006/main" noGrp="1"/>
          </p:cNvSpPr>
          <p:nvPr/>
        </p:nvSpPr>
        <p:spPr>
          <a:xfrm xmlns:a="http://schemas.openxmlformats.org/drawingml/2006/main">
            <a:off x="6334125" y="4448175"/>
            <a:ext cx="4191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0">
                <a:solidFill>
                  <a:srgbClr val="9AA7B5"/>
                </a:solidFill>
                <a:latin typeface="Arial"/>
                <a:ea typeface="Arial"/>
                <a:cs typeface="Arial"/>
              </a:defRPr>
            </a:pPr>
            <a:r>
              <a:rPr sz="1500" b="0">
                <a:solidFill>
                  <a:srgbClr val="9AA7B5"/>
                </a:solidFill>
                <a:latin typeface="Arial"/>
                <a:ea typeface="Arial"/>
                <a:cs typeface="Arial"/>
              </a:rPr>
              <a:t>The control or evidence required before authority returns</a:t>
            </a:r>
          </a:p>
        </p:txBody>
      </p:sp>
      <p:sp>
        <p:nvSpPr>
          <p:cNvPr id="18" name="">
            <a:extLst xmlns:a="http://schemas.openxmlformats.org/drawingml/2006/main">
              <a:ext uri="{FF2B5EF4-FFF2-40B4-BE49-F238E27FC236}">
                <a16:creationId xmlns:a16="http://schemas.microsoft.com/office/drawing/2014/main" id="{98079937-3045-4879-B01A-E7FFCBB2EE47}"/>
              </a:ext>
            </a:extLst>
          </p:cNvPr>
          <p:cNvSpPr>
            <a:spLocks xmlns:a="http://schemas.openxmlformats.org/drawingml/2006/main" noGrp="1"/>
          </p:cNvSpPr>
          <p:nvPr/>
        </p:nvSpPr>
        <p:spPr>
          <a:xfrm xmlns:a="http://schemas.openxmlformats.org/drawingml/2006/main">
            <a:off x="638175" y="6029325"/>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500" b="1">
                <a:solidFill>
                  <a:srgbClr val="00FFFF"/>
                </a:solidFill>
                <a:latin typeface="Arial"/>
                <a:ea typeface="Arial"/>
                <a:cs typeface="Arial"/>
              </a:defRPr>
            </a:pPr>
            <a:r>
              <a:rPr sz="1500" b="1">
                <a:solidFill>
                  <a:srgbClr val="00FFFF"/>
                </a:solidFill>
                <a:latin typeface="Arial"/>
                <a:ea typeface="Arial"/>
                <a:cs typeface="Arial"/>
              </a:rPr>
              <a:t>Security Counsel: patterns · blind spots · what matters in practice</a:t>
            </a:r>
          </a:p>
        </p:txBody>
      </p:sp>
    </p:spTree>
    <p:extLst>
      <p:ext uri="{BB962C8B-B14F-4D97-AF65-F5344CB8AC3E}">
        <p14:creationId xmlns:p14="http://schemas.microsoft.com/office/powerpoint/2010/main" val="230689721"/>
      </p:ext>
    </p:extLst>
  </p:cSld>
</p:sld>
</file>

<file path=ppt/slides/slide14.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5066527-76AF-44AE-AE9F-695BF7218FF5}"/>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DEBRIEF</a:t>
            </a:r>
          </a:p>
        </p:txBody>
      </p:sp>
      <p:sp>
        <p:nvSpPr>
          <p:cNvPr id="2" name="">
            <a:extLst xmlns:a="http://schemas.openxmlformats.org/drawingml/2006/main">
              <a:ext uri="{FF2B5EF4-FFF2-40B4-BE49-F238E27FC236}">
                <a16:creationId xmlns:a16="http://schemas.microsoft.com/office/drawing/2014/main" id="{B7EAEE40-1031-48EB-A4CD-0ECFB8512185}"/>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Controls live in more than one place</a:t>
            </a:r>
          </a:p>
        </p:txBody>
      </p:sp>
      <p:sp>
        <p:nvSpPr>
          <p:cNvPr id="3" name="">
            <a:extLst xmlns:a="http://schemas.openxmlformats.org/drawingml/2006/main">
              <a:ext uri="{FF2B5EF4-FFF2-40B4-BE49-F238E27FC236}">
                <a16:creationId xmlns:a16="http://schemas.microsoft.com/office/drawing/2014/main" id="{80B083BF-761B-4A1E-8D0A-87539296A8D3}"/>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4BA88082-F6DC-40E7-B23A-799D6173F864}"/>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B2D5BEA0-0C71-4E98-B1F3-36EA148EBBC1}"/>
              </a:ext>
            </a:extLst>
          </p:cNvPr>
          <p:cNvSpPr>
            <a:spLocks xmlns:a="http://schemas.openxmlformats.org/drawingml/2006/main" noGrp="1"/>
          </p:cNvSpPr>
          <p:nvPr/>
        </p:nvSpPr>
        <p:spPr>
          <a:xfrm xmlns:a="http://schemas.openxmlformats.org/drawingml/2006/main">
            <a:off x="647700" y="12763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00" b="1">
                <a:solidFill>
                  <a:srgbClr val="FFFFFF"/>
                </a:solidFill>
                <a:latin typeface="Arial"/>
                <a:ea typeface="Arial"/>
                <a:cs typeface="Arial"/>
              </a:defRPr>
            </a:pPr>
            <a:r>
              <a:rPr sz="2100" b="1">
                <a:solidFill>
                  <a:srgbClr val="FFFFFF"/>
                </a:solidFill>
                <a:latin typeface="Arial"/>
                <a:ea typeface="Arial"/>
                <a:cs typeface="Arial"/>
              </a:rPr>
              <a:t>Map the workflow first. Then place each control where the failure can occur.</a:t>
            </a:r>
          </a:p>
        </p:txBody>
      </p:sp>
      <p:sp>
        <p:nvSpPr>
          <p:cNvPr id="6" name="">
            <a:extLst xmlns:a="http://schemas.openxmlformats.org/drawingml/2006/main">
              <a:ext uri="{FF2B5EF4-FFF2-40B4-BE49-F238E27FC236}">
                <a16:creationId xmlns:a16="http://schemas.microsoft.com/office/drawing/2014/main" id="{15580B1E-121A-43C3-8AF8-A8C1605E5410}"/>
              </a:ext>
            </a:extLst>
          </p:cNvPr>
          <p:cNvSpPr>
            <a:spLocks xmlns:a="http://schemas.openxmlformats.org/drawingml/2006/main" noGrp="1"/>
          </p:cNvSpPr>
          <p:nvPr/>
        </p:nvSpPr>
        <p:spPr>
          <a:xfrm xmlns:a="http://schemas.openxmlformats.org/drawingml/2006/main">
            <a:off x="666750" y="1952625"/>
            <a:ext cx="76200" cy="523875"/>
          </a:xfrm>
          <a:prstGeom xmlns:a="http://schemas.openxmlformats.org/drawingml/2006/main" prst="rect">
            <a:avLst/>
          </a:prstGeom>
          <a:solidFill xmlns:a="http://schemas.openxmlformats.org/drawingml/2006/main">
            <a:srgbClr val="00A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F6C469D-DB9C-4053-A3D0-C936D1148DCA}"/>
              </a:ext>
            </a:extLst>
          </p:cNvPr>
          <p:cNvSpPr>
            <a:spLocks xmlns:a="http://schemas.openxmlformats.org/drawingml/2006/main" noGrp="1"/>
          </p:cNvSpPr>
          <p:nvPr/>
        </p:nvSpPr>
        <p:spPr>
          <a:xfrm xmlns:a="http://schemas.openxmlformats.org/drawingml/2006/main">
            <a:off x="942975" y="19526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AEFF"/>
                </a:solidFill>
                <a:latin typeface="Arial"/>
                <a:ea typeface="Arial"/>
                <a:cs typeface="Arial"/>
              </a:defRPr>
            </a:pPr>
            <a:r>
              <a:rPr sz="1125" b="1">
                <a:solidFill>
                  <a:srgbClr val="00AEFF"/>
                </a:solidFill>
                <a:latin typeface="Arial"/>
                <a:ea typeface="Arial"/>
                <a:cs typeface="Arial"/>
              </a:rPr>
              <a:t>BUILD &amp; BOUND</a:t>
            </a:r>
          </a:p>
        </p:txBody>
      </p:sp>
      <p:sp>
        <p:nvSpPr>
          <p:cNvPr id="8" name="">
            <a:extLst xmlns:a="http://schemas.openxmlformats.org/drawingml/2006/main">
              <a:ext uri="{FF2B5EF4-FFF2-40B4-BE49-F238E27FC236}">
                <a16:creationId xmlns:a16="http://schemas.microsoft.com/office/drawing/2014/main" id="{95FBEB16-883A-4ED5-AC25-E57BA5A16835}"/>
              </a:ext>
            </a:extLst>
          </p:cNvPr>
          <p:cNvSpPr>
            <a:spLocks xmlns:a="http://schemas.openxmlformats.org/drawingml/2006/main" noGrp="1"/>
          </p:cNvSpPr>
          <p:nvPr/>
        </p:nvSpPr>
        <p:spPr>
          <a:xfrm xmlns:a="http://schemas.openxmlformats.org/drawingml/2006/main">
            <a:off x="3333750" y="19335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Copilot Studio · Power Platform environments · data policies · connector controls</a:t>
            </a:r>
          </a:p>
        </p:txBody>
      </p:sp>
      <p:sp>
        <p:nvSpPr>
          <p:cNvPr id="9" name="">
            <a:extLst xmlns:a="http://schemas.openxmlformats.org/drawingml/2006/main">
              <a:ext uri="{FF2B5EF4-FFF2-40B4-BE49-F238E27FC236}">
                <a16:creationId xmlns:a16="http://schemas.microsoft.com/office/drawing/2014/main" id="{BF6163F8-50F0-4D6C-A654-3B3286D4B7C5}"/>
              </a:ext>
            </a:extLst>
          </p:cNvPr>
          <p:cNvSpPr>
            <a:spLocks xmlns:a="http://schemas.openxmlformats.org/drawingml/2006/main" noGrp="1"/>
          </p:cNvSpPr>
          <p:nvPr/>
        </p:nvSpPr>
        <p:spPr>
          <a:xfrm xmlns:a="http://schemas.openxmlformats.org/drawingml/2006/main">
            <a:off x="666750" y="2676525"/>
            <a:ext cx="76200" cy="523875"/>
          </a:xfrm>
          <a:prstGeom xmlns:a="http://schemas.openxmlformats.org/drawingml/2006/main" prst="rect">
            <a:avLst/>
          </a:prstGeom>
          <a:solidFill xmlns:a="http://schemas.openxmlformats.org/drawingml/2006/main">
            <a:srgbClr val="7C3A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F19F18-9588-453A-B862-7402ABD2F1E9}"/>
              </a:ext>
            </a:extLst>
          </p:cNvPr>
          <p:cNvSpPr>
            <a:spLocks xmlns:a="http://schemas.openxmlformats.org/drawingml/2006/main" noGrp="1"/>
          </p:cNvSpPr>
          <p:nvPr/>
        </p:nvSpPr>
        <p:spPr>
          <a:xfrm xmlns:a="http://schemas.openxmlformats.org/drawingml/2006/main">
            <a:off x="942975" y="26765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7C3AED"/>
                </a:solidFill>
                <a:latin typeface="Arial"/>
                <a:ea typeface="Arial"/>
                <a:cs typeface="Arial"/>
              </a:defRPr>
            </a:pPr>
            <a:r>
              <a:rPr sz="1125" b="1">
                <a:solidFill>
                  <a:srgbClr val="7C3AED"/>
                </a:solidFill>
                <a:latin typeface="Arial"/>
                <a:ea typeface="Arial"/>
                <a:cs typeface="Arial"/>
              </a:rPr>
              <a:t>IDENTITY &amp; ACCESS</a:t>
            </a:r>
          </a:p>
        </p:txBody>
      </p:sp>
      <p:sp>
        <p:nvSpPr>
          <p:cNvPr id="11" name="">
            <a:extLst xmlns:a="http://schemas.openxmlformats.org/drawingml/2006/main">
              <a:ext uri="{FF2B5EF4-FFF2-40B4-BE49-F238E27FC236}">
                <a16:creationId xmlns:a16="http://schemas.microsoft.com/office/drawing/2014/main" id="{C6301726-5C85-4DC4-8658-32C57F0ADA71}"/>
              </a:ext>
            </a:extLst>
          </p:cNvPr>
          <p:cNvSpPr>
            <a:spLocks xmlns:a="http://schemas.openxmlformats.org/drawingml/2006/main" noGrp="1"/>
          </p:cNvSpPr>
          <p:nvPr/>
        </p:nvSpPr>
        <p:spPr>
          <a:xfrm xmlns:a="http://schemas.openxmlformats.org/drawingml/2006/main">
            <a:off x="3333750" y="26574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Entra Agent ID · owners and sponsors · Conditional Access · lifecycle</a:t>
            </a:r>
          </a:p>
        </p:txBody>
      </p:sp>
      <p:sp>
        <p:nvSpPr>
          <p:cNvPr id="12" name="">
            <a:extLst xmlns:a="http://schemas.openxmlformats.org/drawingml/2006/main">
              <a:ext uri="{FF2B5EF4-FFF2-40B4-BE49-F238E27FC236}">
                <a16:creationId xmlns:a16="http://schemas.microsoft.com/office/drawing/2014/main" id="{DEEF868C-C321-4993-8BEA-8E69AFAF66F0}"/>
              </a:ext>
            </a:extLst>
          </p:cNvPr>
          <p:cNvSpPr>
            <a:spLocks xmlns:a="http://schemas.openxmlformats.org/drawingml/2006/main" noGrp="1"/>
          </p:cNvSpPr>
          <p:nvPr/>
        </p:nvSpPr>
        <p:spPr>
          <a:xfrm xmlns:a="http://schemas.openxmlformats.org/drawingml/2006/main">
            <a:off x="666750" y="3400425"/>
            <a:ext cx="76200" cy="523875"/>
          </a:xfrm>
          <a:prstGeom xmlns:a="http://schemas.openxmlformats.org/drawingml/2006/main" prst="rect">
            <a:avLst/>
          </a:prstGeom>
          <a:solidFill xmlns:a="http://schemas.openxmlformats.org/drawingml/2006/main">
            <a:srgbClr val="00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33E824-9357-41D5-AB42-5DEF2232C69B}"/>
              </a:ext>
            </a:extLst>
          </p:cNvPr>
          <p:cNvSpPr>
            <a:spLocks xmlns:a="http://schemas.openxmlformats.org/drawingml/2006/main" noGrp="1"/>
          </p:cNvSpPr>
          <p:nvPr/>
        </p:nvSpPr>
        <p:spPr>
          <a:xfrm xmlns:a="http://schemas.openxmlformats.org/drawingml/2006/main">
            <a:off x="942975" y="34004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FFFF"/>
                </a:solidFill>
                <a:latin typeface="Arial"/>
                <a:ea typeface="Arial"/>
                <a:cs typeface="Arial"/>
              </a:defRPr>
            </a:pPr>
            <a:r>
              <a:rPr sz="1125" b="1">
                <a:solidFill>
                  <a:srgbClr val="00FFFF"/>
                </a:solidFill>
                <a:latin typeface="Arial"/>
                <a:ea typeface="Arial"/>
                <a:cs typeface="Arial"/>
              </a:rPr>
              <a:t>DATA &amp; PROVENANCE</a:t>
            </a:r>
          </a:p>
        </p:txBody>
      </p:sp>
      <p:sp>
        <p:nvSpPr>
          <p:cNvPr id="14" name="">
            <a:extLst xmlns:a="http://schemas.openxmlformats.org/drawingml/2006/main">
              <a:ext uri="{FF2B5EF4-FFF2-40B4-BE49-F238E27FC236}">
                <a16:creationId xmlns:a16="http://schemas.microsoft.com/office/drawing/2014/main" id="{73D5923D-D5DA-4288-B70A-DC08D95A8ABE}"/>
              </a:ext>
            </a:extLst>
          </p:cNvPr>
          <p:cNvSpPr>
            <a:spLocks xmlns:a="http://schemas.openxmlformats.org/drawingml/2006/main" noGrp="1"/>
          </p:cNvSpPr>
          <p:nvPr/>
        </p:nvSpPr>
        <p:spPr>
          <a:xfrm xmlns:a="http://schemas.openxmlformats.org/drawingml/2006/main">
            <a:off x="3333750" y="33813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Purview · DSPM for AI · DLP and labels · Fabric governance</a:t>
            </a:r>
          </a:p>
        </p:txBody>
      </p:sp>
      <p:sp>
        <p:nvSpPr>
          <p:cNvPr id="15" name="">
            <a:extLst xmlns:a="http://schemas.openxmlformats.org/drawingml/2006/main">
              <a:ext uri="{FF2B5EF4-FFF2-40B4-BE49-F238E27FC236}">
                <a16:creationId xmlns:a16="http://schemas.microsoft.com/office/drawing/2014/main" id="{E1615E6F-7651-449B-A8ED-D21F422AD30D}"/>
              </a:ext>
            </a:extLst>
          </p:cNvPr>
          <p:cNvSpPr>
            <a:spLocks xmlns:a="http://schemas.openxmlformats.org/drawingml/2006/main" noGrp="1"/>
          </p:cNvSpPr>
          <p:nvPr/>
        </p:nvSpPr>
        <p:spPr>
          <a:xfrm xmlns:a="http://schemas.openxmlformats.org/drawingml/2006/main">
            <a:off x="666750" y="4124325"/>
            <a:ext cx="76200" cy="523875"/>
          </a:xfrm>
          <a:prstGeom xmlns:a="http://schemas.openxmlformats.org/drawingml/2006/main" prst="rect">
            <a:avLst/>
          </a:prstGeom>
          <a:solidFill xmlns:a="http://schemas.openxmlformats.org/drawingml/2006/main">
            <a:srgbClr val="E5484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9BD9C6D-6981-4036-A28A-0A1F1BCF2845}"/>
              </a:ext>
            </a:extLst>
          </p:cNvPr>
          <p:cNvSpPr>
            <a:spLocks xmlns:a="http://schemas.openxmlformats.org/drawingml/2006/main" noGrp="1"/>
          </p:cNvSpPr>
          <p:nvPr/>
        </p:nvSpPr>
        <p:spPr>
          <a:xfrm xmlns:a="http://schemas.openxmlformats.org/drawingml/2006/main">
            <a:off x="942975" y="41243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E5484D"/>
                </a:solidFill>
                <a:latin typeface="Arial"/>
                <a:ea typeface="Arial"/>
                <a:cs typeface="Arial"/>
              </a:defRPr>
            </a:pPr>
            <a:r>
              <a:rPr sz="1125" b="1">
                <a:solidFill>
                  <a:srgbClr val="E5484D"/>
                </a:solidFill>
                <a:latin typeface="Arial"/>
                <a:ea typeface="Arial"/>
                <a:cs typeface="Arial"/>
              </a:rPr>
              <a:t>DETECT &amp; RESPOND</a:t>
            </a:r>
          </a:p>
        </p:txBody>
      </p:sp>
      <p:sp>
        <p:nvSpPr>
          <p:cNvPr id="17" name="">
            <a:extLst xmlns:a="http://schemas.openxmlformats.org/drawingml/2006/main">
              <a:ext uri="{FF2B5EF4-FFF2-40B4-BE49-F238E27FC236}">
                <a16:creationId xmlns:a16="http://schemas.microsoft.com/office/drawing/2014/main" id="{C063A5C5-5E84-4D66-8053-8500B4772E4A}"/>
              </a:ext>
            </a:extLst>
          </p:cNvPr>
          <p:cNvSpPr>
            <a:spLocks xmlns:a="http://schemas.openxmlformats.org/drawingml/2006/main" noGrp="1"/>
          </p:cNvSpPr>
          <p:nvPr/>
        </p:nvSpPr>
        <p:spPr>
          <a:xfrm xmlns:a="http://schemas.openxmlformats.org/drawingml/2006/main">
            <a:off x="3333750" y="41052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Microsoft Defender XDR · Microsoft Sentinel · audit and investigation</a:t>
            </a:r>
          </a:p>
        </p:txBody>
      </p:sp>
      <p:sp>
        <p:nvSpPr>
          <p:cNvPr id="18" name="">
            <a:extLst xmlns:a="http://schemas.openxmlformats.org/drawingml/2006/main">
              <a:ext uri="{FF2B5EF4-FFF2-40B4-BE49-F238E27FC236}">
                <a16:creationId xmlns:a16="http://schemas.microsoft.com/office/drawing/2014/main" id="{8610078F-4C84-4CB0-B3AA-CE05D22F7788}"/>
              </a:ext>
            </a:extLst>
          </p:cNvPr>
          <p:cNvSpPr>
            <a:spLocks xmlns:a="http://schemas.openxmlformats.org/drawingml/2006/main" noGrp="1"/>
          </p:cNvSpPr>
          <p:nvPr/>
        </p:nvSpPr>
        <p:spPr>
          <a:xfrm xmlns:a="http://schemas.openxmlformats.org/drawingml/2006/main">
            <a:off x="666750" y="4848225"/>
            <a:ext cx="76200" cy="523875"/>
          </a:xfrm>
          <a:prstGeom xmlns:a="http://schemas.openxmlformats.org/drawingml/2006/main" prst="rect">
            <a:avLst/>
          </a:prstGeom>
          <a:solidFill xmlns:a="http://schemas.openxmlformats.org/drawingml/2006/main">
            <a:srgbClr val="007BC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30EB084-5D3D-42FF-AA5A-1C1005EAEC2B}"/>
              </a:ext>
            </a:extLst>
          </p:cNvPr>
          <p:cNvSpPr>
            <a:spLocks xmlns:a="http://schemas.openxmlformats.org/drawingml/2006/main" noGrp="1"/>
          </p:cNvSpPr>
          <p:nvPr/>
        </p:nvSpPr>
        <p:spPr>
          <a:xfrm xmlns:a="http://schemas.openxmlformats.org/drawingml/2006/main">
            <a:off x="942975" y="48482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125" b="1">
                <a:solidFill>
                  <a:srgbClr val="007BC3"/>
                </a:solidFill>
                <a:latin typeface="Arial"/>
                <a:ea typeface="Arial"/>
                <a:cs typeface="Arial"/>
              </a:defRPr>
            </a:pPr>
            <a:r>
              <a:rPr sz="1125" b="1">
                <a:solidFill>
                  <a:srgbClr val="007BC3"/>
                </a:solidFill>
                <a:latin typeface="Arial"/>
                <a:ea typeface="Arial"/>
                <a:cs typeface="Arial"/>
              </a:rPr>
              <a:t>CROSS-ESTATE CONTROL</a:t>
            </a:r>
          </a:p>
        </p:txBody>
      </p:sp>
      <p:sp>
        <p:nvSpPr>
          <p:cNvPr id="20" name="">
            <a:extLst xmlns:a="http://schemas.openxmlformats.org/drawingml/2006/main">
              <a:ext uri="{FF2B5EF4-FFF2-40B4-BE49-F238E27FC236}">
                <a16:creationId xmlns:a16="http://schemas.microsoft.com/office/drawing/2014/main" id="{712267E4-C1E4-4565-82EF-B99001672B0B}"/>
              </a:ext>
            </a:extLst>
          </p:cNvPr>
          <p:cNvSpPr>
            <a:spLocks xmlns:a="http://schemas.openxmlformats.org/drawingml/2006/main" noGrp="1"/>
          </p:cNvSpPr>
          <p:nvPr/>
        </p:nvSpPr>
        <p:spPr>
          <a:xfrm xmlns:a="http://schemas.openxmlformats.org/drawingml/2006/main">
            <a:off x="3333750" y="4829175"/>
            <a:ext cx="790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Agent 365 and Copilot Control System · inventory · policy · measurement</a:t>
            </a:r>
          </a:p>
        </p:txBody>
      </p:sp>
      <p:sp>
        <p:nvSpPr>
          <p:cNvPr id="21" name="">
            <a:extLst xmlns:a="http://schemas.openxmlformats.org/drawingml/2006/main">
              <a:ext uri="{FF2B5EF4-FFF2-40B4-BE49-F238E27FC236}">
                <a16:creationId xmlns:a16="http://schemas.microsoft.com/office/drawing/2014/main" id="{FC6583C1-C105-4D0E-B510-DC578141AB63}"/>
              </a:ext>
            </a:extLst>
          </p:cNvPr>
          <p:cNvSpPr>
            <a:spLocks xmlns:a="http://schemas.openxmlformats.org/drawingml/2006/main" noGrp="1"/>
          </p:cNvSpPr>
          <p:nvPr/>
        </p:nvSpPr>
        <p:spPr>
          <a:xfrm xmlns:a="http://schemas.openxmlformats.org/drawingml/2006/main">
            <a:off x="7981950" y="6191250"/>
            <a:ext cx="3276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0">
                <a:solidFill>
                  <a:srgbClr val="9AA7B5"/>
                </a:solidFill>
                <a:latin typeface="Arial"/>
                <a:ea typeface="Arial"/>
                <a:cs typeface="Arial"/>
              </a:defRPr>
            </a:pPr>
            <a:r>
              <a:rPr sz="975" b="0">
                <a:solidFill>
                  <a:srgbClr val="9AA7B5"/>
                </a:solidFill>
                <a:latin typeface="Arial"/>
                <a:ea typeface="Arial"/>
                <a:cs typeface="Arial"/>
              </a:rPr>
              <a:t>Capability map, not a complete target architecture</a:t>
            </a:r>
          </a:p>
        </p:txBody>
      </p:sp>
    </p:spTree>
    <p:extLst>
      <p:ext uri="{BB962C8B-B14F-4D97-AF65-F5344CB8AC3E}">
        <p14:creationId xmlns:p14="http://schemas.microsoft.com/office/powerpoint/2010/main" val="1769372002"/>
      </p:ext>
    </p:extLst>
  </p:cSld>
</p:sld>
</file>

<file path=ppt/slides/slide15.xml><?xml version="1.0" encoding="utf-8"?>
<p:sld xmlns:p="http://schemas.openxmlformats.org/presentationml/2006/main">
  <p:cSld>
    <p:bg>
      <p:bgPr>
        <a:solidFill xmlns:a="http://schemas.openxmlformats.org/drawingml/2006/main">
          <a:srgbClr val="0000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E3ED729-4FD8-4D61-810C-8619230DC9A9}"/>
              </a:ext>
            </a:extLst>
          </p:cNvPr>
          <p:cNvSpPr>
            <a:spLocks xmlns:a="http://schemas.openxmlformats.org/drawingml/2006/main" noGrp="1"/>
          </p:cNvSpPr>
          <p:nvPr/>
        </p:nvSpPr>
        <p:spPr>
          <a:xfrm xmlns:a="http://schemas.openxmlformats.org/drawingml/2006/main">
            <a:off x="609600" y="2667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975" b="1">
                <a:solidFill>
                  <a:srgbClr val="78DCFF"/>
                </a:solidFill>
                <a:latin typeface="Arial"/>
                <a:ea typeface="Arial"/>
                <a:cs typeface="Arial"/>
              </a:defRPr>
            </a:pPr>
            <a:r>
              <a:rPr sz="975" b="1">
                <a:solidFill>
                  <a:srgbClr val="78DCFF"/>
                </a:solidFill>
                <a:latin typeface="Arial"/>
                <a:ea typeface="Arial"/>
                <a:cs typeface="Arial"/>
              </a:rPr>
              <a:t>THE CLOSE</a:t>
            </a:r>
          </a:p>
        </p:txBody>
      </p:sp>
      <p:sp>
        <p:nvSpPr>
          <p:cNvPr id="2" name="">
            <a:extLst xmlns:a="http://schemas.openxmlformats.org/drawingml/2006/main">
              <a:ext uri="{FF2B5EF4-FFF2-40B4-BE49-F238E27FC236}">
                <a16:creationId xmlns:a16="http://schemas.microsoft.com/office/drawing/2014/main" id="{1DDD29A9-C1D9-4F14-A833-3DDC85B7234A}"/>
              </a:ext>
            </a:extLst>
          </p:cNvPr>
          <p:cNvSpPr>
            <a:spLocks xmlns:a="http://schemas.openxmlformats.org/drawingml/2006/main" noGrp="1"/>
          </p:cNvSpPr>
          <p:nvPr/>
        </p:nvSpPr>
        <p:spPr>
          <a:xfrm xmlns:a="http://schemas.openxmlformats.org/drawingml/2006/main">
            <a:off x="60960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3000" b="1">
                <a:solidFill>
                  <a:srgbClr val="FFFFFF"/>
                </a:solidFill>
                <a:latin typeface="Arial"/>
                <a:ea typeface="Arial"/>
                <a:cs typeface="Arial"/>
              </a:defRPr>
            </a:pPr>
            <a:r>
              <a:rPr sz="3000" b="1">
                <a:solidFill>
                  <a:srgbClr val="FFFFFF"/>
                </a:solidFill>
                <a:latin typeface="Arial"/>
                <a:ea typeface="Arial"/>
                <a:cs typeface="Arial"/>
              </a:rPr>
              <a:t>Before the agent earns authority</a:t>
            </a:r>
          </a:p>
        </p:txBody>
      </p:sp>
      <p:sp>
        <p:nvSpPr>
          <p:cNvPr id="3" name="">
            <a:extLst xmlns:a="http://schemas.openxmlformats.org/drawingml/2006/main">
              <a:ext uri="{FF2B5EF4-FFF2-40B4-BE49-F238E27FC236}">
                <a16:creationId xmlns:a16="http://schemas.microsoft.com/office/drawing/2014/main" id="{ACFDF430-6A60-4820-A50B-BBDCA8AFE988}"/>
              </a:ext>
            </a:extLst>
          </p:cNvPr>
          <p:cNvSpPr>
            <a:spLocks xmlns:a="http://schemas.openxmlformats.org/drawingml/2006/main" noGrp="1"/>
          </p:cNvSpPr>
          <p:nvPr/>
        </p:nvSpPr>
        <p:spPr>
          <a:xfrm xmlns:a="http://schemas.openxmlformats.org/drawingml/2006/main">
            <a:off x="609600" y="1104900"/>
            <a:ext cx="10953750" cy="9525"/>
          </a:xfrm>
          <a:prstGeom xmlns:a="http://schemas.openxmlformats.org/drawingml/2006/main" prst="line">
            <a:avLst/>
          </a:prstGeom>
          <a:noFill xmlns:a="http://schemas.openxmlformats.org/drawingml/2006/main"/>
          <a:ln xmlns:a="http://schemas.openxmlformats.org/drawingml/2006/main" w="9525">
            <a:solidFill>
              <a:srgbClr val="1E3A5F"/>
            </a:solidFill>
            <a:prstDash val="solid"/>
          </a:ln>
        </p:spPr>
      </p:sp>
      <p:sp>
        <p:nvSpPr>
          <p:cNvPr id="4" name="">
            <a:extLst xmlns:a="http://schemas.openxmlformats.org/drawingml/2006/main">
              <a:ext uri="{FF2B5EF4-FFF2-40B4-BE49-F238E27FC236}">
                <a16:creationId xmlns:a16="http://schemas.microsoft.com/office/drawing/2014/main" id="{64FBA600-9E23-418C-8C52-F9466F8CC786}"/>
              </a:ext>
            </a:extLst>
          </p:cNvPr>
          <p:cNvSpPr>
            <a:spLocks xmlns:a="http://schemas.openxmlformats.org/drawingml/2006/main" noGrp="1"/>
          </p:cNvSpPr>
          <p:nvPr/>
        </p:nvSpPr>
        <p:spPr>
          <a:xfrm xmlns:a="http://schemas.openxmlformats.org/drawingml/2006/main">
            <a:off x="11268075" y="649605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825" b="0">
                <a:solidFill>
                  <a:srgbClr val="9AA7B5"/>
                </a:solidFill>
                <a:latin typeface="Arial"/>
                <a:ea typeface="Arial"/>
                <a:cs typeface="Arial"/>
              </a:defRPr>
            </a:pPr>
            <a:r>
              <a:rPr sz="825" b="0">
                <a:solidFill>
                  <a:srgbClr val="9AA7B5"/>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FA2E6354-9462-4DA6-AC80-29AB31847A80}"/>
              </a:ext>
            </a:extLst>
          </p:cNvPr>
          <p:cNvSpPr>
            <a:spLocks xmlns:a="http://schemas.openxmlformats.org/drawingml/2006/main" noGrp="1"/>
          </p:cNvSpPr>
          <p:nvPr/>
        </p:nvSpPr>
        <p:spPr>
          <a:xfrm xmlns:a="http://schemas.openxmlformats.org/drawingml/2006/main">
            <a:off x="685800" y="14287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3A1D6EE-A0B6-49BD-98E2-F6834528B8A8}"/>
              </a:ext>
            </a:extLst>
          </p:cNvPr>
          <p:cNvSpPr>
            <a:spLocks xmlns:a="http://schemas.openxmlformats.org/drawingml/2006/main" noGrp="1"/>
          </p:cNvSpPr>
          <p:nvPr/>
        </p:nvSpPr>
        <p:spPr>
          <a:xfrm xmlns:a="http://schemas.openxmlformats.org/drawingml/2006/main">
            <a:off x="1238250" y="13620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What may it read, decide and change without a person?</a:t>
            </a:r>
          </a:p>
        </p:txBody>
      </p:sp>
      <p:sp>
        <p:nvSpPr>
          <p:cNvPr id="7" name="">
            <a:extLst xmlns:a="http://schemas.openxmlformats.org/drawingml/2006/main">
              <a:ext uri="{FF2B5EF4-FFF2-40B4-BE49-F238E27FC236}">
                <a16:creationId xmlns:a16="http://schemas.microsoft.com/office/drawing/2014/main" id="{44B69DB4-04DB-45FF-A7ED-CA7AB06B0FFD}"/>
              </a:ext>
            </a:extLst>
          </p:cNvPr>
          <p:cNvSpPr>
            <a:spLocks xmlns:a="http://schemas.openxmlformats.org/drawingml/2006/main" noGrp="1"/>
          </p:cNvSpPr>
          <p:nvPr/>
        </p:nvSpPr>
        <p:spPr>
          <a:xfrm xmlns:a="http://schemas.openxmlformats.org/drawingml/2006/main">
            <a:off x="685800" y="21621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BC2224F-A326-4C99-A62E-7EF70F958731}"/>
              </a:ext>
            </a:extLst>
          </p:cNvPr>
          <p:cNvSpPr>
            <a:spLocks xmlns:a="http://schemas.openxmlformats.org/drawingml/2006/main" noGrp="1"/>
          </p:cNvSpPr>
          <p:nvPr/>
        </p:nvSpPr>
        <p:spPr>
          <a:xfrm xmlns:a="http://schemas.openxmlformats.org/drawingml/2006/main">
            <a:off x="1238250" y="2095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Which identity acts - and can we disable it without stopping something else?</a:t>
            </a:r>
          </a:p>
        </p:txBody>
      </p:sp>
      <p:sp>
        <p:nvSpPr>
          <p:cNvPr id="9" name="">
            <a:extLst xmlns:a="http://schemas.openxmlformats.org/drawingml/2006/main">
              <a:ext uri="{FF2B5EF4-FFF2-40B4-BE49-F238E27FC236}">
                <a16:creationId xmlns:a16="http://schemas.microsoft.com/office/drawing/2014/main" id="{468CC401-3350-40D9-969B-2B5C785E6BE3}"/>
              </a:ext>
            </a:extLst>
          </p:cNvPr>
          <p:cNvSpPr>
            <a:spLocks xmlns:a="http://schemas.openxmlformats.org/drawingml/2006/main" noGrp="1"/>
          </p:cNvSpPr>
          <p:nvPr/>
        </p:nvSpPr>
        <p:spPr>
          <a:xfrm xmlns:a="http://schemas.openxmlformats.org/drawingml/2006/main">
            <a:off x="685800" y="2895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4BA6593-B486-464F-B432-95635E101132}"/>
              </a:ext>
            </a:extLst>
          </p:cNvPr>
          <p:cNvSpPr>
            <a:spLocks xmlns:a="http://schemas.openxmlformats.org/drawingml/2006/main" noGrp="1"/>
          </p:cNvSpPr>
          <p:nvPr/>
        </p:nvSpPr>
        <p:spPr>
          <a:xfrm xmlns:a="http://schemas.openxmlformats.org/drawingml/2006/main">
            <a:off x="1238250" y="282892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Can we reconstruct why it acted, not just which API it called?</a:t>
            </a:r>
          </a:p>
        </p:txBody>
      </p:sp>
      <p:sp>
        <p:nvSpPr>
          <p:cNvPr id="11" name="">
            <a:extLst xmlns:a="http://schemas.openxmlformats.org/drawingml/2006/main">
              <a:ext uri="{FF2B5EF4-FFF2-40B4-BE49-F238E27FC236}">
                <a16:creationId xmlns:a16="http://schemas.microsoft.com/office/drawing/2014/main" id="{3A7B4DFE-0F8B-4C94-B0CD-C77B3786DC93}"/>
              </a:ext>
            </a:extLst>
          </p:cNvPr>
          <p:cNvSpPr>
            <a:spLocks xmlns:a="http://schemas.openxmlformats.org/drawingml/2006/main" noGrp="1"/>
          </p:cNvSpPr>
          <p:nvPr/>
        </p:nvSpPr>
        <p:spPr>
          <a:xfrm xmlns:a="http://schemas.openxmlformats.org/drawingml/2006/main">
            <a:off x="685800" y="3629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00AEFF"/>
                </a:solidFill>
                <a:latin typeface="Arial"/>
                <a:ea typeface="Arial"/>
                <a:cs typeface="Arial"/>
              </a:defRPr>
            </a:pPr>
            <a:r>
              <a:rPr sz="1200" b="1">
                <a:solidFill>
                  <a:srgbClr val="00AEFF"/>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AF34BBF0-783F-489E-979B-1C0B93158640}"/>
              </a:ext>
            </a:extLst>
          </p:cNvPr>
          <p:cNvSpPr>
            <a:spLocks xmlns:a="http://schemas.openxmlformats.org/drawingml/2006/main" noGrp="1"/>
          </p:cNvSpPr>
          <p:nvPr/>
        </p:nvSpPr>
        <p:spPr>
          <a:xfrm xmlns:a="http://schemas.openxmlformats.org/drawingml/2006/main">
            <a:off x="1238250" y="35623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Who may contain it, notify stakeholders and authorise restart?</a:t>
            </a:r>
          </a:p>
        </p:txBody>
      </p:sp>
      <p:sp>
        <p:nvSpPr>
          <p:cNvPr id="13" name="">
            <a:extLst xmlns:a="http://schemas.openxmlformats.org/drawingml/2006/main">
              <a:ext uri="{FF2B5EF4-FFF2-40B4-BE49-F238E27FC236}">
                <a16:creationId xmlns:a16="http://schemas.microsoft.com/office/drawing/2014/main" id="{9FC8B97D-D405-4C5C-9E8B-32955772C039}"/>
              </a:ext>
            </a:extLst>
          </p:cNvPr>
          <p:cNvSpPr>
            <a:spLocks xmlns:a="http://schemas.openxmlformats.org/drawingml/2006/main" noGrp="1"/>
          </p:cNvSpPr>
          <p:nvPr/>
        </p:nvSpPr>
        <p:spPr>
          <a:xfrm xmlns:a="http://schemas.openxmlformats.org/drawingml/2006/main">
            <a:off x="685800" y="43624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E5484D"/>
                </a:solidFill>
                <a:latin typeface="Arial"/>
                <a:ea typeface="Arial"/>
                <a:cs typeface="Arial"/>
              </a:defRPr>
            </a:pPr>
            <a:r>
              <a:rPr sz="1200" b="1">
                <a:solidFill>
                  <a:srgbClr val="E5484D"/>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390951BB-679E-4250-B37A-3080EE834392}"/>
              </a:ext>
            </a:extLst>
          </p:cNvPr>
          <p:cNvSpPr>
            <a:spLocks xmlns:a="http://schemas.openxmlformats.org/drawingml/2006/main" noGrp="1"/>
          </p:cNvSpPr>
          <p:nvPr/>
        </p:nvSpPr>
        <p:spPr>
          <a:xfrm xmlns:a="http://schemas.openxmlformats.org/drawingml/2006/main">
            <a:off x="1238250" y="42957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800" b="1">
                <a:solidFill>
                  <a:srgbClr val="FFFFFF"/>
                </a:solidFill>
                <a:latin typeface="Arial"/>
                <a:ea typeface="Arial"/>
                <a:cs typeface="Arial"/>
              </a:defRPr>
            </a:pPr>
            <a:r>
              <a:rPr sz="1800" b="1">
                <a:solidFill>
                  <a:srgbClr val="FFFFFF"/>
                </a:solidFill>
                <a:latin typeface="Arial"/>
                <a:ea typeface="Arial"/>
                <a:cs typeface="Arial"/>
              </a:rPr>
              <a:t>What evidence and controls must exist before its authority expands?</a:t>
            </a:r>
          </a:p>
        </p:txBody>
      </p:sp>
      <p:sp>
        <p:nvSpPr>
          <p:cNvPr id="15" name="">
            <a:extLst xmlns:a="http://schemas.openxmlformats.org/drawingml/2006/main">
              <a:ext uri="{FF2B5EF4-FFF2-40B4-BE49-F238E27FC236}">
                <a16:creationId xmlns:a16="http://schemas.microsoft.com/office/drawing/2014/main" id="{939214C2-5D90-4BFC-8D27-9C5958A2AA12}"/>
              </a:ext>
            </a:extLst>
          </p:cNvPr>
          <p:cNvSpPr>
            <a:spLocks xmlns:a="http://schemas.openxmlformats.org/drawingml/2006/main" noGrp="1"/>
          </p:cNvSpPr>
          <p:nvPr/>
        </p:nvSpPr>
        <p:spPr>
          <a:xfrm xmlns:a="http://schemas.openxmlformats.org/drawingml/2006/main">
            <a:off x="666750" y="5391150"/>
            <a:ext cx="10572750" cy="723900"/>
          </a:xfrm>
          <a:prstGeom xmlns:a="http://schemas.openxmlformats.org/drawingml/2006/main" prst="roundRect">
            <a:avLst>
              <a:gd name="adj" fmla="val 10526"/>
            </a:avLst>
          </a:prstGeom>
          <a:solidFill xmlns:a="http://schemas.openxmlformats.org/drawingml/2006/main">
            <a:srgbClr val="0B2448"/>
          </a:solidFill>
          <a:ln xmlns:a="http://schemas.openxmlformats.org/drawingml/2006/main" w="9525">
            <a:solidFill>
              <a:srgbClr val="25466E"/>
            </a:solidFill>
            <a:prstDash val="solid"/>
          </a:ln>
        </p:spPr>
      </p:sp>
      <p:sp>
        <p:nvSpPr>
          <p:cNvPr id="16" name="">
            <a:extLst xmlns:a="http://schemas.openxmlformats.org/drawingml/2006/main">
              <a:ext uri="{FF2B5EF4-FFF2-40B4-BE49-F238E27FC236}">
                <a16:creationId xmlns:a16="http://schemas.microsoft.com/office/drawing/2014/main" id="{37F518E6-0DA4-4880-8A73-B6CA49F5A691}"/>
              </a:ext>
            </a:extLst>
          </p:cNvPr>
          <p:cNvSpPr>
            <a:spLocks xmlns:a="http://schemas.openxmlformats.org/drawingml/2006/main" noGrp="1"/>
          </p:cNvSpPr>
          <p:nvPr/>
        </p:nvSpPr>
        <p:spPr>
          <a:xfrm xmlns:a="http://schemas.openxmlformats.org/drawingml/2006/main">
            <a:off x="895350" y="556260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800" b="1">
                <a:solidFill>
                  <a:srgbClr val="00FFFF"/>
                </a:solidFill>
                <a:latin typeface="Arial"/>
                <a:ea typeface="Arial"/>
                <a:cs typeface="Arial"/>
              </a:defRPr>
            </a:pPr>
            <a:r>
              <a:rPr sz="1800" b="1">
                <a:solidFill>
                  <a:srgbClr val="00FFFF"/>
                </a:solidFill>
                <a:latin typeface="Arial"/>
                <a:ea typeface="Arial"/>
                <a:cs typeface="Arial"/>
              </a:rPr>
              <a:t>The agent can act in seconds. Can your organisation decide in time?</a:t>
            </a:r>
          </a:p>
        </p:txBody>
      </p:sp>
    </p:spTree>
    <p:extLst>
      <p:ext uri="{BB962C8B-B14F-4D97-AF65-F5344CB8AC3E}">
        <p14:creationId xmlns:p14="http://schemas.microsoft.com/office/powerpoint/2010/main" val="770831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2026-09-04T11:50:55.1590000Z</dcterms:created>
  <dcterms:modified xsi:type="dcterms:W3CDTF">2026-09-04T11:50:55.1590000Z</dcterms:modified>
</coreProperties>
</file>