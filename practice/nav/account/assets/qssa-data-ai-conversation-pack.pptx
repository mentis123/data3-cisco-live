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3ab2d066a84bf2" /><Relationship Type="http://schemas.openxmlformats.org/officeDocument/2006/relationships/extended-properties" Target="/docProps/app.xml" Id="Rb48f542adff2464a" /><Relationship Type="http://schemas.openxmlformats.org/officeDocument/2006/relationships/officeDocument" Target="/ppt/presentation.xml" Id="R524225a638d749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7fdd7bfde64fec"/>
  </p:sldMasterIdLst>
  <p:notesMasterIdLst>
    <p:notesMasterId xmlns:r="http://schemas.openxmlformats.org/officeDocument/2006/relationships" r:id="R23fbea666ece4ebb"/>
  </p:notesMasterIdLst>
  <p:sldIdLst>
    <p:sldId xmlns:r="http://schemas.openxmlformats.org/officeDocument/2006/relationships" id="256" r:id="Raa89018fca634c6e"/>
    <p:sldId xmlns:r="http://schemas.openxmlformats.org/officeDocument/2006/relationships" id="257" r:id="Rc0838f8e56f443f5"/>
    <p:sldId xmlns:r="http://schemas.openxmlformats.org/officeDocument/2006/relationships" id="258" r:id="R55a7f2f98c524b84"/>
    <p:sldId xmlns:r="http://schemas.openxmlformats.org/officeDocument/2006/relationships" id="259" r:id="Rfa49c7d103004f36"/>
    <p:sldId xmlns:r="http://schemas.openxmlformats.org/officeDocument/2006/relationships" id="260" r:id="Rf44880998e9240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f1b338c5e64130" /><Relationship Type="http://schemas.openxmlformats.org/officeDocument/2006/relationships/slideMaster" Target="/ppt/slideMasters/slideMaster1.xml" Id="R347fdd7bfde64fec" /><Relationship Type="http://schemas.openxmlformats.org/officeDocument/2006/relationships/notesMaster" Target="/ppt/notesMasters/notesMaster1.xml" Id="R23fbea666ece4ebb" /><Relationship Type="http://schemas.openxmlformats.org/officeDocument/2006/relationships/presProps" Target="/ppt/presProps.xml" Id="R64a16a132f1a4e87" /><Relationship Type="http://schemas.openxmlformats.org/officeDocument/2006/relationships/tableStyles" Target="/ppt/tableStyles.xml" Id="R25cbd912927c44f8" /><Relationship Type="http://schemas.openxmlformats.org/officeDocument/2006/relationships/slide" Target="/ppt/slides/slide1.xml" Id="Raa89018fca634c6e" /><Relationship Type="http://schemas.openxmlformats.org/officeDocument/2006/relationships/slide" Target="/ppt/slides/slide2.xml" Id="Rc0838f8e56f443f5" /><Relationship Type="http://schemas.openxmlformats.org/officeDocument/2006/relationships/slide" Target="/ppt/slides/slide3.xml" Id="R55a7f2f98c524b84" /><Relationship Type="http://schemas.openxmlformats.org/officeDocument/2006/relationships/slide" Target="/ppt/slides/slide4.xml" Id="Rfa49c7d103004f36" /><Relationship Type="http://schemas.openxmlformats.org/officeDocument/2006/relationships/slide" Target="/ppt/slides/slide5.xml" Id="Rf44880998e9240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11034ccceb43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7d72bee2c84983" /><Relationship Type="http://schemas.openxmlformats.org/officeDocument/2006/relationships/notesMaster" Target="/ppt/notesMasters/notesMaster1.xml" Id="Raf780c5807ee41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413e4cfa2e44c0" /><Relationship Type="http://schemas.openxmlformats.org/officeDocument/2006/relationships/notesMaster" Target="/ppt/notesMasters/notesMaster1.xml" Id="R2e298a0111904b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6e90acea4b4b7b" /><Relationship Type="http://schemas.openxmlformats.org/officeDocument/2006/relationships/notesMaster" Target="/ppt/notesMasters/notesMaster1.xml" Id="Rd479162b1f5a49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cbae46cd8a4835" /><Relationship Type="http://schemas.openxmlformats.org/officeDocument/2006/relationships/notesMaster" Target="/ppt/notesMasters/notesMaster1.xml" Id="R91c23e61e2194e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d02ec9b53d4f8d" /><Relationship Type="http://schemas.openxmlformats.org/officeDocument/2006/relationships/notesMaster" Target="/ppt/notesMasters/notesMaster1.xml" Id="R3e7ce698833b41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intent: frame the opportunity around decisions and operating ownership—not a product pitch.</a:t>
            </a:r>
          </a:p>
          <a:p xmlns:a="http://schemas.openxmlformats.org/drawingml/2006/main">
            <a:r>
              <a:t>Use the opener from the pocket brief, then pause for the customer’s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Salesforce account plan and renewal record; synthetic SharePoint delivery report and account search; SolCat canonical catalogue mapping; Sid recognised content routes.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Problem: ownership and reporting are fragmented across agencies.</a:t>
            </a:r>
          </a:p>
          <a:p xmlns:a="http://schemas.openxmlformats.org/drawingml/2006/main">
            <a:r>
              <a:t>Impact: governance and AI work risks being repeated rather than reused.</a:t>
            </a:r>
          </a:p>
          <a:p xmlns:a="http://schemas.openxmlformats.org/drawingml/2006/main">
            <a:r>
              <a:t>Why now: renewal planning and an expanding shared-services remit create a legitimate decision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Salesforce account plan and renewal record; synthetic SharePoint delivery report and account search; SolCat canonical catalogue mapping; Sid recognised content routes.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Desired outcome: describe the future state in customer language.</a:t>
            </a:r>
          </a:p>
          <a:p xmlns:a="http://schemas.openxmlformats.org/drawingml/2006/main">
            <a:r>
              <a:t>Keep this solution-neutral. The point is a repeatable decision and governance model across participating agencies.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Salesforce account plan and renewal record; synthetic SharePoint delivery report and account search; SolCat canonical catalogue mapping; Sid recognised content routes.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Approach: organise the journey as ownership, value, and trust.</a:t>
            </a:r>
          </a:p>
          <a:p xmlns:a="http://schemas.openxmlformats.org/drawingml/2006/main">
            <a:r>
              <a:t>Supporting detail: connect to canonical offers only after the customer has validated the decisions and evidence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Salesforce account plan and renewal record; synthetic SharePoint delivery report and account search; SolCat canonical catalogue mapping; Sid recognised content routes.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Recommendation: position Committed Capacity as the model to validate, not as a foregone conclusion.</a:t>
            </a:r>
          </a:p>
          <a:p xmlns:a="http://schemas.openxmlformats.org/drawingml/2006/main">
            <a:r>
              <a:t>It fits the recurring, cross-agency backlog and the need for multidisciplinary sprints.</a:t>
            </a:r>
          </a:p>
          <a:p xmlns:a="http://schemas.openxmlformats.org/drawingml/2006/main">
            <a:r>
              <a:t>Use Entitled Drawdown if demand remains episodic. Move to Standing Service only when a live estate requires always-on operation.</a:t>
            </a:r>
          </a:p>
          <a:p xmlns:a="http://schemas.openxmlformats.org/drawingml/2006/main">
            <a:r>
              <a:t>Ask: confirm sustained demand, sponsorship, backlog ownership, and cadence before proposing the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Salesforce account plan and renewal record; synthetic SharePoint delivery report and account search; SolCat canonical catalogue mapping; Sid recognised content routes.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c9de9fe054f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75166ade944445" /><Relationship Type="http://schemas.openxmlformats.org/officeDocument/2006/relationships/slideLayout" Target="/ppt/slideLayouts/slideLayout1.xml" Id="R29231ec1362847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231ec1362847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073bf70e74915" /><Relationship Type="http://schemas.openxmlformats.org/officeDocument/2006/relationships/notesSlide" Target="/ppt/notesSlides/notesSlide1.xml" Id="R94691d5e82c848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d52545144449d" /><Relationship Type="http://schemas.openxmlformats.org/officeDocument/2006/relationships/notesSlide" Target="/ppt/notesSlides/notesSlide2.xml" Id="R36d9f6823aa64b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c628ccbba43df" /><Relationship Type="http://schemas.openxmlformats.org/officeDocument/2006/relationships/notesSlide" Target="/ppt/notesSlides/notesSlide3.xml" Id="R9a3b903f36f244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10995d3dc4ede" /><Relationship Type="http://schemas.openxmlformats.org/officeDocument/2006/relationships/notesSlide" Target="/ppt/notesSlides/notesSlide4.xml" Id="Rea6d2407704443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1eba1ea664951" /><Relationship Type="http://schemas.openxmlformats.org/officeDocument/2006/relationships/notesSlide" Target="/ppt/notesSlides/notesSlide5.xml" Id="R56cb86808db643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-data-1">
            <a:extLst xmlns:a="http://schemas.openxmlformats.org/drawingml/2006/main">
              <a:ext uri="{FF2B5EF4-FFF2-40B4-BE49-F238E27FC236}">
                <a16:creationId xmlns:a16="http://schemas.microsoft.com/office/drawing/2014/main" id="{258426B8-9621-4A17-9844-6758D746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81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" name="brand-hash-1">
            <a:extLst xmlns:a="http://schemas.openxmlformats.org/drawingml/2006/main">
              <a:ext uri="{FF2B5EF4-FFF2-40B4-BE49-F238E27FC236}">
                <a16:creationId xmlns:a16="http://schemas.microsoft.com/office/drawing/2014/main" id="{5E1C12D7-C379-4E2C-A2A2-0373B0FE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905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EFF"/>
                </a:solidFill>
              </a:defRPr>
            </a:pPr>
            <a:r>
              <a:rPr sz="825" b="1">
                <a:solidFill>
                  <a:srgbClr val="00AEFF"/>
                </a:solidFill>
              </a:rPr>
              <a:t>#</a:t>
            </a:r>
          </a:p>
        </p:txBody>
      </p:sp>
      <p:sp>
        <p:nvSpPr>
          <p:cNvPr id="3" name="brand-three-1">
            <a:extLst xmlns:a="http://schemas.openxmlformats.org/drawingml/2006/main">
              <a:ext uri="{FF2B5EF4-FFF2-40B4-BE49-F238E27FC236}">
                <a16:creationId xmlns:a16="http://schemas.microsoft.com/office/drawing/2014/main" id="{D18F2C13-9004-4375-AB11-284827D2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itle-account">
            <a:extLst xmlns:a="http://schemas.openxmlformats.org/drawingml/2006/main">
              <a:ext uri="{FF2B5EF4-FFF2-40B4-BE49-F238E27FC236}">
                <a16:creationId xmlns:a16="http://schemas.microsoft.com/office/drawing/2014/main" id="{95BF3A5D-B53F-4A11-A51B-14EE7985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DCFF"/>
                </a:solidFill>
              </a:defRPr>
            </a:pPr>
            <a:r>
              <a:rPr sz="1350" b="1">
                <a:solidFill>
                  <a:srgbClr val="78DCFF"/>
                </a:solidFill>
              </a:rPr>
              <a:t>Queensland Shared Services Authority</a:t>
            </a:r>
          </a:p>
        </p:txBody>
      </p:sp>
      <p:sp>
        <p:nvSpPr>
          <p:cNvPr id="5" name="title-topic">
            <a:extLst xmlns:a="http://schemas.openxmlformats.org/drawingml/2006/main">
              <a:ext uri="{FF2B5EF4-FFF2-40B4-BE49-F238E27FC236}">
                <a16:creationId xmlns:a16="http://schemas.microsoft.com/office/drawing/2014/main" id="{5C8268AA-5A76-472F-AC2B-20A619C2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9BFF"/>
                </a:solidFill>
              </a:defRPr>
            </a:pPr>
            <a:r>
              <a:rPr sz="975" b="1">
                <a:solidFill>
                  <a:srgbClr val="9B9BFF"/>
                </a:solidFill>
              </a:rPr>
              <a:t>DATA &amp; AI CONVERSATION PREP</a:t>
            </a:r>
          </a:p>
        </p:txBody>
      </p:sp>
      <p:sp>
        <p:nvSpPr>
          <p:cNvPr id="6" name="title-main">
            <a:extLst xmlns:a="http://schemas.openxmlformats.org/drawingml/2006/main">
              <a:ext uri="{FF2B5EF4-FFF2-40B4-BE49-F238E27FC236}">
                <a16:creationId xmlns:a16="http://schemas.microsoft.com/office/drawing/2014/main" id="{045A622B-D876-4177-94A8-17C45B6B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838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Govern once.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Reuse across agencies.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25A2B-1DDA-4A08-B5C1-D41F8517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9BFF"/>
            </a:solidFill>
            <a:prstDash val="solid"/>
          </a:ln>
        </p:spPr>
      </p:sp>
      <p:sp>
        <p:nvSpPr>
          <p:cNvPr id="8" name="title-intent">
            <a:extLst xmlns:a="http://schemas.openxmlformats.org/drawingml/2006/main">
              <a:ext uri="{FF2B5EF4-FFF2-40B4-BE49-F238E27FC236}">
                <a16:creationId xmlns:a16="http://schemas.microsoft.com/office/drawing/2014/main" id="{30A9A365-4916-42C5-B5EE-9BF4B6B9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EEEE"/>
                </a:solidFill>
              </a:defRPr>
            </a:pPr>
            <a:r>
              <a:rPr sz="1650" b="0">
                <a:solidFill>
                  <a:srgbClr val="EEEEEE"/>
                </a:solidFill>
              </a:rPr>
              <a:t>Align on the decisions QSSA can make once for data and AI, then help agencies adopt with confidence.</a:t>
            </a:r>
          </a:p>
        </p:txBody>
      </p:sp>
      <p:sp>
        <p:nvSpPr>
          <p:cNvPr id="9" name="title-meta">
            <a:extLst xmlns:a="http://schemas.openxmlformats.org/drawingml/2006/main">
              <a:ext uri="{FF2B5EF4-FFF2-40B4-BE49-F238E27FC236}">
                <a16:creationId xmlns:a16="http://schemas.microsoft.com/office/drawing/2014/main" id="{F2427A55-836B-4C24-B255-D89A294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879A"/>
                </a:solidFill>
              </a:defRPr>
            </a:pPr>
            <a:r>
              <a:rPr sz="975" b="1">
                <a:solidFill>
                  <a:srgbClr val="70879A"/>
                </a:solidFill>
              </a:rPr>
              <a:t>47 synthetic records · recommended annuity: Committed Capacity</a:t>
            </a:r>
          </a:p>
        </p:txBody>
      </p:sp>
    </p:spTree>
    <p:extLst>
      <p:ext uri="{BB962C8B-B14F-4D97-AF65-F5344CB8AC3E}">
        <p14:creationId xmlns:p14="http://schemas.microsoft.com/office/powerpoint/2010/main" val="746286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data-2">
            <a:extLst xmlns:a="http://schemas.openxmlformats.org/drawingml/2006/main">
              <a:ext uri="{FF2B5EF4-FFF2-40B4-BE49-F238E27FC236}">
                <a16:creationId xmlns:a16="http://schemas.microsoft.com/office/drawing/2014/main" id="{EE2CE92E-F9D8-48F3-B037-208574B2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81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" name="brand-hash-2">
            <a:extLst xmlns:a="http://schemas.openxmlformats.org/drawingml/2006/main">
              <a:ext uri="{FF2B5EF4-FFF2-40B4-BE49-F238E27FC236}">
                <a16:creationId xmlns:a16="http://schemas.microsoft.com/office/drawing/2014/main" id="{824C9652-009A-4E22-A4F7-1A5F3BD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905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EFF"/>
                </a:solidFill>
              </a:defRPr>
            </a:pPr>
            <a:r>
              <a:rPr sz="825" b="1">
                <a:solidFill>
                  <a:srgbClr val="00AEFF"/>
                </a:solidFill>
              </a:rPr>
              <a:t>#</a:t>
            </a:r>
          </a:p>
        </p:txBody>
      </p:sp>
      <p:sp>
        <p:nvSpPr>
          <p:cNvPr id="3" name="brand-three-2">
            <a:extLst xmlns:a="http://schemas.openxmlformats.org/drawingml/2006/main">
              <a:ext uri="{FF2B5EF4-FFF2-40B4-BE49-F238E27FC236}">
                <a16:creationId xmlns:a16="http://schemas.microsoft.com/office/drawing/2014/main" id="{68C1FA98-0226-462C-B35D-31FCCE01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stage-2">
            <a:extLst xmlns:a="http://schemas.openxmlformats.org/drawingml/2006/main">
              <a:ext uri="{FF2B5EF4-FFF2-40B4-BE49-F238E27FC236}">
                <a16:creationId xmlns:a16="http://schemas.microsoft.com/office/drawing/2014/main" id="{D78820BB-04BC-46F8-945E-5FC2DEEE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DCFF"/>
                </a:solidFill>
              </a:defRPr>
            </a:pPr>
            <a:r>
              <a:rPr sz="975" b="1">
                <a:solidFill>
                  <a:srgbClr val="78DCFF"/>
                </a:solidFill>
              </a:rPr>
              <a:t>PROBLEM · IMPACT · WHY NOW</a:t>
            </a:r>
          </a:p>
        </p:txBody>
      </p:sp>
      <p:sp>
        <p:nvSpPr>
          <p:cNvPr id="5" name="top-rule-2">
            <a:extLst xmlns:a="http://schemas.openxmlformats.org/drawingml/2006/main">
              <a:ext uri="{FF2B5EF4-FFF2-40B4-BE49-F238E27FC236}">
                <a16:creationId xmlns:a16="http://schemas.microsoft.com/office/drawing/2014/main" id="{C873DDA8-7D5C-4388-B747-7C1B30C7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EFF"/>
            </a:solidFill>
            <a:prstDash val="solid"/>
          </a:ln>
        </p:spPr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131E51A2-3F0E-44DC-863B-AF26DE45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0879A"/>
                </a:solidFill>
              </a:defRPr>
            </a:pPr>
            <a:r>
              <a:rPr sz="750" b="1">
                <a:solidFill>
                  <a:srgbClr val="70879A"/>
                </a:solidFill>
              </a:rPr>
              <a:t>02 / 05</a:t>
            </a:r>
          </a:p>
        </p:txBody>
      </p:sp>
      <p:sp>
        <p:nvSpPr>
          <p:cNvPr id="7" name="footer-2">
            <a:extLst xmlns:a="http://schemas.openxmlformats.org/drawingml/2006/main">
              <a:ext uri="{FF2B5EF4-FFF2-40B4-BE49-F238E27FC236}">
                <a16:creationId xmlns:a16="http://schemas.microsoft.com/office/drawing/2014/main" id="{78D755ED-9435-41E1-8648-8CF2E734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79A"/>
                </a:solidFill>
              </a:defRPr>
            </a:pPr>
            <a:r>
              <a:rPr sz="750" b="0">
                <a:solidFill>
                  <a:srgbClr val="70879A"/>
                </a:solidFill>
              </a:rPr>
              <a:t>Queensland Shared Services Authority · Data &amp; AI · synthetic account preparation</a:t>
            </a:r>
          </a:p>
        </p:txBody>
      </p:sp>
      <p:sp>
        <p:nvSpPr>
          <p:cNvPr id="8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DD1E276B-D346-47E6-8385-C006D69A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The shared-services mandate is outpacing the decision model.</a:t>
            </a:r>
          </a:p>
        </p:txBody>
      </p:sp>
      <p:sp>
        <p:nvSpPr>
          <p:cNvPr id="9" name="col-num-01">
            <a:extLst xmlns:a="http://schemas.openxmlformats.org/drawingml/2006/main">
              <a:ext uri="{FF2B5EF4-FFF2-40B4-BE49-F238E27FC236}">
                <a16:creationId xmlns:a16="http://schemas.microsoft.com/office/drawing/2014/main" id="{23078237-759B-4854-BC64-F15DCC05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9BFF"/>
                </a:solidFill>
              </a:defRPr>
            </a:pPr>
            <a:r>
              <a:rPr sz="1500" b="1">
                <a:solidFill>
                  <a:srgbClr val="9B9BFF"/>
                </a:solidFill>
              </a:rPr>
              <a:t>01</a:t>
            </a:r>
          </a:p>
        </p:txBody>
      </p:sp>
      <p:sp>
        <p:nvSpPr>
          <p:cNvPr id="10" name="col-heading-01">
            <a:extLst xmlns:a="http://schemas.openxmlformats.org/drawingml/2006/main">
              <a:ext uri="{FF2B5EF4-FFF2-40B4-BE49-F238E27FC236}">
                <a16:creationId xmlns:a16="http://schemas.microsoft.com/office/drawing/2014/main" id="{E3342AE7-749C-4624-B9EB-42A56F6B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Ownership is inconsistent</a:t>
            </a:r>
          </a:p>
        </p:txBody>
      </p:sp>
      <p:sp>
        <p:nvSpPr>
          <p:cNvPr id="11" name="col-body-01">
            <a:extLst xmlns:a="http://schemas.openxmlformats.org/drawingml/2006/main">
              <a:ext uri="{FF2B5EF4-FFF2-40B4-BE49-F238E27FC236}">
                <a16:creationId xmlns:a16="http://schemas.microsoft.com/office/drawing/2014/main" id="{BA4811C5-3645-4B6B-93A5-06F857C1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D6E2"/>
                </a:solidFill>
              </a:defRPr>
            </a:pPr>
            <a:r>
              <a:rPr sz="1275" b="0">
                <a:solidFill>
                  <a:srgbClr val="C5D6E2"/>
                </a:solidFill>
              </a:rPr>
              <a:t>Cross-agency reporting is manually assembled, and a consistent data ownership model is not visible in the account record.</a:t>
            </a:r>
          </a:p>
        </p:txBody>
      </p:sp>
      <p:sp>
        <p:nvSpPr>
          <p:cNvPr id="12" name="col-rule-1">
            <a:extLst xmlns:a="http://schemas.openxmlformats.org/drawingml/2006/main">
              <a:ext uri="{FF2B5EF4-FFF2-40B4-BE49-F238E27FC236}">
                <a16:creationId xmlns:a16="http://schemas.microsoft.com/office/drawing/2014/main" id="{E4B730DB-305E-4F1C-A278-A6D76155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34F"/>
            </a:solidFill>
            <a:prstDash val="solid"/>
          </a:ln>
        </p:spPr>
      </p:sp>
      <p:sp>
        <p:nvSpPr>
          <p:cNvPr id="13" name="col-num-02">
            <a:extLst xmlns:a="http://schemas.openxmlformats.org/drawingml/2006/main">
              <a:ext uri="{FF2B5EF4-FFF2-40B4-BE49-F238E27FC236}">
                <a16:creationId xmlns:a16="http://schemas.microsoft.com/office/drawing/2014/main" id="{11954FA3-6812-49CD-8E5E-A08922C5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146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9BFF"/>
                </a:solidFill>
              </a:defRPr>
            </a:pPr>
            <a:r>
              <a:rPr sz="1500" b="1">
                <a:solidFill>
                  <a:srgbClr val="9B9BFF"/>
                </a:solidFill>
              </a:rPr>
              <a:t>02</a:t>
            </a:r>
          </a:p>
        </p:txBody>
      </p:sp>
      <p:sp>
        <p:nvSpPr>
          <p:cNvPr id="14" name="col-heading-02">
            <a:extLst xmlns:a="http://schemas.openxmlformats.org/drawingml/2006/main">
              <a:ext uri="{FF2B5EF4-FFF2-40B4-BE49-F238E27FC236}">
                <a16:creationId xmlns:a16="http://schemas.microsoft.com/office/drawing/2014/main" id="{65DB8F21-4A1E-4070-866E-56CE092B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Fragmentation compounds</a:t>
            </a:r>
          </a:p>
        </p:txBody>
      </p:sp>
      <p:sp>
        <p:nvSpPr>
          <p:cNvPr id="15" name="col-body-02">
            <a:extLst xmlns:a="http://schemas.openxmlformats.org/drawingml/2006/main">
              <a:ext uri="{FF2B5EF4-FFF2-40B4-BE49-F238E27FC236}">
                <a16:creationId xmlns:a16="http://schemas.microsoft.com/office/drawing/2014/main" id="{2C24CF75-38F8-4AED-AEB0-AAF7857C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81450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D6E2"/>
                </a:solidFill>
              </a:defRPr>
            </a:pPr>
            <a:r>
              <a:rPr sz="1275" b="0">
                <a:solidFill>
                  <a:srgbClr val="C5D6E2"/>
                </a:solidFill>
              </a:rPr>
              <a:t>Agencies risk repeating governance work, creating incompatible controls, and funding AI experiments that cannot scale.</a:t>
            </a:r>
          </a:p>
        </p:txBody>
      </p:sp>
      <p:sp>
        <p:nvSpPr>
          <p:cNvPr id="16" name="col-rule-2">
            <a:extLst xmlns:a="http://schemas.openxmlformats.org/drawingml/2006/main">
              <a:ext uri="{FF2B5EF4-FFF2-40B4-BE49-F238E27FC236}">
                <a16:creationId xmlns:a16="http://schemas.microsoft.com/office/drawing/2014/main" id="{3F8577B4-BBDC-486E-9024-44666DCC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47950"/>
            <a:ext cx="1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34F"/>
            </a:solidFill>
            <a:prstDash val="solid"/>
          </a:ln>
        </p:spPr>
      </p:sp>
      <p:sp>
        <p:nvSpPr>
          <p:cNvPr id="17" name="col-num-03">
            <a:extLst xmlns:a="http://schemas.openxmlformats.org/drawingml/2006/main">
              <a:ext uri="{FF2B5EF4-FFF2-40B4-BE49-F238E27FC236}">
                <a16:creationId xmlns:a16="http://schemas.microsoft.com/office/drawing/2014/main" id="{BC7CBF36-9F60-40C8-AE20-6A7302F4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9BFF"/>
                </a:solidFill>
              </a:defRPr>
            </a:pPr>
            <a:r>
              <a:rPr sz="1500" b="1">
                <a:solidFill>
                  <a:srgbClr val="9B9BFF"/>
                </a:solidFill>
              </a:rPr>
              <a:t>03</a:t>
            </a:r>
          </a:p>
        </p:txBody>
      </p:sp>
      <p:sp>
        <p:nvSpPr>
          <p:cNvPr id="18" name="col-heading-03">
            <a:extLst xmlns:a="http://schemas.openxmlformats.org/drawingml/2006/main">
              <a:ext uri="{FF2B5EF4-FFF2-40B4-BE49-F238E27FC236}">
                <a16:creationId xmlns:a16="http://schemas.microsoft.com/office/drawing/2014/main" id="{791C3BFE-78A0-4103-ADD9-D86ECCC1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 decision window is open</a:t>
            </a:r>
          </a:p>
        </p:txBody>
      </p:sp>
      <p:sp>
        <p:nvSpPr>
          <p:cNvPr id="19" name="col-body-03">
            <a:extLst xmlns:a="http://schemas.openxmlformats.org/drawingml/2006/main">
              <a:ext uri="{FF2B5EF4-FFF2-40B4-BE49-F238E27FC236}">
                <a16:creationId xmlns:a16="http://schemas.microsoft.com/office/drawing/2014/main" id="{394DC7BF-C316-450D-86C1-04DEF334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5D6E2"/>
                </a:solidFill>
              </a:defRPr>
            </a:pPr>
            <a:r>
              <a:rPr sz="1275" b="0">
                <a:solidFill>
                  <a:srgbClr val="C5D6E2"/>
                </a:solidFill>
              </a:rPr>
              <a:t>The shared-services remit is expanding while Microsoft renewal planning begins within six months.</a:t>
            </a:r>
          </a:p>
        </p:txBody>
      </p:sp>
      <p:sp>
        <p:nvSpPr>
          <p:cNvPr id="20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C0DBF666-C375-43E0-8A00-AF209A0B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B9BFF"/>
                </a:solidFill>
              </a:defRPr>
            </a:pPr>
            <a:r>
              <a:rPr sz="1725" b="1">
                <a:solidFill>
                  <a:srgbClr val="9B9BFF"/>
                </a:solidFill>
              </a:rPr>
              <a:t>The operating model should shape the technology decision—not follow it.</a:t>
            </a:r>
          </a:p>
        </p:txBody>
      </p:sp>
    </p:spTree>
    <p:extLst>
      <p:ext uri="{BB962C8B-B14F-4D97-AF65-F5344CB8AC3E}">
        <p14:creationId xmlns:p14="http://schemas.microsoft.com/office/powerpoint/2010/main" val="247203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-data-3">
            <a:extLst xmlns:a="http://schemas.openxmlformats.org/drawingml/2006/main">
              <a:ext uri="{FF2B5EF4-FFF2-40B4-BE49-F238E27FC236}">
                <a16:creationId xmlns:a16="http://schemas.microsoft.com/office/drawing/2014/main" id="{83AB6996-CCBE-4D31-B7E9-910C1C53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81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" name="brand-hash-3">
            <a:extLst xmlns:a="http://schemas.openxmlformats.org/drawingml/2006/main">
              <a:ext uri="{FF2B5EF4-FFF2-40B4-BE49-F238E27FC236}">
                <a16:creationId xmlns:a16="http://schemas.microsoft.com/office/drawing/2014/main" id="{28037FD6-4833-429C-8A30-66C07DFB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905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EFF"/>
                </a:solidFill>
              </a:defRPr>
            </a:pPr>
            <a:r>
              <a:rPr sz="825" b="1">
                <a:solidFill>
                  <a:srgbClr val="00AEFF"/>
                </a:solidFill>
              </a:rPr>
              <a:t>#</a:t>
            </a:r>
          </a:p>
        </p:txBody>
      </p:sp>
      <p:sp>
        <p:nvSpPr>
          <p:cNvPr id="3" name="brand-three-3">
            <a:extLst xmlns:a="http://schemas.openxmlformats.org/drawingml/2006/main">
              <a:ext uri="{FF2B5EF4-FFF2-40B4-BE49-F238E27FC236}">
                <a16:creationId xmlns:a16="http://schemas.microsoft.com/office/drawing/2014/main" id="{76A50555-E3CC-419F-8474-14B8C457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stage-3">
            <a:extLst xmlns:a="http://schemas.openxmlformats.org/drawingml/2006/main">
              <a:ext uri="{FF2B5EF4-FFF2-40B4-BE49-F238E27FC236}">
                <a16:creationId xmlns:a16="http://schemas.microsoft.com/office/drawing/2014/main" id="{0AEA2263-5A8C-4BED-B6F7-FD0BE86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DCFF"/>
                </a:solidFill>
              </a:defRPr>
            </a:pPr>
            <a:r>
              <a:rPr sz="975" b="1">
                <a:solidFill>
                  <a:srgbClr val="78DCFF"/>
                </a:solidFill>
              </a:rPr>
              <a:t>DESIRED OUTCOME</a:t>
            </a:r>
          </a:p>
        </p:txBody>
      </p:sp>
      <p:sp>
        <p:nvSpPr>
          <p:cNvPr id="5" name="top-rule-3">
            <a:extLst xmlns:a="http://schemas.openxmlformats.org/drawingml/2006/main">
              <a:ext uri="{FF2B5EF4-FFF2-40B4-BE49-F238E27FC236}">
                <a16:creationId xmlns:a16="http://schemas.microsoft.com/office/drawing/2014/main" id="{A34F7841-BA48-47BE-B403-3E171B72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EFF"/>
            </a:solidFill>
            <a:prstDash val="solid"/>
          </a:ln>
        </p:spPr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376548C7-8702-44FD-A33E-1FC22067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0879A"/>
                </a:solidFill>
              </a:defRPr>
            </a:pPr>
            <a:r>
              <a:rPr sz="750" b="1">
                <a:solidFill>
                  <a:srgbClr val="70879A"/>
                </a:solidFill>
              </a:rPr>
              <a:t>03 / 05</a:t>
            </a:r>
          </a:p>
        </p:txBody>
      </p:sp>
      <p:sp>
        <p:nvSpPr>
          <p:cNvPr id="7" name="footer-3">
            <a:extLst xmlns:a="http://schemas.openxmlformats.org/drawingml/2006/main">
              <a:ext uri="{FF2B5EF4-FFF2-40B4-BE49-F238E27FC236}">
                <a16:creationId xmlns:a16="http://schemas.microsoft.com/office/drawing/2014/main" id="{7586BB07-27D6-456D-B9B0-FD9AB654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79A"/>
                </a:solidFill>
              </a:defRPr>
            </a:pPr>
            <a:r>
              <a:rPr sz="750" b="0">
                <a:solidFill>
                  <a:srgbClr val="70879A"/>
                </a:solidFill>
              </a:rPr>
              <a:t>Queensland Shared Services Authority · Data &amp; AI · synthetic account preparation</a:t>
            </a:r>
          </a:p>
        </p:txBody>
      </p:sp>
      <p:sp>
        <p:nvSpPr>
          <p:cNvPr id="8" name="outcome-title">
            <a:extLst xmlns:a="http://schemas.openxmlformats.org/drawingml/2006/main">
              <a:ext uri="{FF2B5EF4-FFF2-40B4-BE49-F238E27FC236}">
                <a16:creationId xmlns:a16="http://schemas.microsoft.com/office/drawing/2014/main" id="{0B1CF041-33FF-4C03-AD83-291C2F89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One common foundation. Agency-level extension.</a:t>
            </a:r>
          </a:p>
        </p:txBody>
      </p:sp>
      <p:sp>
        <p:nvSpPr>
          <p:cNvPr id="9" name="outcome-quote">
            <a:extLst xmlns:a="http://schemas.openxmlformats.org/drawingml/2006/main">
              <a:ext uri="{FF2B5EF4-FFF2-40B4-BE49-F238E27FC236}">
                <a16:creationId xmlns:a16="http://schemas.microsoft.com/office/drawing/2014/main" id="{41BB2284-4904-45F6-938B-8AC36F73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942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9B9BFF"/>
                </a:solidFill>
              </a:defRPr>
            </a:pPr>
            <a:r>
              <a:rPr sz="2775" b="1">
                <a:solidFill>
                  <a:srgbClr val="9B9BFF"/>
                </a:solidFill>
              </a:rPr>
              <a:t>A common data-sharing compact, a short list of reusable AI opportunities, and shared guardrails that agencies can adopt and extend.</a:t>
            </a:r>
          </a:p>
        </p:txBody>
      </p:sp>
      <p:sp>
        <p:nvSpPr>
          <p:cNvPr id="10" name="outcome-rule">
            <a:extLst xmlns:a="http://schemas.openxmlformats.org/drawingml/2006/main">
              <a:ext uri="{FF2B5EF4-FFF2-40B4-BE49-F238E27FC236}">
                <a16:creationId xmlns:a16="http://schemas.microsoft.com/office/drawing/2014/main" id="{4A8B4548-9DD5-48E6-B13D-D8390161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FFFF"/>
            </a:solidFill>
            <a:prstDash val="solid"/>
          </a:ln>
        </p:spPr>
      </p:sp>
      <p:sp>
        <p:nvSpPr>
          <p:cNvPr id="11" name="outcome-proof">
            <a:extLst xmlns:a="http://schemas.openxmlformats.org/drawingml/2006/main">
              <a:ext uri="{FF2B5EF4-FFF2-40B4-BE49-F238E27FC236}">
                <a16:creationId xmlns:a16="http://schemas.microsoft.com/office/drawing/2014/main" id="{E1D1E484-0D15-492C-919D-AB179C31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7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EEEE"/>
                </a:solidFill>
              </a:defRPr>
            </a:pPr>
            <a:r>
              <a:rPr sz="1650" b="0">
                <a:solidFill>
                  <a:srgbClr val="EEEEEE"/>
                </a:solidFill>
              </a:rPr>
              <a:t>Success is a clearer decision system—not a longer platform shortlist.</a:t>
            </a:r>
          </a:p>
        </p:txBody>
      </p:sp>
    </p:spTree>
    <p:extLst>
      <p:ext uri="{BB962C8B-B14F-4D97-AF65-F5344CB8AC3E}">
        <p14:creationId xmlns:p14="http://schemas.microsoft.com/office/powerpoint/2010/main" val="2104654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data-4">
            <a:extLst xmlns:a="http://schemas.openxmlformats.org/drawingml/2006/main">
              <a:ext uri="{FF2B5EF4-FFF2-40B4-BE49-F238E27FC236}">
                <a16:creationId xmlns:a16="http://schemas.microsoft.com/office/drawing/2014/main" id="{6B770D22-0086-408B-B23B-1C8CFF86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81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" name="brand-hash-4">
            <a:extLst xmlns:a="http://schemas.openxmlformats.org/drawingml/2006/main">
              <a:ext uri="{FF2B5EF4-FFF2-40B4-BE49-F238E27FC236}">
                <a16:creationId xmlns:a16="http://schemas.microsoft.com/office/drawing/2014/main" id="{59A2FFAE-B3F9-43F9-B2DD-AF5D581A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905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EFF"/>
                </a:solidFill>
              </a:defRPr>
            </a:pPr>
            <a:r>
              <a:rPr sz="825" b="1">
                <a:solidFill>
                  <a:srgbClr val="00AEFF"/>
                </a:solidFill>
              </a:rPr>
              <a:t>#</a:t>
            </a:r>
          </a:p>
        </p:txBody>
      </p:sp>
      <p:sp>
        <p:nvSpPr>
          <p:cNvPr id="3" name="brand-three-4">
            <a:extLst xmlns:a="http://schemas.openxmlformats.org/drawingml/2006/main">
              <a:ext uri="{FF2B5EF4-FFF2-40B4-BE49-F238E27FC236}">
                <a16:creationId xmlns:a16="http://schemas.microsoft.com/office/drawing/2014/main" id="{9F84227B-8A75-4973-BE48-916BB8EA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stage-4">
            <a:extLst xmlns:a="http://schemas.openxmlformats.org/drawingml/2006/main">
              <a:ext uri="{FF2B5EF4-FFF2-40B4-BE49-F238E27FC236}">
                <a16:creationId xmlns:a16="http://schemas.microsoft.com/office/drawing/2014/main" id="{C6C43252-9866-46E6-8735-BDE20919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DCFF"/>
                </a:solidFill>
              </a:defRPr>
            </a:pPr>
            <a:r>
              <a:rPr sz="975" b="1">
                <a:solidFill>
                  <a:srgbClr val="78DCFF"/>
                </a:solidFill>
              </a:rPr>
              <a:t>APPROACH · SUPPORTING DETAIL</a:t>
            </a:r>
          </a:p>
        </p:txBody>
      </p:sp>
      <p:sp>
        <p:nvSpPr>
          <p:cNvPr id="5" name="top-rule-4">
            <a:extLst xmlns:a="http://schemas.openxmlformats.org/drawingml/2006/main">
              <a:ext uri="{FF2B5EF4-FFF2-40B4-BE49-F238E27FC236}">
                <a16:creationId xmlns:a16="http://schemas.microsoft.com/office/drawing/2014/main" id="{AD68442E-D326-482B-B7CF-F09DAA4E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EFF"/>
            </a:solidFill>
            <a:prstDash val="solid"/>
          </a:ln>
        </p:spPr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DCC82496-CDFA-4A29-A449-FC78C95A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0879A"/>
                </a:solidFill>
              </a:defRPr>
            </a:pPr>
            <a:r>
              <a:rPr sz="750" b="1">
                <a:solidFill>
                  <a:srgbClr val="70879A"/>
                </a:solidFill>
              </a:rPr>
              <a:t>04 / 05</a:t>
            </a:r>
          </a:p>
        </p:txBody>
      </p:sp>
      <p:sp>
        <p:nvSpPr>
          <p:cNvPr id="7" name="footer-4">
            <a:extLst xmlns:a="http://schemas.openxmlformats.org/drawingml/2006/main">
              <a:ext uri="{FF2B5EF4-FFF2-40B4-BE49-F238E27FC236}">
                <a16:creationId xmlns:a16="http://schemas.microsoft.com/office/drawing/2014/main" id="{B1491EBC-9A21-4043-B036-11655DF3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79A"/>
                </a:solidFill>
              </a:defRPr>
            </a:pPr>
            <a:r>
              <a:rPr sz="750" b="0">
                <a:solidFill>
                  <a:srgbClr val="70879A"/>
                </a:solidFill>
              </a:rPr>
              <a:t>Queensland Shared Services Authority · Data &amp; AI · synthetic account preparation</a:t>
            </a:r>
          </a:p>
        </p:txBody>
      </p:sp>
      <p:sp>
        <p:nvSpPr>
          <p:cNvPr id="8" name="approach-title">
            <a:extLst xmlns:a="http://schemas.openxmlformats.org/drawingml/2006/main">
              <a:ext uri="{FF2B5EF4-FFF2-40B4-BE49-F238E27FC236}">
                <a16:creationId xmlns:a16="http://schemas.microsoft.com/office/drawing/2014/main" id="{E871B71B-566F-4A5B-B554-6DD86804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Start with ownership and evidence—not a platform shortlist.</a:t>
            </a:r>
          </a:p>
        </p:txBody>
      </p:sp>
      <p:sp>
        <p:nvSpPr>
          <p:cNvPr id="9" name="step-num-01">
            <a:extLst xmlns:a="http://schemas.openxmlformats.org/drawingml/2006/main">
              <a:ext uri="{FF2B5EF4-FFF2-40B4-BE49-F238E27FC236}">
                <a16:creationId xmlns:a16="http://schemas.microsoft.com/office/drawing/2014/main" id="{34985E25-B01A-4821-8F4D-89E759A4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B9BFF"/>
                </a:solidFill>
              </a:defRPr>
            </a:pPr>
            <a:r>
              <a:rPr sz="1425" b="1">
                <a:solidFill>
                  <a:srgbClr val="9B9BFF"/>
                </a:solidFill>
              </a:rPr>
              <a:t>01</a:t>
            </a:r>
          </a:p>
        </p:txBody>
      </p:sp>
      <p:sp>
        <p:nvSpPr>
          <p:cNvPr id="10" name="step-title-01">
            <a:extLst xmlns:a="http://schemas.openxmlformats.org/drawingml/2006/main">
              <a:ext uri="{FF2B5EF4-FFF2-40B4-BE49-F238E27FC236}">
                <a16:creationId xmlns:a16="http://schemas.microsoft.com/office/drawing/2014/main" id="{6888439E-9106-45FC-B7FF-038B99CE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384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 ownership</a:t>
            </a:r>
          </a:p>
        </p:txBody>
      </p:sp>
      <p:sp>
        <p:nvSpPr>
          <p:cNvPr id="11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D4014E74-0743-45A0-A9D3-0ED747FC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479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6E2"/>
                </a:solidFill>
              </a:defRPr>
            </a:pPr>
            <a:r>
              <a:rPr sz="1350" b="0">
                <a:solidFill>
                  <a:srgbClr val="C5D6E2"/>
                </a:solidFill>
              </a:rPr>
              <a:t>Agree what QSSA governs centrally, what remains with agencies, and who can make each decision.</a:t>
            </a:r>
          </a:p>
        </p:txBody>
      </p:sp>
      <p:sp>
        <p:nvSpPr>
          <p:cNvPr id="12" name="step-rule-01">
            <a:extLst xmlns:a="http://schemas.openxmlformats.org/drawingml/2006/main">
              <a:ext uri="{FF2B5EF4-FFF2-40B4-BE49-F238E27FC236}">
                <a16:creationId xmlns:a16="http://schemas.microsoft.com/office/drawing/2014/main" id="{58F17E94-99AC-41A6-882A-60CE10CF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9496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34F"/>
            </a:solidFill>
            <a:prstDash val="solid"/>
          </a:ln>
        </p:spPr>
      </p:sp>
      <p:sp>
        <p:nvSpPr>
          <p:cNvPr id="13" name="step-num-02">
            <a:extLst xmlns:a="http://schemas.openxmlformats.org/drawingml/2006/main">
              <a:ext uri="{FF2B5EF4-FFF2-40B4-BE49-F238E27FC236}">
                <a16:creationId xmlns:a16="http://schemas.microsoft.com/office/drawing/2014/main" id="{6F973003-EB89-4F80-AFCF-90AE256F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B9BFF"/>
                </a:solidFill>
              </a:defRPr>
            </a:pPr>
            <a:r>
              <a:rPr sz="1425" b="1">
                <a:solidFill>
                  <a:srgbClr val="9B9BFF"/>
                </a:solidFill>
              </a:rPr>
              <a:t>02</a:t>
            </a:r>
          </a:p>
        </p:txBody>
      </p:sp>
      <p:sp>
        <p:nvSpPr>
          <p:cNvPr id="14" name="step-title-02">
            <a:extLst xmlns:a="http://schemas.openxmlformats.org/drawingml/2006/main">
              <a:ext uri="{FF2B5EF4-FFF2-40B4-BE49-F238E27FC236}">
                <a16:creationId xmlns:a16="http://schemas.microsoft.com/office/drawing/2014/main" id="{F2F7514E-B58B-4B56-8BB2-C7699696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385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Prioritise shared value</a:t>
            </a:r>
          </a:p>
        </p:txBody>
      </p:sp>
      <p:sp>
        <p:nvSpPr>
          <p:cNvPr id="15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B03837D9-931E-448C-AE19-F9F4FDD3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48075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6E2"/>
                </a:solidFill>
              </a:defRPr>
            </a:pPr>
            <a:r>
              <a:rPr sz="1350" b="0">
                <a:solidFill>
                  <a:srgbClr val="C5D6E2"/>
                </a:solidFill>
              </a:rPr>
              <a:t>Test two reusable AI hypotheses against shared-service outcomes and accountable owners.</a:t>
            </a:r>
          </a:p>
        </p:txBody>
      </p:sp>
      <p:sp>
        <p:nvSpPr>
          <p:cNvPr id="16" name="step-rule-02">
            <a:extLst xmlns:a="http://schemas.openxmlformats.org/drawingml/2006/main">
              <a:ext uri="{FF2B5EF4-FFF2-40B4-BE49-F238E27FC236}">
                <a16:creationId xmlns:a16="http://schemas.microsoft.com/office/drawing/2014/main" id="{129845B0-A866-490F-B7DA-44BA68C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52925"/>
            <a:ext cx="9496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34F"/>
            </a:solidFill>
            <a:prstDash val="solid"/>
          </a:ln>
        </p:spPr>
      </p:sp>
      <p:sp>
        <p:nvSpPr>
          <p:cNvPr id="17" name="step-num-03">
            <a:extLst xmlns:a="http://schemas.openxmlformats.org/drawingml/2006/main">
              <a:ext uri="{FF2B5EF4-FFF2-40B4-BE49-F238E27FC236}">
                <a16:creationId xmlns:a16="http://schemas.microsoft.com/office/drawing/2014/main" id="{B1393749-99D0-4046-8126-F94A4F2E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B9BFF"/>
                </a:solidFill>
              </a:defRPr>
            </a:pPr>
            <a:r>
              <a:rPr sz="1425" b="1">
                <a:solidFill>
                  <a:srgbClr val="9B9BFF"/>
                </a:solidFill>
              </a:rPr>
              <a:t>03</a:t>
            </a:r>
          </a:p>
        </p:txBody>
      </p:sp>
      <p:sp>
        <p:nvSpPr>
          <p:cNvPr id="18" name="step-title-03">
            <a:extLst xmlns:a="http://schemas.openxmlformats.org/drawingml/2006/main">
              <a:ext uri="{FF2B5EF4-FFF2-40B4-BE49-F238E27FC236}">
                <a16:creationId xmlns:a16="http://schemas.microsoft.com/office/drawing/2014/main" id="{2E63DCBC-68AF-4D34-87BF-C8C57B3C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386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Prove trust before scale</a:t>
            </a:r>
          </a:p>
        </p:txBody>
      </p:sp>
      <p:sp>
        <p:nvSpPr>
          <p:cNvPr id="19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4C42661E-A143-475C-BF47-E81A7208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482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6E2"/>
                </a:solidFill>
              </a:defRPr>
            </a:pPr>
            <a:r>
              <a:rPr sz="1350" b="0">
                <a:solidFill>
                  <a:srgbClr val="C5D6E2"/>
                </a:solidFill>
              </a:rPr>
              <a:t>Map the data, guardrails, and evidence required before selecting the platform path.</a:t>
            </a:r>
          </a:p>
        </p:txBody>
      </p:sp>
      <p:sp>
        <p:nvSpPr>
          <p:cNvPr id="20" name="approach-offers">
            <a:extLst xmlns:a="http://schemas.openxmlformats.org/drawingml/2006/main">
              <a:ext uri="{FF2B5EF4-FFF2-40B4-BE49-F238E27FC236}">
                <a16:creationId xmlns:a16="http://schemas.microsoft.com/office/drawing/2014/main" id="{78A245B4-CFA1-498A-A068-CDAA3164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DCFF"/>
                </a:solidFill>
              </a:defRPr>
            </a:pPr>
            <a:r>
              <a:rPr sz="1050" b="0">
                <a:solidFill>
                  <a:srgbClr val="78DCFF"/>
                </a:solidFill>
              </a:rPr>
              <a:t>Relevant after discovery: Data &amp; AI Strategy &amp; Roadmaps · Fabric Foundation Rapid · Unified Data Governance (Purview) · Copilot Studio Prototyping</a:t>
            </a:r>
          </a:p>
        </p:txBody>
      </p:sp>
    </p:spTree>
    <p:extLst>
      <p:ext uri="{BB962C8B-B14F-4D97-AF65-F5344CB8AC3E}">
        <p14:creationId xmlns:p14="http://schemas.microsoft.com/office/powerpoint/2010/main" val="86162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rand-data-5">
            <a:extLst xmlns:a="http://schemas.openxmlformats.org/drawingml/2006/main">
              <a:ext uri="{FF2B5EF4-FFF2-40B4-BE49-F238E27FC236}">
                <a16:creationId xmlns:a16="http://schemas.microsoft.com/office/drawing/2014/main" id="{E31936A6-F4AD-4EEA-9E57-37757ED8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81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" name="brand-hash-5">
            <a:extLst xmlns:a="http://schemas.openxmlformats.org/drawingml/2006/main">
              <a:ext uri="{FF2B5EF4-FFF2-40B4-BE49-F238E27FC236}">
                <a16:creationId xmlns:a16="http://schemas.microsoft.com/office/drawing/2014/main" id="{6D0D35AB-2CD0-44FB-AC99-DE1DF8B9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905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EFF"/>
                </a:solidFill>
              </a:defRPr>
            </a:pPr>
            <a:r>
              <a:rPr sz="825" b="1">
                <a:solidFill>
                  <a:srgbClr val="00AEFF"/>
                </a:solidFill>
              </a:rPr>
              <a:t>#</a:t>
            </a:r>
          </a:p>
        </p:txBody>
      </p:sp>
      <p:sp>
        <p:nvSpPr>
          <p:cNvPr id="3" name="brand-three-5">
            <a:extLst xmlns:a="http://schemas.openxmlformats.org/drawingml/2006/main">
              <a:ext uri="{FF2B5EF4-FFF2-40B4-BE49-F238E27FC236}">
                <a16:creationId xmlns:a16="http://schemas.microsoft.com/office/drawing/2014/main" id="{38E7B9FD-1449-47DB-B06E-365E9296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381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stage-5">
            <a:extLst xmlns:a="http://schemas.openxmlformats.org/drawingml/2006/main">
              <a:ext uri="{FF2B5EF4-FFF2-40B4-BE49-F238E27FC236}">
                <a16:creationId xmlns:a16="http://schemas.microsoft.com/office/drawing/2014/main" id="{BAFB973C-D0DE-4DB7-8FB7-673278B9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DCFF"/>
                </a:solidFill>
              </a:defRPr>
            </a:pPr>
            <a:r>
              <a:rPr sz="975" b="1">
                <a:solidFill>
                  <a:srgbClr val="78DCFF"/>
                </a:solidFill>
              </a:rPr>
              <a:t>RECOMMENDATION · THE ASK</a:t>
            </a:r>
          </a:p>
        </p:txBody>
      </p:sp>
      <p:sp>
        <p:nvSpPr>
          <p:cNvPr id="5" name="top-rule-5">
            <a:extLst xmlns:a="http://schemas.openxmlformats.org/drawingml/2006/main">
              <a:ext uri="{FF2B5EF4-FFF2-40B4-BE49-F238E27FC236}">
                <a16:creationId xmlns:a16="http://schemas.microsoft.com/office/drawing/2014/main" id="{84507246-2949-41E3-8449-B8C92285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EFF"/>
            </a:solidFill>
            <a:prstDash val="solid"/>
          </a:ln>
        </p:spPr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61335306-E8BB-4C28-91E2-59C0B5CE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0879A"/>
                </a:solidFill>
              </a:defRPr>
            </a:pPr>
            <a:r>
              <a:rPr sz="750" b="1">
                <a:solidFill>
                  <a:srgbClr val="70879A"/>
                </a:solidFill>
              </a:rPr>
              <a:t>05 / 05</a:t>
            </a:r>
          </a:p>
        </p:txBody>
      </p:sp>
      <p:sp>
        <p:nvSpPr>
          <p:cNvPr id="7" name="footer-5">
            <a:extLst xmlns:a="http://schemas.openxmlformats.org/drawingml/2006/main">
              <a:ext uri="{FF2B5EF4-FFF2-40B4-BE49-F238E27FC236}">
                <a16:creationId xmlns:a16="http://schemas.microsoft.com/office/drawing/2014/main" id="{8FA0925C-0FC0-4339-9F07-447D85BB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79A"/>
                </a:solidFill>
              </a:defRPr>
            </a:pPr>
            <a:r>
              <a:rPr sz="750" b="0">
                <a:solidFill>
                  <a:srgbClr val="70879A"/>
                </a:solidFill>
              </a:rPr>
              <a:t>Queensland Shared Services Authority · Data &amp; AI · synthetic account preparation</a:t>
            </a:r>
          </a:p>
        </p:txBody>
      </p:sp>
      <p:sp>
        <p:nvSpPr>
          <p:cNvPr id="8" name="ask-title">
            <a:extLst xmlns:a="http://schemas.openxmlformats.org/drawingml/2006/main">
              <a:ext uri="{FF2B5EF4-FFF2-40B4-BE49-F238E27FC236}">
                <a16:creationId xmlns:a16="http://schemas.microsoft.com/office/drawing/2014/main" id="{E307284B-0358-49E8-8451-50B44429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Position Committed Capacity—then validate the conditions.</a:t>
            </a:r>
          </a:p>
        </p:txBody>
      </p:sp>
      <p:sp>
        <p:nvSpPr>
          <p:cNvPr id="9" name="recommend-label">
            <a:extLst xmlns:a="http://schemas.openxmlformats.org/drawingml/2006/main">
              <a:ext uri="{FF2B5EF4-FFF2-40B4-BE49-F238E27FC236}">
                <a16:creationId xmlns:a16="http://schemas.microsoft.com/office/drawing/2014/main" id="{B0697ED0-00FE-4346-B3E4-F50739F6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9BFF"/>
                </a:solidFill>
              </a:defRPr>
            </a:pPr>
            <a:r>
              <a:rPr sz="975" b="1">
                <a:solidFill>
                  <a:srgbClr val="9B9BFF"/>
                </a:solidFill>
              </a:rPr>
              <a:t>RECOMMENDED · THE ENGINE</a:t>
            </a:r>
          </a:p>
        </p:txBody>
      </p:sp>
      <p:sp>
        <p:nvSpPr>
          <p:cNvPr id="10" name="recommend-name">
            <a:extLst xmlns:a="http://schemas.openxmlformats.org/drawingml/2006/main">
              <a:ext uri="{FF2B5EF4-FFF2-40B4-BE49-F238E27FC236}">
                <a16:creationId xmlns:a16="http://schemas.microsoft.com/office/drawing/2014/main" id="{6B1AB968-56BC-4791-92CD-F42071E3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Committed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Capacity</a:t>
            </a:r>
          </a:p>
        </p:txBody>
      </p:sp>
      <p:sp>
        <p:nvSpPr>
          <p:cNvPr id="11" name="recommend-reason">
            <a:extLst xmlns:a="http://schemas.openxmlformats.org/drawingml/2006/main">
              <a:ext uri="{FF2B5EF4-FFF2-40B4-BE49-F238E27FC236}">
                <a16:creationId xmlns:a16="http://schemas.microsoft.com/office/drawing/2014/main" id="{66AB7AC2-FE7A-45FE-848C-B63AE4D8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EEEE"/>
                </a:solidFill>
              </a:defRPr>
            </a:pPr>
            <a:r>
              <a:rPr sz="1425" b="0">
                <a:solidFill>
                  <a:srgbClr val="EEEEEE"/>
                </a:solidFill>
              </a:rPr>
              <a:t>Best fit for a governed, recurring backlog that needs multidisciplinary Data &amp; AI, advisory, security, platform, and adoption sprints.</a:t>
            </a:r>
          </a:p>
        </p:txBody>
      </p:sp>
      <p:sp>
        <p:nvSpPr>
          <p:cNvPr id="12" name="ask-divider">
            <a:extLst xmlns:a="http://schemas.openxmlformats.org/drawingml/2006/main">
              <a:ext uri="{FF2B5EF4-FFF2-40B4-BE49-F238E27FC236}">
                <a16:creationId xmlns:a16="http://schemas.microsoft.com/office/drawing/2014/main" id="{CD42BEA1-D740-4E79-9340-6428B9B7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19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34F"/>
            </a:solidFill>
            <a:prstDash val="solid"/>
          </a:ln>
        </p:spPr>
      </p:sp>
      <p:sp>
        <p:nvSpPr>
          <p:cNvPr id="13" name="alternative-label">
            <a:extLst xmlns:a="http://schemas.openxmlformats.org/drawingml/2006/main">
              <a:ext uri="{FF2B5EF4-FFF2-40B4-BE49-F238E27FC236}">
                <a16:creationId xmlns:a16="http://schemas.microsoft.com/office/drawing/2014/main" id="{A39CF118-5FBE-4579-AFC0-717F98A9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DCFF"/>
                </a:solidFill>
              </a:defRPr>
            </a:pPr>
            <a:r>
              <a:rPr sz="975" b="1">
                <a:solidFill>
                  <a:srgbClr val="78DCFF"/>
                </a:solidFill>
              </a:rPr>
              <a:t>WHY NOT THE OTHER TWO—YET</a:t>
            </a:r>
          </a:p>
        </p:txBody>
      </p:sp>
      <p:sp>
        <p:nvSpPr>
          <p:cNvPr id="14" name="drawdown-name">
            <a:extLst xmlns:a="http://schemas.openxmlformats.org/drawingml/2006/main">
              <a:ext uri="{FF2B5EF4-FFF2-40B4-BE49-F238E27FC236}">
                <a16:creationId xmlns:a16="http://schemas.microsoft.com/office/drawing/2014/main" id="{FA7ED9B3-A7E3-47F0-8E98-5939AC81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EFF"/>
                </a:solidFill>
              </a:defRPr>
            </a:pPr>
            <a:r>
              <a:rPr sz="1650" b="1">
                <a:solidFill>
                  <a:srgbClr val="00AEFF"/>
                </a:solidFill>
              </a:rPr>
              <a:t>Entitled Drawdown · on-ramp</a:t>
            </a:r>
          </a:p>
        </p:txBody>
      </p:sp>
      <p:sp>
        <p:nvSpPr>
          <p:cNvPr id="15" name="drawdown-reason">
            <a:extLst xmlns:a="http://schemas.openxmlformats.org/drawingml/2006/main">
              <a:ext uri="{FF2B5EF4-FFF2-40B4-BE49-F238E27FC236}">
                <a16:creationId xmlns:a16="http://schemas.microsoft.com/office/drawing/2014/main" id="{4AC4AC2B-DC4B-44D2-B157-7302FFF8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EEEE"/>
                </a:solidFill>
              </a:defRPr>
            </a:pPr>
            <a:r>
              <a:rPr sz="1275" b="0">
                <a:solidFill>
                  <a:srgbClr val="EEEEEE"/>
                </a:solidFill>
              </a:rPr>
              <a:t>Choose this if demand remains episodic and QSSA needs prepaid assessments, assurance, and minor uplift first.</a:t>
            </a:r>
          </a:p>
        </p:txBody>
      </p:sp>
      <p:sp>
        <p:nvSpPr>
          <p:cNvPr id="16" name="standing-name">
            <a:extLst xmlns:a="http://schemas.openxmlformats.org/drawingml/2006/main">
              <a:ext uri="{FF2B5EF4-FFF2-40B4-BE49-F238E27FC236}">
                <a16:creationId xmlns:a16="http://schemas.microsoft.com/office/drawing/2014/main" id="{B5300096-163D-4FCB-BD24-A7AF41AD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F4A"/>
                </a:solidFill>
              </a:defRPr>
            </a:pPr>
            <a:r>
              <a:rPr sz="1650" b="1">
                <a:solidFill>
                  <a:srgbClr val="FFBF4A"/>
                </a:solidFill>
              </a:rPr>
              <a:t>Standing Service · later</a:t>
            </a:r>
          </a:p>
        </p:txBody>
      </p:sp>
      <p:sp>
        <p:nvSpPr>
          <p:cNvPr id="17" name="standing-reason">
            <a:extLst xmlns:a="http://schemas.openxmlformats.org/drawingml/2006/main">
              <a:ext uri="{FF2B5EF4-FFF2-40B4-BE49-F238E27FC236}">
                <a16:creationId xmlns:a16="http://schemas.microsoft.com/office/drawing/2014/main" id="{6BF5D4A3-D6B2-4E8D-9A7F-BE39F087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EEEE"/>
                </a:solidFill>
              </a:defRPr>
            </a:pPr>
            <a:r>
              <a:rPr sz="1275" b="0">
                <a:solidFill>
                  <a:srgbClr val="EEEEEE"/>
                </a:solidFill>
              </a:rPr>
              <a:t>Choose this when a live shared data and AI estate needs always-on operation and continuous improvement.</a:t>
            </a:r>
          </a:p>
        </p:txBody>
      </p:sp>
      <p:sp>
        <p:nvSpPr>
          <p:cNvPr id="18" name="ask-close">
            <a:extLst xmlns:a="http://schemas.openxmlformats.org/drawingml/2006/main">
              <a:ext uri="{FF2B5EF4-FFF2-40B4-BE49-F238E27FC236}">
                <a16:creationId xmlns:a16="http://schemas.microsoft.com/office/drawing/2014/main" id="{473CC62C-54D3-4B29-839A-3E2A03A6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9BFF"/>
                </a:solidFill>
              </a:defRPr>
            </a:pPr>
            <a:r>
              <a:rPr sz="1650" b="1">
                <a:solidFill>
                  <a:srgbClr val="9B9BFF"/>
                </a:solidFill>
              </a:rPr>
              <a:t>Ask: validate sustained demand, a named sponsor, a backlog owner, and a practical cadence.</a:t>
            </a:r>
          </a:p>
        </p:txBody>
      </p:sp>
    </p:spTree>
    <p:extLst>
      <p:ext uri="{BB962C8B-B14F-4D97-AF65-F5344CB8AC3E}">
        <p14:creationId xmlns:p14="http://schemas.microsoft.com/office/powerpoint/2010/main" val="985517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2026-08-28T09:36:14.5860000Z</dcterms:created>
  <dcterms:modified xsi:type="dcterms:W3CDTF">2026-08-28T09:36:14.5860000Z</dcterms:modified>
</coreProperties>
</file>